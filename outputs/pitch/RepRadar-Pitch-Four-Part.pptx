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d5baffee0d4d5c" /><Relationship Type="http://schemas.openxmlformats.org/officeDocument/2006/relationships/extended-properties" Target="/docProps/app.xml" Id="R6f239d9b8f564211" /><Relationship Type="http://schemas.openxmlformats.org/officeDocument/2006/relationships/officeDocument" Target="/ppt/presentation.xml" Id="R0e6cce9ff9794d02" /></Relationships>
</file>

<file path=ppt/presentation.xml><?xml version="1.0" encoding="utf-8"?>
<p:presentation xmlns:p="http://schemas.openxmlformats.org/presentationml/2006/main">
  <p:sldMasterIdLst>
    <p:sldMasterId xmlns:r="http://schemas.openxmlformats.org/officeDocument/2006/relationships" id="2147483648" r:id="Rf7485392f2944166"/>
  </p:sldMasterIdLst>
  <p:notesMasterIdLst>
    <p:notesMasterId xmlns:r="http://schemas.openxmlformats.org/officeDocument/2006/relationships" r:id="Rc49c3fc4c9b24852"/>
  </p:notesMasterIdLst>
  <p:sldIdLst>
    <p:sldId xmlns:r="http://schemas.openxmlformats.org/officeDocument/2006/relationships" id="256" r:id="Rbea9e5337ab441bb"/>
    <p:sldId xmlns:r="http://schemas.openxmlformats.org/officeDocument/2006/relationships" id="257" r:id="R33818007c7a74825"/>
    <p:sldId xmlns:r="http://schemas.openxmlformats.org/officeDocument/2006/relationships" id="258" r:id="R8b2cfef8b01a48ae"/>
    <p:sldId xmlns:r="http://schemas.openxmlformats.org/officeDocument/2006/relationships" id="259" r:id="Rfb6337a7104b4e6a"/>
    <p:sldId xmlns:r="http://schemas.openxmlformats.org/officeDocument/2006/relationships" id="260" r:id="Rcca4b44ef9bb4970"/>
    <p:sldId xmlns:r="http://schemas.openxmlformats.org/officeDocument/2006/relationships" id="261" r:id="Rff5b52b8107d4c79"/>
    <p:sldId xmlns:r="http://schemas.openxmlformats.org/officeDocument/2006/relationships" id="262" r:id="Rf541ce9cd1774fc7"/>
    <p:sldId xmlns:r="http://schemas.openxmlformats.org/officeDocument/2006/relationships" id="263" r:id="R4e70c4f2242948a6"/>
    <p:sldId xmlns:r="http://schemas.openxmlformats.org/officeDocument/2006/relationships" id="264" r:id="R27d473b415c94668"/>
    <p:sldId xmlns:r="http://schemas.openxmlformats.org/officeDocument/2006/relationships" id="265" r:id="Rdb80b4ceef134d4f"/>
    <p:sldId xmlns:r="http://schemas.openxmlformats.org/officeDocument/2006/relationships" id="266" r:id="Rd39ff9b02bde4396"/>
    <p:sldId xmlns:r="http://schemas.openxmlformats.org/officeDocument/2006/relationships" id="267" r:id="Rf185d58cf41341aa"/>
    <p:sldId xmlns:r="http://schemas.openxmlformats.org/officeDocument/2006/relationships" id="268" r:id="Rd87add9157c54475"/>
    <p:sldId xmlns:r="http://schemas.openxmlformats.org/officeDocument/2006/relationships" id="269" r:id="R0c32f118baf94134"/>
    <p:sldId xmlns:r="http://schemas.openxmlformats.org/officeDocument/2006/relationships" id="270" r:id="R36694df690944dfd"/>
    <p:sldId xmlns:r="http://schemas.openxmlformats.org/officeDocument/2006/relationships" id="271" r:id="Rf179ce373ee44d27"/>
    <p:sldId xmlns:r="http://schemas.openxmlformats.org/officeDocument/2006/relationships" id="272" r:id="R0123efe2cd9b4ec0"/>
    <p:sldId xmlns:r="http://schemas.openxmlformats.org/officeDocument/2006/relationships" id="273" r:id="Rb906e7aee1aa42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2b5d65446144537" /><Relationship Type="http://schemas.openxmlformats.org/officeDocument/2006/relationships/slideMaster" Target="/ppt/slideMasters/slideMaster1.xml" Id="Rf7485392f2944166" /><Relationship Type="http://schemas.openxmlformats.org/officeDocument/2006/relationships/notesMaster" Target="/ppt/notesMasters/notesMaster1.xml" Id="Rc49c3fc4c9b24852" /><Relationship Type="http://schemas.openxmlformats.org/officeDocument/2006/relationships/presProps" Target="/ppt/presProps.xml" Id="R75426232060742dd" /><Relationship Type="http://schemas.openxmlformats.org/officeDocument/2006/relationships/tableStyles" Target="/ppt/tableStyles.xml" Id="R271560ee57b9491d" /><Relationship Type="http://schemas.openxmlformats.org/officeDocument/2006/relationships/slide" Target="/ppt/slides/slide1.xml" Id="Rbea9e5337ab441bb" /><Relationship Type="http://schemas.openxmlformats.org/officeDocument/2006/relationships/slide" Target="/ppt/slides/slide2.xml" Id="R33818007c7a74825" /><Relationship Type="http://schemas.openxmlformats.org/officeDocument/2006/relationships/slide" Target="/ppt/slides/slide3.xml" Id="R8b2cfef8b01a48ae" /><Relationship Type="http://schemas.openxmlformats.org/officeDocument/2006/relationships/slide" Target="/ppt/slides/slide4.xml" Id="Rfb6337a7104b4e6a" /><Relationship Type="http://schemas.openxmlformats.org/officeDocument/2006/relationships/slide" Target="/ppt/slides/slide5.xml" Id="Rcca4b44ef9bb4970" /><Relationship Type="http://schemas.openxmlformats.org/officeDocument/2006/relationships/slide" Target="/ppt/slides/slide6.xml" Id="Rff5b52b8107d4c79" /><Relationship Type="http://schemas.openxmlformats.org/officeDocument/2006/relationships/slide" Target="/ppt/slides/slide7.xml" Id="Rf541ce9cd1774fc7" /><Relationship Type="http://schemas.openxmlformats.org/officeDocument/2006/relationships/slide" Target="/ppt/slides/slide8.xml" Id="R4e70c4f2242948a6" /><Relationship Type="http://schemas.openxmlformats.org/officeDocument/2006/relationships/slide" Target="/ppt/slides/slide9.xml" Id="R27d473b415c94668" /><Relationship Type="http://schemas.openxmlformats.org/officeDocument/2006/relationships/slide" Target="/ppt/slides/slide10.xml" Id="Rdb80b4ceef134d4f" /><Relationship Type="http://schemas.openxmlformats.org/officeDocument/2006/relationships/slide" Target="/ppt/slides/slide11.xml" Id="Rd39ff9b02bde4396" /><Relationship Type="http://schemas.openxmlformats.org/officeDocument/2006/relationships/slide" Target="/ppt/slides/slide12.xml" Id="Rf185d58cf41341aa" /><Relationship Type="http://schemas.openxmlformats.org/officeDocument/2006/relationships/slide" Target="/ppt/slides/slide13.xml" Id="Rd87add9157c54475" /><Relationship Type="http://schemas.openxmlformats.org/officeDocument/2006/relationships/slide" Target="/ppt/slides/slide14.xml" Id="R0c32f118baf94134" /><Relationship Type="http://schemas.openxmlformats.org/officeDocument/2006/relationships/slide" Target="/ppt/slides/slide15.xml" Id="R36694df690944dfd" /><Relationship Type="http://schemas.openxmlformats.org/officeDocument/2006/relationships/slide" Target="/ppt/slides/slide16.xml" Id="Rf179ce373ee44d27" /><Relationship Type="http://schemas.openxmlformats.org/officeDocument/2006/relationships/slide" Target="/ppt/slides/slide17.xml" Id="R0123efe2cd9b4ec0" /><Relationship Type="http://schemas.openxmlformats.org/officeDocument/2006/relationships/slide" Target="/ppt/slides/slide18.xml" Id="Rb906e7aee1aa42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9b0513db3d4a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6e844f15704532" /><Relationship Type="http://schemas.openxmlformats.org/officeDocument/2006/relationships/notesMaster" Target="/ppt/notesMasters/notesMaster1.xml" Id="Rf4458142c95947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29104ba9434b70" /><Relationship Type="http://schemas.openxmlformats.org/officeDocument/2006/relationships/notesMaster" Target="/ppt/notesMasters/notesMaster1.xml" Id="R8096e55671a149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291e42e50d46bd" /><Relationship Type="http://schemas.openxmlformats.org/officeDocument/2006/relationships/notesMaster" Target="/ppt/notesMasters/notesMaster1.xml" Id="R0587156aec0f42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603a5ae6f34642" /><Relationship Type="http://schemas.openxmlformats.org/officeDocument/2006/relationships/notesMaster" Target="/ppt/notesMasters/notesMaster1.xml" Id="R842ce0110eeb4f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489ffd6b0940ef" /><Relationship Type="http://schemas.openxmlformats.org/officeDocument/2006/relationships/notesMaster" Target="/ppt/notesMasters/notesMaster1.xml" Id="R21c74a26f04747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aa1fa5a98f4ccf" /><Relationship Type="http://schemas.openxmlformats.org/officeDocument/2006/relationships/notesMaster" Target="/ppt/notesMasters/notesMaster1.xml" Id="R7f54110cb98348a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69128296ad4785" /><Relationship Type="http://schemas.openxmlformats.org/officeDocument/2006/relationships/notesMaster" Target="/ppt/notesMasters/notesMaster1.xml" Id="R32f9abb3c99848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5e41af4a75421e" /><Relationship Type="http://schemas.openxmlformats.org/officeDocument/2006/relationships/notesMaster" Target="/ppt/notesMasters/notesMaster1.xml" Id="R95b3d42e46bc42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c5525ed06c4b42" /><Relationship Type="http://schemas.openxmlformats.org/officeDocument/2006/relationships/notesMaster" Target="/ppt/notesMasters/notesMaster1.xml" Id="R6caececd5e6d4b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cf53fd6aff4d13" /><Relationship Type="http://schemas.openxmlformats.org/officeDocument/2006/relationships/notesMaster" Target="/ppt/notesMasters/notesMaster1.xml" Id="R4ae93b53a11344e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ac4354cdd54f25" /><Relationship Type="http://schemas.openxmlformats.org/officeDocument/2006/relationships/notesMaster" Target="/ppt/notesMasters/notesMaster1.xml" Id="Rdbb6051e5ae8403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62655ffcb7544c3" /><Relationship Type="http://schemas.openxmlformats.org/officeDocument/2006/relationships/notesMaster" Target="/ppt/notesMasters/notesMaster1.xml" Id="R4d54c1113c38444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852f6a9fcb4125" /><Relationship Type="http://schemas.openxmlformats.org/officeDocument/2006/relationships/notesMaster" Target="/ppt/notesMasters/notesMaster1.xml" Id="Rcf310af1e9af48e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cdabd5992074b88" /><Relationship Type="http://schemas.openxmlformats.org/officeDocument/2006/relationships/notesMaster" Target="/ppt/notesMasters/notesMaster1.xml" Id="Re0dad785ec4f4ec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a78b5c585f4b22" /><Relationship Type="http://schemas.openxmlformats.org/officeDocument/2006/relationships/notesMaster" Target="/ppt/notesMasters/notesMaster1.xml" Id="Rcb507febfc77462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7e99dba155b466a" /><Relationship Type="http://schemas.openxmlformats.org/officeDocument/2006/relationships/notesMaster" Target="/ppt/notesMasters/notesMaster1.xml" Id="R4fdb9384a509434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c3677d787b849b3" /><Relationship Type="http://schemas.openxmlformats.org/officeDocument/2006/relationships/notesMaster" Target="/ppt/notesMasters/notesMaster1.xml" Id="Rb65144186d514fd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e54f1ac4c7a4f5b" /><Relationship Type="http://schemas.openxmlformats.org/officeDocument/2006/relationships/notesMaster" Target="/ppt/notesMasters/notesMaster1.xml" Id="Re47f164277bb49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Presenter 7.</a:t>
            </a:r>
          </a:p>
          <a:p xmlns:a="http://schemas.openxmlformats.org/drawingml/2006/main">
            <a:r>
              <a:t/>
            </a:r>
          </a:p>
          <a:p xmlns:a="http://schemas.openxmlformats.org/drawingml/2006/main">
            <a:r>
              <a:t>It is 08:12 in Basel. Maya, a Corporate Affairs colleague, sees a question from a farmer thousands of kilometres away in China. A shared headline has left him unsure about next season. This fictional story is where RepRadar begins.</a:t>
            </a:r>
          </a:p>
          <a:p xmlns:a="http://schemas.openxmlformats.org/drawingml/2006/main">
            <a:r>
              <a:t/>
            </a:r>
          </a:p>
          <a:p xmlns:a="http://schemas.openxmlformats.org/drawingml/2006/main">
            <a:r>
              <a:t>Sources and assumptions:</a:t>
            </a:r>
          </a:p>
          <a:p xmlns:a="http://schemas.openxmlformats.org/drawingml/2006/main">
            <a:r>
              <a:t>Challenge brief supplied by the team. Logo supplied by user. RepRadar mark is the project’s editable SVG radar-and-leaf symbol, created for this prototype. Green, turquoise, gold and magenta connect the website and deck. Headings use Poppins, which appears in the Syngenta Group website CSS; font licensed under SIL OFL from https://github.com/google/fonts/tree/main/ofl/poppins . Styling reference: https://www.syngentagroup.com/ accessed 23 October 2026. Field image: Ivan Bandura, Unsplash, https://unsplash.com/photos/aerial-photography-of-green-farm-field-hdD1ZP1PzqI . Illustrative background, not a Syngenta site.</a:t>
            </a:r>
          </a:p>
          <a:p xmlns:a="http://schemas.openxmlformats.org/drawingml/2006/main">
            <a:r>
              <a:t>Challenge brief supplied by the team. Logo supplied by user. RepRadar mark is the project’s editable SVG radar-and-leaf symbol, created for this prototype. Green, turquoise, gold and magenta connect the website and deck. Headings use Poppins, which appears in the Syngenta Group website CSS; font licensed under SIL OFL from https://github.com/google/fonts/tree/main/ofl/poppins . Styling reference: https://www.syngentagroup.com/ accessed 23 October 2026. Field image: Ivan Bandura, Unsplash, https://unsplash.com/photos/aerial-photography-of-green-farm-field-hdD1ZP1PzqI . Illustrative background, not a Syngenta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Presenter 3.</a:t>
            </a:r>
          </a:p>
          <a:p xmlns:a="http://schemas.openxmlformats.org/drawingml/2006/main">
            <a:r>
              <a:t/>
            </a:r>
          </a:p>
          <a:p xmlns:a="http://schemas.openxmlformats.org/drawingml/2006/main">
            <a:r>
              <a:t>[Presenter 3 plays Lin, calmly, for about 12 seconds.] ‘I saw a headline saying some products are already banned. I grow crops in China. Do I need to change my plans for next season? Could a local adviser help me check?’ [Presenter 1 plays Maya for about 12 seconds.] ‘Our local team needs an answer. But which source is correct? Does this European proposal apply to his situation? What can I responsibly say?’ [Narrator.] This is a fictional public-forum signal. A translation alone cannot answer it. Maya needs evidence, local expertise and a decision she can explain.</a:t>
            </a:r>
          </a:p>
          <a:p xmlns:a="http://schemas.openxmlformats.org/drawingml/2006/main">
            <a:r>
              <a:t/>
            </a:r>
          </a:p>
          <a:p xmlns:a="http://schemas.openxmlformats.org/drawingml/2006/main">
            <a:r>
              <a:t>Sources and assumptions:</a:t>
            </a:r>
          </a:p>
          <a:p xmlns:a="http://schemas.openxmlformats.org/drawingml/2006/main">
            <a:r>
              <a:t>Synthetic scenario inspired by the user’s proposed farmer-to-employee storytelling.</a:t>
            </a:r>
          </a:p>
          <a:p xmlns:a="http://schemas.openxmlformats.org/drawingml/2006/main">
            <a:r>
              <a:t>Synthetic scenario inspired by the user’s proposed farmer-to-employee storytelling.</a:t>
            </a:r>
          </a:p>
          <a:p xmlns:a="http://schemas.openxmlformats.org/drawingml/2006/main">
            <a:r>
              <a:t>Lin and Maya are fictional personas. The policy proposal and forum post are synthetic. Lin is not a real identified farmer. Do not perform an accent or suggest that one farmer represents China.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Presenter 1.</a:t>
            </a:r>
          </a:p>
          <a:p xmlns:a="http://schemas.openxmlformats.org/drawingml/2006/main">
            <a:r>
              <a:t/>
            </a:r>
          </a:p>
          <a:p xmlns:a="http://schemas.openxmlformats.org/drawingml/2006/main">
            <a:r>
              <a:t>Syngenta works in crop protection and seeds. Corporate Affairs helps the organization understand stakeholder concerns and coordinate its response. Maya has three fragments: a European proposal, an English repost calling it a ban, and Lin’s Chinese planning question. Each source answers a different question. An alert tells her that something is happening, but it does not establish what applies locally or who should act. The risk is an unsupported generic answer, or a long silence while colleagues reconstruct the same context.</a:t>
            </a:r>
          </a:p>
          <a:p xmlns:a="http://schemas.openxmlformats.org/drawingml/2006/main">
            <a:r>
              <a:t/>
            </a:r>
          </a:p>
          <a:p xmlns:a="http://schemas.openxmlformats.org/drawingml/2006/main">
            <a:r>
              <a:t>Sources and assumptions:</a:t>
            </a:r>
          </a:p>
          <a:p xmlns:a="http://schemas.openxmlformats.org/drawingml/2006/main">
            <a:r>
              <a:t>Company context: https://www.syngenta.ch/ accessed 22 October 2026. Corporate Affairs remit: supplied challenge photo. Problem statements and approximate target-user assumption: team whiteboard and coach feedback, not formal user-research findings.</a:t>
            </a:r>
          </a:p>
          <a:p xmlns:a="http://schemas.openxmlformats.org/drawingml/2006/main">
            <a:r>
              <a:t>Company context: https://www.syngenta.ch/ accessed 22 October 2026. Corporate Affairs remit: supplied challenge photo. Problem statements and approximate target-user assumption: team whiteboard and coach feedback, not formal user-research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Presenter 2.</a:t>
            </a:r>
          </a:p>
          <a:p xmlns:a="http://schemas.openxmlformats.org/drawingml/2006/main">
            <a:r>
              <a:t/>
            </a:r>
          </a:p>
          <a:p xmlns:a="http://schemas.openxmlformats.org/drawingml/2006/main">
            <a:r>
              <a:t>RepRadar follows the same question through four steps. Listen: read Lin’s original wording and the translation. Interpret: compare the headline with the proposal and identify what remains unknown. Decide: retrieve role-specific guidance and compare three actions using Maya’s priorities. Review: assign a local owner, edit the action and record the reason. The dashboard gives her an overview first, with more detail when she needs it. Let us follow that journey now.</a:t>
            </a:r>
          </a:p>
          <a:p xmlns:a="http://schemas.openxmlformats.org/drawingml/2006/main">
            <a:r>
              <a:t/>
            </a:r>
          </a:p>
          <a:p xmlns:a="http://schemas.openxmlformats.org/drawingml/2006/main">
            <a:r>
              <a:t>Sources and assumptions:</a:t>
            </a:r>
          </a:p>
          <a:p xmlns:a="http://schemas.openxmlformats.org/drawingml/2006/main">
            <a:r>
              <a:t>Working prototype: components/RepRadar.tsx. Role-scoped knowledge: lib/data.ts and lib/engine.ts.</a:t>
            </a:r>
          </a:p>
          <a:p xmlns:a="http://schemas.openxmlformats.org/drawingml/2006/main">
            <a:r>
              <a:t>Working prototype: components/RepRadar.tsx. Role-scoped knowledge: lib/data.ts and lib/engine.ts.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 seconds. Presenter 4.</a:t>
            </a:r>
          </a:p>
          <a:p xmlns:a="http://schemas.openxmlformats.org/drawingml/2006/main">
            <a:r>
              <a:t/>
            </a:r>
          </a:p>
          <a:p xmlns:a="http://schemas.openxmlformats.org/drawingml/2006/main">
            <a:r>
              <a:t>Click Open live demo to open the public dashboard in the default browser. 0:00–0:15: show the dashboard’s KPI cards, trend, stakeholder groups and two priority topics. 0:15–0:30: Run demo, Start with the signals, inspect Lin’s Chinese question. 0:30–0:45: open Risk workspace; explain the unverified local applicability and three response options. 0:45–1:10: Ask RepRadar how to respond to Lin; inspect KB-02 and the fixed evidence boundary. Say: This public version retrieves source excerpts; local Qwen3 can generate an explanation from the same evidence. 1:10–1:40: review an option, edit the action, assign Maya and the China colleague, add the rationale and record the decision. 1:40–2:00: open Prepare team handoff; show the editable Outlook draft and ERP export. No email is sent. Switch back to PowerPoint with Command-Tab on Mac or Alt-Tab on Windows. The role-switch, feedback loop and remaining controls are available for Q&amp;A, mapped in slides 16–17. If the server is unavailable, use slide 14.</a:t>
            </a:r>
          </a:p>
          <a:p xmlns:a="http://schemas.openxmlformats.org/drawingml/2006/main">
            <a:r>
              <a:t/>
            </a:r>
          </a:p>
          <a:p xmlns:a="http://schemas.openxmlformats.org/drawingml/2006/main">
            <a:r>
              <a:t>Sources and assumptions:</a:t>
            </a:r>
          </a:p>
          <a:p xmlns:a="http://schemas.openxmlformats.org/drawingml/2006/main">
            <a:r>
              <a:t>Screenshot from the delivered prototype, synthetic data. Full demo script is in docs/PITCH_SCRIPT.md.</a:t>
            </a:r>
          </a:p>
          <a:p xmlns:a="http://schemas.openxmlformats.org/drawingml/2006/main">
            <a:r>
              <a:t>Demo: https://repradar-phi.vercel.app/dashboard . Online: source excerpts. Optional local generation: Qwen3 via Ollama.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Presenter 4.</a:t>
            </a:r>
          </a:p>
          <a:p xmlns:a="http://schemas.openxmlformats.org/drawingml/2006/main">
            <a:r>
              <a:t/>
            </a:r>
          </a:p>
          <a:p xmlns:a="http://schemas.openxmlformats.org/drawingml/2006/main">
            <a:r>
              <a:t>Our prototype separates evidence from generation. First, it filters knowledge by role and scenario, then retrieves relevant passages using a lightweight lexical search. The public website shows those source excerpts. On the laptop, Qwen3 through Ollama can turn the same evidence into an explanation with citations. This adds context without retraining the model. Risk scoring and action ranking use transparent weights that the employee can change. The media, language and regulatory perspectives are authored examples today. A pilot would add licensed feeds, evaluated agents and document permissions. The key boundary is human review: an explanation becomes a recorded recommendation, never an automatically published response. Next, we will unpack retrieval and ranking before showing how human control shapes the workflow.</a:t>
            </a:r>
          </a:p>
          <a:p xmlns:a="http://schemas.openxmlformats.org/drawingml/2006/main">
            <a:r>
              <a:t/>
            </a:r>
          </a:p>
          <a:p xmlns:a="http://schemas.openxmlformats.org/drawingml/2006/main">
            <a:r>
              <a:t>Sources and assumptions:</a:t>
            </a:r>
          </a:p>
          <a:p xmlns:a="http://schemas.openxmlformats.org/drawingml/2006/main">
            <a:r>
              <a:t>Implementation: lib/engine.ts, app/api/chat/route.ts. Historical and expert documents in this demo are fictional. The laptop runs local Qwen3 through Ollama. Enterprise model hosting, vector search, agent orchestration and permissions are proposed pilot work.</a:t>
            </a:r>
          </a:p>
          <a:p xmlns:a="http://schemas.openxmlformats.org/drawingml/2006/main">
            <a:r>
              <a:t>Implementation: lib/engine.ts, app/api/chat/route.ts. Historical and expert documents in this demo are fictional. The laptop runs local Qwen3 through Ollama. Enterprise model hosting, vector search, agent orchestration and permissions are proposed pilot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seconds. Presenter 4.</a:t>
            </a:r>
          </a:p>
          <a:p xmlns:a="http://schemas.openxmlformats.org/drawingml/2006/main">
            <a:r>
              <a:t/>
            </a:r>
          </a:p>
          <a:p xmlns:a="http://schemas.openxmlformats.org/drawingml/2006/main">
            <a:r>
              <a:t>Three technical choices make the workflow inspectable. First, retrieval filters knowledge by role and scenario, then ranks passages using word matching. This provides context without changing the model weights. Second, the risk score combines impact, urgency, momentum and stakeholder relevance using editable weights. It is a priority score, not a probability of controversy. Action preferences separately rank evidence quality, trust and speed. Third, the public demo returns source excerpts; optional local Qwen3 generates an explanation from those passages. Citation identifiers are checked, but an employee still needs to verify whether the source supports the claim. The pilot would add permission-aware retrieval and evaluated agents.</a:t>
            </a:r>
          </a:p>
          <a:p xmlns:a="http://schemas.openxmlformats.org/drawingml/2006/main">
            <a:r>
              <a:t/>
            </a:r>
          </a:p>
          <a:p xmlns:a="http://schemas.openxmlformats.org/drawingml/2006/main">
            <a:r>
              <a:t>Sources and assumptions:</a:t>
            </a:r>
          </a:p>
          <a:p xmlns:a="http://schemas.openxmlformats.org/drawingml/2006/main">
            <a:r>
              <a:t>Implementation: lib/engine.ts, lib/llm.ts, app/api/chat/route.ts. All score inputs and guidance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Presenter 7.</a:t>
            </a:r>
          </a:p>
          <a:p xmlns:a="http://schemas.openxmlformats.org/drawingml/2006/main">
            <a:r>
              <a:t/>
            </a:r>
          </a:p>
          <a:p xmlns:a="http://schemas.openxmlformats.org/drawingml/2006/main">
            <a:r>
              <a:t>We would test this journey with ten Corporate Affairs colleagues in two regions over six weeks. First, interview employees and establish how they handle comparable questions today. Then run in shadow mode with local reviewers. Finally, compare briefing time, citation support, missed concerns and perceived control. Proposed gates include every decision having an owner and rationale, no unauthorized publication, at least 95 percent citation support and 30 percent lower median briefing time without worse missed-concern performance. These are proposed targets. The illustrative monthly operating budget is about CHF 3.4k plus setup, with data and human review dominating this example.</a:t>
            </a:r>
          </a:p>
          <a:p xmlns:a="http://schemas.openxmlformats.org/drawingml/2006/main">
            <a:r>
              <a:t/>
            </a:r>
          </a:p>
          <a:p xmlns:a="http://schemas.openxmlformats.org/drawingml/2006/main">
            <a:r>
              <a:t>Sources and assumptions:</a:t>
            </a:r>
          </a:p>
          <a:p xmlns:a="http://schemas.openxmlformats.org/drawingml/2006/main">
            <a:r>
              <a:t>Pilot scope, gates and costs are planning assumptions, not measured outcomes or supplier quotes. Detailed arithmetic is in appendix slide 13.</a:t>
            </a:r>
          </a:p>
          <a:p xmlns:a="http://schemas.openxmlformats.org/drawingml/2006/main">
            <a:r>
              <a:t>Pilot scope, gates and costs are planning assumptions, not measured outcomes or supplier quotes. Detailed arithmetic is in appendix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Presenter 6.</a:t>
            </a:r>
          </a:p>
          <a:p xmlns:a="http://schemas.openxmlformats.org/drawingml/2006/main">
            <a:r>
              <a:t/>
            </a:r>
          </a:p>
          <a:p xmlns:a="http://schemas.openxmlformats.org/drawingml/2006/main">
            <a:r>
              <a:t>Lin needs guidance relevant to his situation. Maya needs evidence she can inspect, a route to the right local colleague, and control over the reply. That is our human-centered design brief. The system makes uncertainty visible and helps her choose a next step. It must not infer Chinese product restrictions from a European headline. Local experts verify the technical advice, and Maya keeps control of the response.</a:t>
            </a:r>
          </a:p>
          <a:p xmlns:a="http://schemas.openxmlformats.org/drawingml/2006/main">
            <a:r>
              <a:t/>
            </a:r>
          </a:p>
          <a:p xmlns:a="http://schemas.openxmlformats.org/drawingml/2006/main">
            <a:r>
              <a:t>Sources and assumptions:</a:t>
            </a:r>
          </a:p>
          <a:p xmlns:a="http://schemas.openxmlformats.org/drawingml/2006/main">
            <a:r>
              <a:t>Principles derived from challenge criteria, coach feedback and team whiteboard. Reduced burden is a hypothesis to test, not a measured result.</a:t>
            </a:r>
          </a:p>
          <a:p xmlns:a="http://schemas.openxmlformats.org/drawingml/2006/main">
            <a:r>
              <a:t>Principles derived from challenge criteria, coach feedback and team whiteboard. Reduced burden is a hypothesis to test, not a measured result.</a:t>
            </a:r>
          </a:p>
          <a:p xmlns:a="http://schemas.openxmlformats.org/drawingml/2006/main">
            <a:r>
              <a:t>Team reference: Rep_Radar_Hackathon_Pitch_Human_Aspect.pptx, slide 7. The existing story and workflow are retained; this is a design goal, not a measured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Presenter 6.</a:t>
            </a:r>
          </a:p>
          <a:p xmlns:a="http://schemas.openxmlformats.org/drawingml/2006/main">
            <a:r>
              <a:t/>
            </a:r>
          </a:p>
          <a:p xmlns:a="http://schemas.openxmlformats.org/drawingml/2006/main">
            <a:r>
              <a:t>Here is the human-centered test: can Maya disagree with the system, and does Lin’s actual need survive the process? She can inspect the original, change priorities and reject the suggested action. The local colleague checks language and technical context. One worried farmer must not disappear because the post has low reach. We also avoid turning a public question into an individual profile. Production requires permitted sources, personal-data minimization, identity, document permissions and an approved model environment. Maya coordinates the response; qualified colleagues own technical advice.</a:t>
            </a:r>
          </a:p>
          <a:p xmlns:a="http://schemas.openxmlformats.org/drawingml/2006/main">
            <a:r>
              <a:t/>
            </a:r>
          </a:p>
          <a:p xmlns:a="http://schemas.openxmlformats.org/drawingml/2006/main">
            <a:r>
              <a:t>Sources and assumptions:</a:t>
            </a:r>
          </a:p>
          <a:p xmlns:a="http://schemas.openxmlformats.org/drawingml/2006/main">
            <a:r>
              <a:t>Concrete controls exist in the prototype. Authentication, secure audit, private hosting and independent fairness evaluation remain pilot requirements. No legal compliance certification is claimed.</a:t>
            </a:r>
          </a:p>
          <a:p xmlns:a="http://schemas.openxmlformats.org/drawingml/2006/main">
            <a:r>
              <a:t>Concrete controls exist in the prototype. Authentication, secure audit, private hosting and independent fairness evaluation remain pilot requirements. No legal compliance certification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Presenter 5.</a:t>
            </a:r>
          </a:p>
          <a:p xmlns:a="http://schemas.openxmlformats.org/drawingml/2006/main">
            <a:r>
              <a:t/>
            </a:r>
          </a:p>
          <a:p xmlns:a="http://schemas.openxmlformats.org/drawingml/2006/main">
            <a:r>
              <a:t>We return to the same case after the decision. In the proposed operating workflow, the China colleague contacts Lin through an approved channel and checks whether the explanation answered his question. The reviewer records the observed outcome, including anything that did not work. A curator then decides whether a lesson is suitable for future retrieval. In the demo, these reflection and approval steps work locally, but no real contact or outcome has occurred. The reusable lesson might be to check jurisdiction and product context before offering a regional answer. Clicking approve never counts as proof of success.</a:t>
            </a:r>
          </a:p>
          <a:p xmlns:a="http://schemas.openxmlformats.org/drawingml/2006/main">
            <a:r>
              <a:t/>
            </a:r>
          </a:p>
          <a:p xmlns:a="http://schemas.openxmlformats.org/drawingml/2006/main">
            <a:r>
              <a:t>Sources and assumptions:</a:t>
            </a:r>
          </a:p>
          <a:p xmlns:a="http://schemas.openxmlformats.org/drawingml/2006/main">
            <a:r>
              <a:t>Implementation: Decision log, lessonDocs() and role/scenario filtering. Browser-local learning is excluded from connected server-side LLM context until a trusted repository exists.</a:t>
            </a:r>
          </a:p>
          <a:p xmlns:a="http://schemas.openxmlformats.org/drawingml/2006/main">
            <a:r>
              <a:t>Implementation: Decision log, lessonDocs() and role/scenario filtering. Browser-local learning is excluded from connected server-side LLM context until a trusted repository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seconds. Presenter 7.</a:t>
            </a:r>
          </a:p>
          <a:p xmlns:a="http://schemas.openxmlformats.org/drawingml/2006/main">
            <a:r>
              <a:t/>
            </a:r>
          </a:p>
          <a:p xmlns:a="http://schemas.openxmlformats.org/drawingml/2006/main">
            <a:r>
              <a:t>Let us return to Lin. His question was simple: ‘What does this mean for my next season?’ By the end of our demo, Maya has replaced a vague alert with a recorded plan: verify the source and local applicability, assign a China response owner, and set the next update. The actual reply still needs local approval, and the outcome will be checked afterward. That is the value we want to test: a clear, accountable path to an answer. Our ask is one sponsor, ten colleagues and six weeks. RepRadar: listen closely, decide confidently.</a:t>
            </a:r>
          </a:p>
          <a:p xmlns:a="http://schemas.openxmlformats.org/drawingml/2006/main">
            <a:r>
              <a:t/>
            </a:r>
          </a:p>
          <a:p xmlns:a="http://schemas.openxmlformats.org/drawingml/2006/main">
            <a:r>
              <a:t>Sources and assumptions:</a:t>
            </a:r>
          </a:p>
          <a:p xmlns:a="http://schemas.openxmlformats.org/drawingml/2006/main">
            <a:r>
              <a:t>Pilot scope is a proposal. Background photo attribution as slide 1.</a:t>
            </a:r>
          </a:p>
          <a:p xmlns:a="http://schemas.openxmlformats.org/drawingml/2006/main">
            <a:r>
              <a:t>Pilot scope is a proposal. Background photo attribution as slide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seconds. Presenter 7.</a:t>
            </a:r>
          </a:p>
          <a:p xmlns:a="http://schemas.openxmlformats.org/drawingml/2006/main">
            <a:r>
              <a:t/>
            </a:r>
          </a:p>
          <a:p xmlns:a="http://schemas.openxmlformats.org/drawingml/2006/main">
            <a:r>
              <a:t>Arithmetic: 10 users × 10 requests/day × 22 working days = 2,200 requests/month. Input tokens: 2,200 × 8,000 = 17.6 million at assumed CHF 3 per million = CHF 52.80. Output tokens: 2,200 × 1,000 = 2.2 million at assumed CHF 12 per million = CHF 26.40. Total inference CHF 79.20. Add hosting 300, data 1,000 and human review 2,000 = CHF 3,379.20. This is a planning model, not current provider pricing, and excludes integration, legal review, taxes and local-model infrastructure. Actual costs depend on source licenses and workload.</a:t>
            </a:r>
          </a:p>
          <a:p xmlns:a="http://schemas.openxmlformats.org/drawingml/2006/main">
            <a:r>
              <a:t/>
            </a:r>
          </a:p>
          <a:p xmlns:a="http://schemas.openxmlformats.org/drawingml/2006/main">
            <a:r>
              <a:t>Sources and assumptions:</a:t>
            </a:r>
          </a:p>
          <a:p xmlns:a="http://schemas.openxmlformats.org/drawingml/2006/main">
            <a:r>
              <a:t>All figures are explicit assumptions. No external vendor price is represented.</a:t>
            </a:r>
          </a:p>
          <a:p xmlns:a="http://schemas.openxmlformats.org/drawingml/2006/main">
            <a:r>
              <a:t>All figures are explicit assumptions. No external vendor price is represented.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seconds. Presenter 4.</a:t>
            </a:r>
          </a:p>
          <a:p xmlns:a="http://schemas.openxmlformats.org/drawingml/2006/main">
            <a:r>
              <a:t/>
            </a:r>
          </a:p>
          <a:p xmlns:a="http://schemas.openxmlformats.org/drawingml/2006/main">
            <a:r>
              <a:t>If the live site is unavailable, these screenshots show the same residue scenario and recorded response plan for Lin’s question. Explain the missing applicability evidence, the China owner and the rationale. No external reply has been sent. Keep the story continuous instead of switching to the unrelated water scenario.</a:t>
            </a:r>
          </a:p>
          <a:p xmlns:a="http://schemas.openxmlformats.org/drawingml/2006/main">
            <a:r>
              <a:t/>
            </a:r>
          </a:p>
          <a:p xmlns:a="http://schemas.openxmlformats.org/drawingml/2006/main">
            <a:r>
              <a:t>Sources and assumptions:</a:t>
            </a:r>
          </a:p>
          <a:p xmlns:a="http://schemas.openxmlformats.org/drawingml/2006/main">
            <a:r>
              <a:t>Screenshots captured from this delivered prototype with synthetic data.</a:t>
            </a:r>
          </a:p>
          <a:p xmlns:a="http://schemas.openxmlformats.org/drawingml/2006/main">
            <a:r>
              <a:t>Screenshots captured from this delivered prototype with synthetic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seconds. Presenter 7.</a:t>
            </a:r>
          </a:p>
          <a:p xmlns:a="http://schemas.openxmlformats.org/drawingml/2006/main">
            <a:r>
              <a:t/>
            </a:r>
          </a:p>
          <a:p xmlns:a="http://schemas.openxmlformats.org/drawingml/2006/main">
            <a:r>
              <a:t>Additional answers. Self-learning means approved knowledge updates, not uncontrolled reinforcement learning. Agent diversity is a proposed architecture with local review, not evidence that multiple agents automatically remove bias. We cannot promise complete public coverage. Social volume can underrepresent communities. The demo has no production authentication. Costs are scenario assumptions. The company’s exact Corporate Affairs headcount remains unverified. The distinctive contribution is the complete decision workflow, not a claim to have invented RAG or sentiment analysis.</a:t>
            </a:r>
          </a:p>
          <a:p xmlns:a="http://schemas.openxmlformats.org/drawingml/2006/main">
            <a:r>
              <a:t/>
            </a:r>
          </a:p>
          <a:p xmlns:a="http://schemas.openxmlformats.org/drawingml/2006/main">
            <a:r>
              <a:t>Sources and assumptions:</a:t>
            </a:r>
          </a:p>
          <a:p xmlns:a="http://schemas.openxmlformats.org/drawingml/2006/main">
            <a:r>
              <a:t>Primary context: https://www.syngenta.ch/ . Challenge criteria and whiteboard supplied by user. Implementation limitations documented in README.md.</a:t>
            </a:r>
          </a:p>
          <a:p xmlns:a="http://schemas.openxmlformats.org/drawingml/2006/main">
            <a:r>
              <a:t>Primary context: https://www.syngenta.ch/ . Challenge criteria and whiteboard supplied by user. Implementation limitations documented in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seconds. Presenter 4.</a:t>
            </a:r>
          </a:p>
          <a:p xmlns:a="http://schemas.openxmlformats.org/drawingml/2006/main">
            <a:r>
              <a:t/>
            </a:r>
          </a:p>
          <a:p xmlns:a="http://schemas.openxmlformats.org/drawingml/2006/main">
            <a:r>
              <a:t>This appendix maps every discovery and analysis capability to the judges’ criteria. The main dashboard has a simple default and an immediately visible detailed view with sentiment, language coverage, risk drivers, source counts and human-review progress. The header stays visible while scrolling. Sentiment, channel, review status, stakeholder and language charts open filtered inbox records. Risk driver charts open the corresponding risk workspace. The trend is a separate synthetic aggregate, not a claim that the 14 examples are a complete live stream. Source details preserve the original, translation and employee annotations. A simulated new signal changes the overview and water momentum. Risk scores are normalized heuristics and editable weights reveal priorities. Role and scenario filtering controls relevance; it is not production authorization. The knowledge library displays synthetic documents with owners and versions. Qwen3 generates answers locally from retrieved evidence, with source links, conversation context and an excerpt fallback. It has no live news feed. The media, regional language and regulatory perspective cards are authored examples.</a:t>
            </a:r>
          </a:p>
          <a:p xmlns:a="http://schemas.openxmlformats.org/drawingml/2006/main">
            <a:r>
              <a:t/>
            </a:r>
          </a:p>
          <a:p xmlns:a="http://schemas.openxmlformats.org/drawingml/2006/main">
            <a:r>
              <a:t>Sources and assumptions:</a:t>
            </a:r>
          </a:p>
          <a:p xmlns:a="http://schemas.openxmlformats.org/drawingml/2006/main">
            <a:r>
              <a:t>Criteria use the five exact categories from the supplied evaluation photo. Fit abbreviates Problem–solution fit; Human-centered abbreviates Human-centered &amp; responsible. Implementation: components/DashboardCharts.tsx, components/DetailedInsights.tsx, components/RepRadar.tsx, lib/engine.ts, app/api/chat/route.ts.</a:t>
            </a:r>
          </a:p>
          <a:p xmlns:a="http://schemas.openxmlformats.org/drawingml/2006/main">
            <a:r>
              <a:t>Criteria use the five exact categories from the supplied evaluation photo. Fit abbreviates Problem–solution fit; Human-centered abbreviates Human-centered &amp; responsible. Implementation: components/DashboardCharts.tsx, components/DetailedInsights.tsx, components/RepRadar.tsx, lib/engine.ts, app/api/chat/route.ts.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seconds. Presenter 6.</a:t>
            </a:r>
          </a:p>
          <a:p xmlns:a="http://schemas.openxmlformats.org/drawingml/2006/main">
            <a:r>
              <a:t/>
            </a:r>
          </a:p>
          <a:p xmlns:a="http://schemas.openxmlformats.org/drawingml/2006/main">
            <a:r>
              <a:t>These controls make the team’s handwritten workflow tangible: continuous monitoring, alert, human decision, response preparation and reviewed learning. Employees compare three actions by explicit preference weights. A decision requires a responsible owner and rationale. Approval records a plan, not publication. Team handoff carries uncertainty and the latest decision into an editable Microsoft 365 compose link, copyable brief or CSV export for later mapping to an ERP. No enterprise permissions are needed for the compose link; there is no mailbox reading or live ERP synchronization. A review checkbox resets when the handoff is edited. History is browser-local, with export and reset controls. A lesson is usable only after explicit curator approval, within its role and scenario; it remains local retrieval context rather than automatic LLM retraining. Model status, guided walkthrough and fallback screenshots support the pitch.</a:t>
            </a:r>
          </a:p>
          <a:p xmlns:a="http://schemas.openxmlformats.org/drawingml/2006/main">
            <a:r>
              <a:t/>
            </a:r>
          </a:p>
          <a:p xmlns:a="http://schemas.openxmlformats.org/drawingml/2006/main">
            <a:r>
              <a:t>Sources and assumptions:</a:t>
            </a:r>
          </a:p>
          <a:p xmlns:a="http://schemas.openxmlformats.org/drawingml/2006/main">
            <a:r>
              <a:t>Criteria from the supplied evaluation photo; workflow from the supplied whiteboard. Implementation: components/TeamHandoff.tsx, lib/handoff.ts, lessonDocs() and local storage in components/RepRadar.tsx.</a:t>
            </a:r>
          </a:p>
          <a:p xmlns:a="http://schemas.openxmlformats.org/drawingml/2006/main">
            <a:r>
              <a:t>Criteria from the supplied evaluation photo; workflow from the supplied whiteboard. Implementation: components/TeamHandoff.tsx, lib/handoff.ts, lessonDocs() and local storage in components/RepRadar.tsx.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 seconds. Presenter 7.</a:t>
            </a:r>
          </a:p>
          <a:p xmlns:a="http://schemas.openxmlformats.org/drawingml/2006/main">
            <a:r>
              <a:t/>
            </a:r>
          </a:p>
          <a:p xmlns:a="http://schemas.openxmlformats.org/drawingml/2006/main">
            <a:r>
              <a:t>Here is how the concrete demo meets the five categories. Fit: the dashboard and role-specific evidence help Maya coordinate a real Corporate Affairs task. Feasibility: local Qwen3, an Outlook compose link and a CSV export work today, within a bounded pilot proposal. Originality: local language context, domain knowledge, employee preferences and reviewed lessons form one decision workflow. Human-centered responsibility: simple and detailed views, quieter voices, visible unknowns and the ability to edit or reject preserve employee control. Pitch quality: Lin’s concern travels from the opening scene through the live demonstration to an accountable next step. The appendix maps the remaining demo controls to the criteria without extending the ten-minute main pitch.</a:t>
            </a:r>
          </a:p>
          <a:p xmlns:a="http://schemas.openxmlformats.org/drawingml/2006/main">
            <a:r>
              <a:t/>
            </a:r>
          </a:p>
          <a:p xmlns:a="http://schemas.openxmlformats.org/drawingml/2006/main">
            <a:r>
              <a:t>Sources and assumptions:</a:t>
            </a:r>
          </a:p>
          <a:p xmlns:a="http://schemas.openxmlformats.org/drawingml/2006/main">
            <a:r>
              <a:t>Five exact judging categories from the user-supplied evaluation photo. This is evidence mapping, not self-awarded numeric scores.</a:t>
            </a:r>
          </a:p>
          <a:p xmlns:a="http://schemas.openxmlformats.org/drawingml/2006/main">
            <a:r>
              <a:t>Five exact judging categories from the user-supplied evaluation photo. This is evidence mapping, not self-awarded numeric scores.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c089ce35c941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c4984a3a324d1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bd30f4116114fb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78d613210c5432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a38fc4ad954fc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8337141be247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ECA089-B085-4EAF-9447-4FDDB67CC02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8661601-7A00-4500-8648-4C144BD9BB4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12179E8-B9DD-4902-AED7-A0AB6FD0D42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CD676F-DCD3-4170-9BEC-ABC896A54F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0C62F3D-1E1B-46C0-B3E9-D1F068C30F5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C2B76D0-A9A1-4194-BD9D-579D9883E79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A894C83-900C-425D-A78D-3D789DBFF2D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0696CC6-6C59-430A-B231-4C70BE9DB7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50679F-587E-4106-B008-838AF9777F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E236E1-1990-4A2F-B350-F84D4F2043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8622a8cb0447e5" /><Relationship Type="http://schemas.openxmlformats.org/officeDocument/2006/relationships/slideLayout" Target="/ppt/slideLayouts/slideLayout1.xml" Id="R767f8d96eaf7402d" /><Relationship Type="http://schemas.openxmlformats.org/officeDocument/2006/relationships/slideLayout" Target="/ppt/slideLayouts/slideLayout2.xml" Id="Rdccbeecfd3f54cae" /><Relationship Type="http://schemas.openxmlformats.org/officeDocument/2006/relationships/slideLayout" Target="/ppt/slideLayouts/slideLayout3.xml" Id="R6a96bc9c2bec4a75" /><Relationship Type="http://schemas.openxmlformats.org/officeDocument/2006/relationships/slideLayout" Target="/ppt/slideLayouts/slideLayout4.xml" Id="R4fa9f431274d4ca1" /><Relationship Type="http://schemas.openxmlformats.org/officeDocument/2006/relationships/slideLayout" Target="/ppt/slideLayouts/slideLayout5.xml" Id="Rec48a531960c4b72" /><Relationship Type="http://schemas.openxmlformats.org/officeDocument/2006/relationships/slideLayout" Target="/ppt/slideLayouts/slideLayout6.xml" Id="R964a4c54a02c4b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7f8d96eaf7402d"/>
    <p:sldLayoutId xmlns:r="http://schemas.openxmlformats.org/officeDocument/2006/relationships" id="2147483650" r:id="Rdccbeecfd3f54cae"/>
    <p:sldLayoutId xmlns:r="http://schemas.openxmlformats.org/officeDocument/2006/relationships" id="2147483651" r:id="R6a96bc9c2bec4a75"/>
    <p:sldLayoutId xmlns:r="http://schemas.openxmlformats.org/officeDocument/2006/relationships" id="2147483652" r:id="R4fa9f431274d4ca1"/>
    <p:sldLayoutId xmlns:r="http://schemas.openxmlformats.org/officeDocument/2006/relationships" id="2147483653" r:id="Rec48a531960c4b72"/>
    <p:sldLayoutId xmlns:r="http://schemas.openxmlformats.org/officeDocument/2006/relationships" id="2147483654" r:id="R964a4c54a02c4b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462547c079e4a27" /><Relationship Type="http://schemas.openxmlformats.org/officeDocument/2006/relationships/image" Target="/ppt/media/image.png" Id="R7ca8057065534daf" /><Relationship Type="http://schemas.openxmlformats.org/officeDocument/2006/relationships/image" Target="/ppt/media/image2.png" Id="R975caaee87bd4996" /><Relationship Type="http://schemas.openxmlformats.org/officeDocument/2006/relationships/image" Target="/ppt/media/image3.png" Id="R9aeb366f38a74a96" /><Relationship Type="http://schemas.openxmlformats.org/officeDocument/2006/relationships/notesSlide" Target="/ppt/notesSlides/notesSlide1.xml" Id="Rb40a9eb634c74a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faa62c553ac4ad0" /><Relationship Type="http://schemas.openxmlformats.org/officeDocument/2006/relationships/image" Target="/ppt/media/image4.png" Id="Rc50194274c9042bd" /><Relationship Type="http://schemas.openxmlformats.org/officeDocument/2006/relationships/image" Target="/ppt/media/image5.png" Id="R4c269cb90727484b" /><Relationship Type="http://schemas.openxmlformats.org/officeDocument/2006/relationships/notesSlide" Target="/ppt/notesSlides/notesSlide2.xml" Id="R5546932fad5742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22a393ed47c4d53" /><Relationship Type="http://schemas.openxmlformats.org/officeDocument/2006/relationships/image" Target="/ppt/media/image6.png" Id="R7c675bd3d2314a43" /><Relationship Type="http://schemas.openxmlformats.org/officeDocument/2006/relationships/image" Target="/ppt/media/image7.png" Id="Rb6c1e00e2f0d4679" /><Relationship Type="http://schemas.openxmlformats.org/officeDocument/2006/relationships/notesSlide" Target="/ppt/notesSlides/notesSlide3.xml" Id="R57558277e1344d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00ac0370b8f4559" /><Relationship Type="http://schemas.openxmlformats.org/officeDocument/2006/relationships/image" Target="/ppt/media/image8.png" Id="Rf6269108031646c1" /><Relationship Type="http://schemas.openxmlformats.org/officeDocument/2006/relationships/image" Target="/ppt/media/image9.png" Id="Rfbf1d409ff7042ea" /><Relationship Type="http://schemas.openxmlformats.org/officeDocument/2006/relationships/notesSlide" Target="/ppt/notesSlides/notesSlide4.xml" Id="R85b8fc1672fd41ca" /></Relationships>
</file>

<file path=ppt/slides/_rels/slide5.xml.rels><?xml version='1.0' encoding='utf-8'?>
<ns0:Relationships xmlns:ns0="http://schemas.openxmlformats.org/package/2006/relationships"><ns0:Relationship Type="http://schemas.openxmlformats.org/officeDocument/2006/relationships/slideLayout" Target="/ppt/slideLayouts/slideLayout6.xml" Id="R27d75981c77b4748" /><ns0:Relationship Type="http://schemas.openxmlformats.org/officeDocument/2006/relationships/image" Target="/ppt/media/image10.png" Id="Rd71c91c28f24467d" /><ns0:Relationship Type="http://schemas.openxmlformats.org/officeDocument/2006/relationships/image" Target="/ppt/media/image11.png" Id="R497648e337a34ac1" /><ns0:Relationship Type="http://schemas.openxmlformats.org/officeDocument/2006/relationships/image" Target="/ppt/media/image12.png" Id="R9b78f8251c254b85" /><ns0:Relationship Type="http://schemas.openxmlformats.org/officeDocument/2006/relationships/notesSlide" Target="/ppt/notesSlides/notesSlide5.xml" Id="R08e051087c6e4f23" /><ns0:Relationship Id="rIdRepRadarDemo" Type="http://schemas.openxmlformats.org/officeDocument/2006/relationships/hyperlink" Target="https://repradar-phi.vercel.app/dashboard" TargetMode="External" /></ns0: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7c4442ad48a43d3" /><Relationship Type="http://schemas.openxmlformats.org/officeDocument/2006/relationships/image" Target="/ppt/media/image13.png" Id="R578aa70e5e9146e2" /><Relationship Type="http://schemas.openxmlformats.org/officeDocument/2006/relationships/image" Target="/ppt/media/image14.png" Id="Ree3b62067a1b4908" /><Relationship Type="http://schemas.openxmlformats.org/officeDocument/2006/relationships/notesSlide" Target="/ppt/notesSlides/notesSlide6.xml" Id="R290380cf3bea4e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418e4e1b11947aa" /><Relationship Type="http://schemas.openxmlformats.org/officeDocument/2006/relationships/image" Target="/ppt/media/image15.png" Id="Rd58f0051234c4aa1" /><Relationship Type="http://schemas.openxmlformats.org/officeDocument/2006/relationships/image" Target="/ppt/media/image16.png" Id="Rae167ca7b81e4863" /><Relationship Type="http://schemas.openxmlformats.org/officeDocument/2006/relationships/notesSlide" Target="/ppt/notesSlides/notesSlide7.xml" Id="R8a5779ba4cd840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e71e12c02704314" /><Relationship Type="http://schemas.openxmlformats.org/officeDocument/2006/relationships/image" Target="/ppt/media/image17.png" Id="Rd396c305849a48d0" /><Relationship Type="http://schemas.openxmlformats.org/officeDocument/2006/relationships/image" Target="/ppt/media/image18.png" Id="Rec07ef1f6d3d4260" /><Relationship Type="http://schemas.openxmlformats.org/officeDocument/2006/relationships/notesSlide" Target="/ppt/notesSlides/notesSlide8.xml" Id="R7c07718a8a7549a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cbec409c5eb4574" /><Relationship Type="http://schemas.openxmlformats.org/officeDocument/2006/relationships/image" Target="/ppt/media/image19.png" Id="R1b5c6d3412d248da" /><Relationship Type="http://schemas.openxmlformats.org/officeDocument/2006/relationships/image" Target="/ppt/media/image20.png" Id="R7cd4a7634fe14806" /><Relationship Type="http://schemas.openxmlformats.org/officeDocument/2006/relationships/notesSlide" Target="/ppt/notesSlides/notesSlide9.xml" Id="R29ef3aade40946a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885611cbb714a4a" /><Relationship Type="http://schemas.openxmlformats.org/officeDocument/2006/relationships/image" Target="/ppt/media/image21.png" Id="Rbe483f357e66409e" /><Relationship Type="http://schemas.openxmlformats.org/officeDocument/2006/relationships/image" Target="/ppt/media/image22.png" Id="Ra99fe158e7164d11" /><Relationship Type="http://schemas.openxmlformats.org/officeDocument/2006/relationships/notesSlide" Target="/ppt/notesSlides/notesSlide10.xml" Id="R14263fccde494a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6ed9adfd24747b7" /><Relationship Type="http://schemas.openxmlformats.org/officeDocument/2006/relationships/image" Target="/ppt/media/image23.png" Id="R50b1824ffb6d4af6" /><Relationship Type="http://schemas.openxmlformats.org/officeDocument/2006/relationships/image" Target="/ppt/media/image24.png" Id="Ref4825ef6672493d" /><Relationship Type="http://schemas.openxmlformats.org/officeDocument/2006/relationships/notesSlide" Target="/ppt/notesSlides/notesSlide11.xml" Id="R2b2b9b61d38e4e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b638c1e122246a4" /><Relationship Type="http://schemas.openxmlformats.org/officeDocument/2006/relationships/image" Target="/ppt/media/image25.png" Id="Rce53a85e6670410f" /><Relationship Type="http://schemas.openxmlformats.org/officeDocument/2006/relationships/image" Target="/ppt/media/image26.png" Id="Rf710dcd699fd4ef8" /><Relationship Type="http://schemas.openxmlformats.org/officeDocument/2006/relationships/image" Target="/ppt/media/image27.png" Id="R0fe9964664d14392" /><Relationship Type="http://schemas.openxmlformats.org/officeDocument/2006/relationships/notesSlide" Target="/ppt/notesSlides/notesSlide12.xml" Id="R830717151ab2474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bd643fd37474aeb" /><Relationship Type="http://schemas.openxmlformats.org/officeDocument/2006/relationships/image" Target="/ppt/media/image28.png" Id="Rbf2971b2a5974336" /><Relationship Type="http://schemas.openxmlformats.org/officeDocument/2006/relationships/image" Target="/ppt/media/image29.png" Id="R6b0e20b8e60a4ad7" /><Relationship Type="http://schemas.openxmlformats.org/officeDocument/2006/relationships/notesSlide" Target="/ppt/notesSlides/notesSlide13.xml" Id="R243f93c79223474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d0750f43b5a480f" /><Relationship Type="http://schemas.openxmlformats.org/officeDocument/2006/relationships/image" Target="/ppt/media/image30.png" Id="Rcc719bda34914417" /><Relationship Type="http://schemas.openxmlformats.org/officeDocument/2006/relationships/image" Target="/ppt/media/image31.png" Id="R2dda26d95c2243dc" /><Relationship Type="http://schemas.openxmlformats.org/officeDocument/2006/relationships/image" Target="/ppt/media/image32.png" Id="Re45bf9f3aa8f42b7" /><Relationship Type="http://schemas.openxmlformats.org/officeDocument/2006/relationships/image" Target="/ppt/media/image33.png" Id="R9a7b0763f8164e42" /><Relationship Type="http://schemas.openxmlformats.org/officeDocument/2006/relationships/notesSlide" Target="/ppt/notesSlides/notesSlide14.xml" Id="R3f08d9c95b1b4d7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319f3fd81c04a65" /><Relationship Type="http://schemas.openxmlformats.org/officeDocument/2006/relationships/image" Target="/ppt/media/image34.png" Id="R989f49f66ea6406a" /><Relationship Type="http://schemas.openxmlformats.org/officeDocument/2006/relationships/image" Target="/ppt/media/image35.png" Id="R1c9c3f8a75154729" /><Relationship Type="http://schemas.openxmlformats.org/officeDocument/2006/relationships/notesSlide" Target="/ppt/notesSlides/notesSlide15.xml" Id="R3523ff3822d6466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a7b6c45cbfe4391" /><Relationship Type="http://schemas.openxmlformats.org/officeDocument/2006/relationships/image" Target="/ppt/media/image36.png" Id="Ree6ba23c581a4f55" /><Relationship Type="http://schemas.openxmlformats.org/officeDocument/2006/relationships/image" Target="/ppt/media/image37.png" Id="Rfc806c4a1a874cff" /><Relationship Type="http://schemas.openxmlformats.org/officeDocument/2006/relationships/notesSlide" Target="/ppt/notesSlides/notesSlide16.xml" Id="R225d4455928445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98b228ca55541cc" /><Relationship Type="http://schemas.openxmlformats.org/officeDocument/2006/relationships/image" Target="/ppt/media/image38.png" Id="R82ab0ddecffe412a" /><Relationship Type="http://schemas.openxmlformats.org/officeDocument/2006/relationships/image" Target="/ppt/media/image39.png" Id="R65938758872d47f2" /><Relationship Type="http://schemas.openxmlformats.org/officeDocument/2006/relationships/notesSlide" Target="/ppt/notesSlides/notesSlide17.xml" Id="R4ad9319fbb6c43f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04f70e5446a48b0" /><Relationship Type="http://schemas.openxmlformats.org/officeDocument/2006/relationships/image" Target="/ppt/media/image40.png" Id="R3957585baf1c4bfa" /><Relationship Type="http://schemas.openxmlformats.org/officeDocument/2006/relationships/image" Target="/ppt/media/image41.png" Id="R72a4e56a66d24556" /><Relationship Type="http://schemas.openxmlformats.org/officeDocument/2006/relationships/notesSlide" Target="/ppt/notesSlides/notesSlide18.xml" Id="R9c1570081c8444b0" /></Relationships>
</file>

<file path=ppt/slides/slide1.xml><?xml version="1.0" encoding="utf-8"?>
<p:sld xmlns:p="http://schemas.openxmlformats.org/presentationml/2006/main">
  <p:cSld>
    <p:bg>
      <p:bgPr>
        <a:solidFill xmlns:a="http://schemas.openxmlformats.org/drawingml/2006/main">
          <a:srgbClr val="3F682E"/>
        </a:solidFill>
      </p:bgPr>
    </p:bg>
    <p:spTree>
      <p:nvGrpSpPr>
        <p:cNvPr id="1" name=""/>
        <p:cNvGrpSpPr/>
        <p:nvPr/>
      </p:nvGrpSpPr>
      <p:grpSpPr>
        <a:xfrm xmlns:a="http://schemas.openxmlformats.org/drawingml/2006/main"/>
      </p:grpSpPr>
      <p:sp>
        <p:nvSpPr>
          <p:cNvPr id="10" name="text-1-0">
            <a:extLst xmlns:a="http://schemas.openxmlformats.org/drawingml/2006/main">
              <a:ext uri="{FF2B5EF4-FFF2-40B4-BE49-F238E27FC236}">
                <a16:creationId xmlns:a16="http://schemas.microsoft.com/office/drawing/2014/main" id="{6686D81A-333E-4476-8428-BC0033920E26}"/>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01</a:t>
            </a:r>
          </a:p>
        </p:txBody>
      </p:sp>
      <p:pic>
        <p:nvPicPr>
          <p:cNvPr id="2" name="">
            <a:extLst xmlns:a="http://schemas.openxmlformats.org/drawingml/2006/main">
              <a:ext uri="{FF2B5EF4-FFF2-40B4-BE49-F238E27FC236}">
                <a16:creationId xmlns:a16="http://schemas.microsoft.com/office/drawing/2014/main" id="{60E7F74C-F920-41F8-A33B-30BCEA3EF361}"/>
              </a:ext>
            </a:extLst>
          </p:cNvPr>
          <p:cNvPicPr>
            <a:picLocks xmlns:a="http://schemas.openxmlformats.org/drawingml/2006/main" noChangeAspect="1"/>
          </p:cNvPicPr>
          <p:nvPr/>
        </p:nvPicPr>
        <p:blipFill>
          <a:blip xmlns:r="http://schemas.openxmlformats.org/officeDocument/2006/relationships" xmlns:a="http://schemas.openxmlformats.org/drawingml/2006/main" r:embed="R7ca8057065534daf"/>
          <a:stretch xmlns:a="http://schemas.openxmlformats.org/drawingml/2006/main"/>
        </p:blipFill>
        <p:spPr>
          <a:xfrm xmlns:a="http://schemas.openxmlformats.org/drawingml/2006/main">
            <a:off x="7048500" y="0"/>
            <a:ext cx="5143500" cy="68580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B35D0BA0-A394-495A-8B7D-70D660BA19D5}"/>
              </a:ext>
            </a:extLst>
          </p:cNvPr>
          <p:cNvPicPr>
            <a:picLocks xmlns:a="http://schemas.openxmlformats.org/drawingml/2006/main" noChangeAspect="1"/>
          </p:cNvPicPr>
          <p:nvPr/>
        </p:nvPicPr>
        <p:blipFill>
          <a:blip xmlns:r="http://schemas.openxmlformats.org/officeDocument/2006/relationships" xmlns:a="http://schemas.openxmlformats.org/drawingml/2006/main" r:embed="R975caaee87bd4996"/>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1">
            <a:extLst xmlns:a="http://schemas.openxmlformats.org/drawingml/2006/main">
              <a:ext uri="{FF2B5EF4-FFF2-40B4-BE49-F238E27FC236}">
                <a16:creationId xmlns:a16="http://schemas.microsoft.com/office/drawing/2014/main" id="{8FA41B57-5EFB-4466-BB47-D402FCDCBBBF}"/>
              </a:ext>
            </a:extLst>
          </p:cNvPr>
          <p:cNvSpPr>
            <a:spLocks xmlns:a="http://schemas.openxmlformats.org/drawingml/2006/main" noGrp="1"/>
          </p:cNvSpPr>
          <p:nvPr/>
        </p:nvSpPr>
        <p:spPr>
          <a:xfrm xmlns:a="http://schemas.openxmlformats.org/drawingml/2006/main">
            <a:off x="619125" y="1190625"/>
            <a:ext cx="561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D8E4CC"/>
                </a:solidFill>
                <a:latin typeface="Arial"/>
                <a:ea typeface="Arial"/>
                <a:cs typeface="Arial"/>
              </a:defRPr>
            </a:defPPr>
            <a:lvl1pPr>
              <a:defRPr sz="1275" b="0">
                <a:solidFill>
                  <a:srgbClr val="D8E4CC"/>
                </a:solidFill>
                <a:latin typeface="Arial"/>
                <a:ea typeface="Arial"/>
                <a:cs typeface="Arial"/>
              </a:defRPr>
            </a:lvl1pPr>
            <a:lvl2pPr>
              <a:defRPr sz="1275" b="0">
                <a:solidFill>
                  <a:srgbClr val="D8E4CC"/>
                </a:solidFill>
                <a:latin typeface="Arial"/>
                <a:ea typeface="Arial"/>
                <a:cs typeface="Arial"/>
              </a:defRPr>
            </a:lvl2pPr>
            <a:lvl3pPr>
              <a:defRPr sz="1275" b="0">
                <a:solidFill>
                  <a:srgbClr val="D8E4CC"/>
                </a:solidFill>
                <a:latin typeface="Arial"/>
                <a:ea typeface="Arial"/>
                <a:cs typeface="Arial"/>
              </a:defRPr>
            </a:lvl3pPr>
            <a:lvl4pPr>
              <a:defRPr sz="1275" b="0">
                <a:solidFill>
                  <a:srgbClr val="D8E4CC"/>
                </a:solidFill>
                <a:latin typeface="Arial"/>
                <a:ea typeface="Arial"/>
                <a:cs typeface="Arial"/>
              </a:defRPr>
            </a:lvl4pPr>
            <a:lvl5pPr>
              <a:defRPr sz="1275" b="0">
                <a:solidFill>
                  <a:srgbClr val="D8E4CC"/>
                </a:solidFill>
                <a:latin typeface="Arial"/>
                <a:ea typeface="Arial"/>
                <a:cs typeface="Arial"/>
              </a:defRPr>
            </a:lvl5pPr>
            <a:lvl6pPr>
              <a:defRPr sz="1275" b="0">
                <a:solidFill>
                  <a:srgbClr val="D8E4CC"/>
                </a:solidFill>
                <a:latin typeface="Arial"/>
                <a:ea typeface="Arial"/>
                <a:cs typeface="Arial"/>
              </a:defRPr>
            </a:lvl6pPr>
            <a:lvl7pPr>
              <a:defRPr sz="1275" b="0">
                <a:solidFill>
                  <a:srgbClr val="D8E4CC"/>
                </a:solidFill>
                <a:latin typeface="Arial"/>
                <a:ea typeface="Arial"/>
                <a:cs typeface="Arial"/>
              </a:defRPr>
            </a:lvl7pPr>
            <a:lvl8pPr>
              <a:defRPr sz="1275" b="0">
                <a:solidFill>
                  <a:srgbClr val="D8E4CC"/>
                </a:solidFill>
                <a:latin typeface="Arial"/>
                <a:ea typeface="Arial"/>
                <a:cs typeface="Arial"/>
              </a:defRPr>
            </a:lvl8pPr>
            <a:lvl9pPr>
              <a:defRPr sz="1275" b="0">
                <a:solidFill>
                  <a:srgbClr val="D8E4CC"/>
                </a:solidFill>
                <a:latin typeface="Arial"/>
                <a:ea typeface="Arial"/>
                <a:cs typeface="Arial"/>
              </a:defRPr>
            </a:lvl9pPr>
          </a:lstStyle>
          <a:p xmlns:a="http://schemas.openxmlformats.org/drawingml/2006/main">
            <a:pPr>
              <a:defRPr sz="1275" b="0">
                <a:solidFill>
                  <a:srgbClr val="D8E4CC"/>
                </a:solidFill>
                <a:latin typeface="Arial"/>
                <a:ea typeface="Arial"/>
                <a:cs typeface="Arial"/>
              </a:defRPr>
            </a:pPr>
            <a:r>
              <a:rPr sz="1275" b="0">
                <a:solidFill>
                  <a:srgbClr val="D8E4CC"/>
                </a:solidFill>
                <a:latin typeface="Arial"/>
                <a:ea typeface="Arial"/>
                <a:cs typeface="Arial"/>
              </a:rPr>
              <a:t>UZH.ai Hackathon</a:t>
            </a:r>
          </a:p>
        </p:txBody>
      </p:sp>
      <p:pic>
        <p:nvPicPr>
          <p:cNvPr id="5" name="">
            <a:extLst xmlns:a="http://schemas.openxmlformats.org/drawingml/2006/main">
              <a:ext uri="{FF2B5EF4-FFF2-40B4-BE49-F238E27FC236}">
                <a16:creationId xmlns:a16="http://schemas.microsoft.com/office/drawing/2014/main" id="{BF45F203-5508-486C-A5DC-D747310D9C34}"/>
              </a:ext>
            </a:extLst>
          </p:cNvPr>
          <p:cNvPicPr>
            <a:picLocks xmlns:a="http://schemas.openxmlformats.org/drawingml/2006/main" noChangeAspect="1"/>
          </p:cNvPicPr>
          <p:nvPr/>
        </p:nvPicPr>
        <p:blipFill>
          <a:blip xmlns:r="http://schemas.openxmlformats.org/officeDocument/2006/relationships" xmlns:a="http://schemas.openxmlformats.org/drawingml/2006/main" r:embed="R9aeb366f38a74a96"/>
          <a:stretch xmlns:a="http://schemas.openxmlformats.org/drawingml/2006/main"/>
        </p:blipFill>
        <p:spPr>
          <a:xfrm xmlns:a="http://schemas.openxmlformats.org/drawingml/2006/main">
            <a:off x="619125" y="1981200"/>
            <a:ext cx="590550" cy="590550"/>
          </a:xfrm>
          <a:prstGeom xmlns:a="http://schemas.openxmlformats.org/drawingml/2006/main" prst="rect">
            <a:avLst/>
          </a:prstGeom>
        </p:spPr>
      </p:pic>
      <p:sp>
        <p:nvSpPr>
          <p:cNvPr id="6" name="text-1-2">
            <a:extLst xmlns:a="http://schemas.openxmlformats.org/drawingml/2006/main">
              <a:ext uri="{FF2B5EF4-FFF2-40B4-BE49-F238E27FC236}">
                <a16:creationId xmlns:a16="http://schemas.microsoft.com/office/drawing/2014/main" id="{6EF93F95-B30F-477C-A454-4FB757F58734}"/>
              </a:ext>
            </a:extLst>
          </p:cNvPr>
          <p:cNvSpPr>
            <a:spLocks xmlns:a="http://schemas.openxmlformats.org/drawingml/2006/main" noGrp="1"/>
          </p:cNvSpPr>
          <p:nvPr/>
        </p:nvSpPr>
        <p:spPr>
          <a:xfrm xmlns:a="http://schemas.openxmlformats.org/drawingml/2006/main">
            <a:off x="1362075" y="1752600"/>
            <a:ext cx="5572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FFFFFF"/>
                </a:solidFill>
                <a:latin typeface="Poppins"/>
                <a:ea typeface="Poppins"/>
                <a:cs typeface="Poppins"/>
              </a:defRPr>
            </a:defPPr>
            <a:lvl1pPr>
              <a:defRPr sz="5700" b="1">
                <a:solidFill>
                  <a:srgbClr val="FFFFFF"/>
                </a:solidFill>
                <a:latin typeface="Poppins"/>
                <a:ea typeface="Poppins"/>
                <a:cs typeface="Poppins"/>
              </a:defRPr>
            </a:lvl1pPr>
            <a:lvl2pPr>
              <a:defRPr sz="5700" b="1">
                <a:solidFill>
                  <a:srgbClr val="FFFFFF"/>
                </a:solidFill>
                <a:latin typeface="Poppins"/>
                <a:ea typeface="Poppins"/>
                <a:cs typeface="Poppins"/>
              </a:defRPr>
            </a:lvl2pPr>
            <a:lvl3pPr>
              <a:defRPr sz="5700" b="1">
                <a:solidFill>
                  <a:srgbClr val="FFFFFF"/>
                </a:solidFill>
                <a:latin typeface="Poppins"/>
                <a:ea typeface="Poppins"/>
                <a:cs typeface="Poppins"/>
              </a:defRPr>
            </a:lvl3pPr>
            <a:lvl4pPr>
              <a:defRPr sz="5700" b="1">
                <a:solidFill>
                  <a:srgbClr val="FFFFFF"/>
                </a:solidFill>
                <a:latin typeface="Poppins"/>
                <a:ea typeface="Poppins"/>
                <a:cs typeface="Poppins"/>
              </a:defRPr>
            </a:lvl4pPr>
            <a:lvl5pPr>
              <a:defRPr sz="5700" b="1">
                <a:solidFill>
                  <a:srgbClr val="FFFFFF"/>
                </a:solidFill>
                <a:latin typeface="Poppins"/>
                <a:ea typeface="Poppins"/>
                <a:cs typeface="Poppins"/>
              </a:defRPr>
            </a:lvl5pPr>
            <a:lvl6pPr>
              <a:defRPr sz="5700" b="1">
                <a:solidFill>
                  <a:srgbClr val="FFFFFF"/>
                </a:solidFill>
                <a:latin typeface="Poppins"/>
                <a:ea typeface="Poppins"/>
                <a:cs typeface="Poppins"/>
              </a:defRPr>
            </a:lvl6pPr>
            <a:lvl7pPr>
              <a:defRPr sz="5700" b="1">
                <a:solidFill>
                  <a:srgbClr val="FFFFFF"/>
                </a:solidFill>
                <a:latin typeface="Poppins"/>
                <a:ea typeface="Poppins"/>
                <a:cs typeface="Poppins"/>
              </a:defRPr>
            </a:lvl7pPr>
            <a:lvl8pPr>
              <a:defRPr sz="5700" b="1">
                <a:solidFill>
                  <a:srgbClr val="FFFFFF"/>
                </a:solidFill>
                <a:latin typeface="Poppins"/>
                <a:ea typeface="Poppins"/>
                <a:cs typeface="Poppins"/>
              </a:defRPr>
            </a:lvl8pPr>
            <a:lvl9pPr>
              <a:defRPr sz="5700" b="1">
                <a:solidFill>
                  <a:srgbClr val="FFFFFF"/>
                </a:solidFill>
                <a:latin typeface="Poppins"/>
                <a:ea typeface="Poppins"/>
                <a:cs typeface="Poppins"/>
              </a:defRPr>
            </a:lvl9pPr>
          </a:lstStyle>
          <a:p xmlns:a="http://schemas.openxmlformats.org/drawingml/2006/main">
            <a:pPr>
              <a:defRPr sz="5700" b="1">
                <a:solidFill>
                  <a:srgbClr val="FFFFFF"/>
                </a:solidFill>
                <a:latin typeface="Poppins"/>
                <a:ea typeface="Poppins"/>
                <a:cs typeface="Poppins"/>
              </a:defRPr>
            </a:pPr>
            <a:r>
              <a:rPr sz="5700" b="1">
                <a:solidFill>
                  <a:srgbClr val="FFFFFF"/>
                </a:solidFill>
                <a:latin typeface="Poppins"/>
                <a:ea typeface="Poppins"/>
                <a:cs typeface="Poppins"/>
              </a:rPr>
              <a:t>RepRadar</a:t>
            </a:r>
          </a:p>
        </p:txBody>
      </p:sp>
      <p:sp>
        <p:nvSpPr>
          <p:cNvPr id="7" name="text-1-3">
            <a:extLst xmlns:a="http://schemas.openxmlformats.org/drawingml/2006/main">
              <a:ext uri="{FF2B5EF4-FFF2-40B4-BE49-F238E27FC236}">
                <a16:creationId xmlns:a16="http://schemas.microsoft.com/office/drawing/2014/main" id="{A4BEB7EE-2F29-40AA-BBCB-1787A06963FC}"/>
              </a:ext>
            </a:extLst>
          </p:cNvPr>
          <p:cNvSpPr>
            <a:spLocks xmlns:a="http://schemas.openxmlformats.org/drawingml/2006/main" noGrp="1"/>
          </p:cNvSpPr>
          <p:nvPr/>
        </p:nvSpPr>
        <p:spPr>
          <a:xfrm xmlns:a="http://schemas.openxmlformats.org/drawingml/2006/main">
            <a:off x="619125" y="2952750"/>
            <a:ext cx="6143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0">
                <a:solidFill>
                  <a:srgbClr val="FFFFFF"/>
                </a:solidFill>
                <a:latin typeface="Poppins"/>
                <a:ea typeface="Poppins"/>
                <a:cs typeface="Poppins"/>
              </a:defRPr>
            </a:defPPr>
            <a:lvl1pPr>
              <a:defRPr sz="3450" b="0">
                <a:solidFill>
                  <a:srgbClr val="FFFFFF"/>
                </a:solidFill>
                <a:latin typeface="Poppins"/>
                <a:ea typeface="Poppins"/>
                <a:cs typeface="Poppins"/>
              </a:defRPr>
            </a:lvl1pPr>
            <a:lvl2pPr>
              <a:defRPr sz="3450" b="0">
                <a:solidFill>
                  <a:srgbClr val="FFFFFF"/>
                </a:solidFill>
                <a:latin typeface="Poppins"/>
                <a:ea typeface="Poppins"/>
                <a:cs typeface="Poppins"/>
              </a:defRPr>
            </a:lvl2pPr>
            <a:lvl3pPr>
              <a:defRPr sz="3450" b="0">
                <a:solidFill>
                  <a:srgbClr val="FFFFFF"/>
                </a:solidFill>
                <a:latin typeface="Poppins"/>
                <a:ea typeface="Poppins"/>
                <a:cs typeface="Poppins"/>
              </a:defRPr>
            </a:lvl3pPr>
            <a:lvl4pPr>
              <a:defRPr sz="3450" b="0">
                <a:solidFill>
                  <a:srgbClr val="FFFFFF"/>
                </a:solidFill>
                <a:latin typeface="Poppins"/>
                <a:ea typeface="Poppins"/>
                <a:cs typeface="Poppins"/>
              </a:defRPr>
            </a:lvl4pPr>
            <a:lvl5pPr>
              <a:defRPr sz="3450" b="0">
                <a:solidFill>
                  <a:srgbClr val="FFFFFF"/>
                </a:solidFill>
                <a:latin typeface="Poppins"/>
                <a:ea typeface="Poppins"/>
                <a:cs typeface="Poppins"/>
              </a:defRPr>
            </a:lvl5pPr>
            <a:lvl6pPr>
              <a:defRPr sz="3450" b="0">
                <a:solidFill>
                  <a:srgbClr val="FFFFFF"/>
                </a:solidFill>
                <a:latin typeface="Poppins"/>
                <a:ea typeface="Poppins"/>
                <a:cs typeface="Poppins"/>
              </a:defRPr>
            </a:lvl6pPr>
            <a:lvl7pPr>
              <a:defRPr sz="3450" b="0">
                <a:solidFill>
                  <a:srgbClr val="FFFFFF"/>
                </a:solidFill>
                <a:latin typeface="Poppins"/>
                <a:ea typeface="Poppins"/>
                <a:cs typeface="Poppins"/>
              </a:defRPr>
            </a:lvl7pPr>
            <a:lvl8pPr>
              <a:defRPr sz="3450" b="0">
                <a:solidFill>
                  <a:srgbClr val="FFFFFF"/>
                </a:solidFill>
                <a:latin typeface="Poppins"/>
                <a:ea typeface="Poppins"/>
                <a:cs typeface="Poppins"/>
              </a:defRPr>
            </a:lvl8pPr>
            <a:lvl9pPr>
              <a:defRPr sz="3450" b="0">
                <a:solidFill>
                  <a:srgbClr val="FFFFFF"/>
                </a:solidFill>
                <a:latin typeface="Poppins"/>
                <a:ea typeface="Poppins"/>
                <a:cs typeface="Poppins"/>
              </a:defRPr>
            </a:lvl9pPr>
          </a:lstStyle>
          <a:p xmlns:a="http://schemas.openxmlformats.org/drawingml/2006/main">
            <a:pPr>
              <a:defRPr sz="3450" b="0">
                <a:solidFill>
                  <a:srgbClr val="FFFFFF"/>
                </a:solidFill>
                <a:latin typeface="Poppins"/>
                <a:ea typeface="Poppins"/>
                <a:cs typeface="Poppins"/>
              </a:defRPr>
            </a:pPr>
            <a:r>
              <a:rPr sz="3450" b="0">
                <a:solidFill>
                  <a:srgbClr val="FFFFFF"/>
                </a:solidFill>
                <a:latin typeface="Poppins"/>
                <a:ea typeface="Poppins"/>
                <a:cs typeface="Poppins"/>
              </a:rPr>
              <a:t>Listen closely.</a:t>
            </a:r>
          </a:p>
          <a:p xmlns:a="http://schemas.openxmlformats.org/drawingml/2006/main">
            <a:pPr>
              <a:defRPr sz="3450" b="0">
                <a:solidFill>
                  <a:srgbClr val="FFFFFF"/>
                </a:solidFill>
                <a:latin typeface="Poppins"/>
                <a:ea typeface="Poppins"/>
                <a:cs typeface="Poppins"/>
              </a:defRPr>
            </a:pPr>
            <a:r>
              <a:rPr sz="3450" b="0">
                <a:solidFill>
                  <a:srgbClr val="FFFFFF"/>
                </a:solidFill>
                <a:latin typeface="Poppins"/>
                <a:ea typeface="Poppins"/>
                <a:cs typeface="Poppins"/>
              </a:rPr>
              <a:t>Decide confidently.</a:t>
            </a:r>
          </a:p>
        </p:txBody>
      </p:sp>
      <p:sp>
        <p:nvSpPr>
          <p:cNvPr id="8" name="text-1-4">
            <a:extLst xmlns:a="http://schemas.openxmlformats.org/drawingml/2006/main">
              <a:ext uri="{FF2B5EF4-FFF2-40B4-BE49-F238E27FC236}">
                <a16:creationId xmlns:a16="http://schemas.microsoft.com/office/drawing/2014/main" id="{1AE525E1-B05A-4050-88C8-0DB823B4EC09}"/>
              </a:ext>
            </a:extLst>
          </p:cNvPr>
          <p:cNvSpPr>
            <a:spLocks xmlns:a="http://schemas.openxmlformats.org/drawingml/2006/main" noGrp="1"/>
          </p:cNvSpPr>
          <p:nvPr/>
        </p:nvSpPr>
        <p:spPr>
          <a:xfrm xmlns:a="http://schemas.openxmlformats.org/drawingml/2006/main">
            <a:off x="647700" y="4810125"/>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8E4CC"/>
                </a:solidFill>
                <a:latin typeface="Poppins"/>
                <a:ea typeface="Poppins"/>
                <a:cs typeface="Poppins"/>
              </a:defRPr>
            </a:defPPr>
            <a:lvl1pPr>
              <a:defRPr sz="1950" b="0">
                <a:solidFill>
                  <a:srgbClr val="D8E4CC"/>
                </a:solidFill>
                <a:latin typeface="Poppins"/>
                <a:ea typeface="Poppins"/>
                <a:cs typeface="Poppins"/>
              </a:defRPr>
            </a:lvl1pPr>
            <a:lvl2pPr>
              <a:defRPr sz="1950" b="0">
                <a:solidFill>
                  <a:srgbClr val="D8E4CC"/>
                </a:solidFill>
                <a:latin typeface="Poppins"/>
                <a:ea typeface="Poppins"/>
                <a:cs typeface="Poppins"/>
              </a:defRPr>
            </a:lvl2pPr>
            <a:lvl3pPr>
              <a:defRPr sz="1950" b="0">
                <a:solidFill>
                  <a:srgbClr val="D8E4CC"/>
                </a:solidFill>
                <a:latin typeface="Poppins"/>
                <a:ea typeface="Poppins"/>
                <a:cs typeface="Poppins"/>
              </a:defRPr>
            </a:lvl3pPr>
            <a:lvl4pPr>
              <a:defRPr sz="1950" b="0">
                <a:solidFill>
                  <a:srgbClr val="D8E4CC"/>
                </a:solidFill>
                <a:latin typeface="Poppins"/>
                <a:ea typeface="Poppins"/>
                <a:cs typeface="Poppins"/>
              </a:defRPr>
            </a:lvl4pPr>
            <a:lvl5pPr>
              <a:defRPr sz="1950" b="0">
                <a:solidFill>
                  <a:srgbClr val="D8E4CC"/>
                </a:solidFill>
                <a:latin typeface="Poppins"/>
                <a:ea typeface="Poppins"/>
                <a:cs typeface="Poppins"/>
              </a:defRPr>
            </a:lvl5pPr>
            <a:lvl6pPr>
              <a:defRPr sz="1950" b="0">
                <a:solidFill>
                  <a:srgbClr val="D8E4CC"/>
                </a:solidFill>
                <a:latin typeface="Poppins"/>
                <a:ea typeface="Poppins"/>
                <a:cs typeface="Poppins"/>
              </a:defRPr>
            </a:lvl6pPr>
            <a:lvl7pPr>
              <a:defRPr sz="1950" b="0">
                <a:solidFill>
                  <a:srgbClr val="D8E4CC"/>
                </a:solidFill>
                <a:latin typeface="Poppins"/>
                <a:ea typeface="Poppins"/>
                <a:cs typeface="Poppins"/>
              </a:defRPr>
            </a:lvl7pPr>
            <a:lvl8pPr>
              <a:defRPr sz="1950" b="0">
                <a:solidFill>
                  <a:srgbClr val="D8E4CC"/>
                </a:solidFill>
                <a:latin typeface="Poppins"/>
                <a:ea typeface="Poppins"/>
                <a:cs typeface="Poppins"/>
              </a:defRPr>
            </a:lvl8pPr>
            <a:lvl9pPr>
              <a:defRPr sz="1950" b="0">
                <a:solidFill>
                  <a:srgbClr val="D8E4CC"/>
                </a:solidFill>
                <a:latin typeface="Poppins"/>
                <a:ea typeface="Poppins"/>
                <a:cs typeface="Poppins"/>
              </a:defRPr>
            </a:lvl9pPr>
          </a:lstStyle>
          <a:p xmlns:a="http://schemas.openxmlformats.org/drawingml/2006/main">
            <a:pPr>
              <a:defRPr sz="1950" b="0">
                <a:solidFill>
                  <a:srgbClr val="D8E4CC"/>
                </a:solidFill>
                <a:latin typeface="Poppins"/>
                <a:ea typeface="Poppins"/>
                <a:cs typeface="Poppins"/>
              </a:defRPr>
            </a:pPr>
            <a:r>
              <a:rPr sz="1950" b="0">
                <a:solidFill>
                  <a:srgbClr val="D8E4CC"/>
                </a:solidFill>
                <a:latin typeface="Poppins"/>
                <a:ea typeface="Poppins"/>
                <a:cs typeface="Poppins"/>
              </a:rPr>
              <a:t>A farmer’s question.</a:t>
            </a:r>
          </a:p>
          <a:p xmlns:a="http://schemas.openxmlformats.org/drawingml/2006/main">
            <a:pPr>
              <a:defRPr sz="1950" b="0">
                <a:solidFill>
                  <a:srgbClr val="D8E4CC"/>
                </a:solidFill>
                <a:latin typeface="Poppins"/>
                <a:ea typeface="Poppins"/>
                <a:cs typeface="Poppins"/>
              </a:defRPr>
            </a:pPr>
            <a:r>
              <a:rPr sz="1950" b="0">
                <a:solidFill>
                  <a:srgbClr val="D8E4CC"/>
                </a:solidFill>
                <a:latin typeface="Poppins"/>
                <a:ea typeface="Poppins"/>
                <a:cs typeface="Poppins"/>
              </a:rPr>
              <a:t>A team’s next decision.</a:t>
            </a:r>
          </a:p>
        </p:txBody>
      </p:sp>
      <p:sp>
        <p:nvSpPr>
          <p:cNvPr id="9" name="text-1-5">
            <a:extLst xmlns:a="http://schemas.openxmlformats.org/drawingml/2006/main">
              <a:ext uri="{FF2B5EF4-FFF2-40B4-BE49-F238E27FC236}">
                <a16:creationId xmlns:a16="http://schemas.microsoft.com/office/drawing/2014/main" id="{F8ABEBD9-9446-4C65-891E-2C8658DEB4C7}"/>
              </a:ext>
            </a:extLst>
          </p:cNvPr>
          <p:cNvSpPr>
            <a:spLocks xmlns:a="http://schemas.openxmlformats.org/drawingml/2006/main" noGrp="1"/>
          </p:cNvSpPr>
          <p:nvPr/>
        </p:nvSpPr>
        <p:spPr>
          <a:xfrm xmlns:a="http://schemas.openxmlformats.org/drawingml/2006/main">
            <a:off x="647700" y="6181725"/>
            <a:ext cx="6191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C5D6B9"/>
                </a:solidFill>
                <a:latin typeface="Arial"/>
                <a:ea typeface="Arial"/>
                <a:cs typeface="Arial"/>
              </a:defRPr>
            </a:defPPr>
            <a:lvl1pPr>
              <a:defRPr sz="1050" b="0">
                <a:solidFill>
                  <a:srgbClr val="C5D6B9"/>
                </a:solidFill>
                <a:latin typeface="Arial"/>
                <a:ea typeface="Arial"/>
                <a:cs typeface="Arial"/>
              </a:defRPr>
            </a:lvl1pPr>
            <a:lvl2pPr>
              <a:defRPr sz="1050" b="0">
                <a:solidFill>
                  <a:srgbClr val="C5D6B9"/>
                </a:solidFill>
                <a:latin typeface="Arial"/>
                <a:ea typeface="Arial"/>
                <a:cs typeface="Arial"/>
              </a:defRPr>
            </a:lvl2pPr>
            <a:lvl3pPr>
              <a:defRPr sz="1050" b="0">
                <a:solidFill>
                  <a:srgbClr val="C5D6B9"/>
                </a:solidFill>
                <a:latin typeface="Arial"/>
                <a:ea typeface="Arial"/>
                <a:cs typeface="Arial"/>
              </a:defRPr>
            </a:lvl3pPr>
            <a:lvl4pPr>
              <a:defRPr sz="1050" b="0">
                <a:solidFill>
                  <a:srgbClr val="C5D6B9"/>
                </a:solidFill>
                <a:latin typeface="Arial"/>
                <a:ea typeface="Arial"/>
                <a:cs typeface="Arial"/>
              </a:defRPr>
            </a:lvl4pPr>
            <a:lvl5pPr>
              <a:defRPr sz="1050" b="0">
                <a:solidFill>
                  <a:srgbClr val="C5D6B9"/>
                </a:solidFill>
                <a:latin typeface="Arial"/>
                <a:ea typeface="Arial"/>
                <a:cs typeface="Arial"/>
              </a:defRPr>
            </a:lvl5pPr>
            <a:lvl6pPr>
              <a:defRPr sz="1050" b="0">
                <a:solidFill>
                  <a:srgbClr val="C5D6B9"/>
                </a:solidFill>
                <a:latin typeface="Arial"/>
                <a:ea typeface="Arial"/>
                <a:cs typeface="Arial"/>
              </a:defRPr>
            </a:lvl6pPr>
            <a:lvl7pPr>
              <a:defRPr sz="1050" b="0">
                <a:solidFill>
                  <a:srgbClr val="C5D6B9"/>
                </a:solidFill>
                <a:latin typeface="Arial"/>
                <a:ea typeface="Arial"/>
                <a:cs typeface="Arial"/>
              </a:defRPr>
            </a:lvl7pPr>
            <a:lvl8pPr>
              <a:defRPr sz="1050" b="0">
                <a:solidFill>
                  <a:srgbClr val="C5D6B9"/>
                </a:solidFill>
                <a:latin typeface="Arial"/>
                <a:ea typeface="Arial"/>
                <a:cs typeface="Arial"/>
              </a:defRPr>
            </a:lvl8pPr>
            <a:lvl9pPr>
              <a:defRPr sz="1050" b="0">
                <a:solidFill>
                  <a:srgbClr val="C5D6B9"/>
                </a:solidFill>
                <a:latin typeface="Arial"/>
                <a:ea typeface="Arial"/>
                <a:cs typeface="Arial"/>
              </a:defRPr>
            </a:lvl9pPr>
          </a:lstStyle>
          <a:p xmlns:a="http://schemas.openxmlformats.org/drawingml/2006/main">
            <a:pPr>
              <a:defRPr sz="1050" b="0">
                <a:solidFill>
                  <a:srgbClr val="C5D6B9"/>
                </a:solidFill>
                <a:latin typeface="Arial"/>
                <a:ea typeface="Arial"/>
                <a:cs typeface="Arial"/>
              </a:defRPr>
            </a:pPr>
            <a:r>
              <a:rPr sz="1050" b="0">
                <a:solidFill>
                  <a:srgbClr val="C5D6B9"/>
                </a:solidFill>
                <a:latin typeface="Arial"/>
                <a:ea typeface="Arial"/>
                <a:cs typeface="Arial"/>
              </a:rPr>
              <a:t>Syngenta challenge concept · Synthetic-data demonstration</a:t>
            </a:r>
          </a:p>
        </p:txBody>
      </p:sp>
    </p:spTree>
    <p:extLst>
      <p:ext uri="{BB962C8B-B14F-4D97-AF65-F5344CB8AC3E}">
        <p14:creationId xmlns:p14="http://schemas.microsoft.com/office/powerpoint/2010/main" val="1813546166"/>
      </p:ext>
    </p:extLst>
  </p:cSld>
</p:sld>
</file>

<file path=ppt/slides/slide2.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3FA61716-9B9D-4B13-82AA-BD3AAC077E0F}"/>
              </a:ext>
            </a:extLst>
          </p:cNvPr>
          <p:cNvPicPr>
            <a:picLocks xmlns:a="http://schemas.openxmlformats.org/drawingml/2006/main" noChangeAspect="1"/>
          </p:cNvPicPr>
          <p:nvPr/>
        </p:nvPicPr>
        <p:blipFill>
          <a:blip xmlns:r="http://schemas.openxmlformats.org/officeDocument/2006/relationships" xmlns:a="http://schemas.openxmlformats.org/drawingml/2006/main" r:embed="Rc50194274c9042bd"/>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2-0">
            <a:extLst xmlns:a="http://schemas.openxmlformats.org/drawingml/2006/main">
              <a:ext uri="{FF2B5EF4-FFF2-40B4-BE49-F238E27FC236}">
                <a16:creationId xmlns:a16="http://schemas.microsoft.com/office/drawing/2014/main" id="{BAE4B405-8216-4F53-9A8C-AA1B7AFB9F1D}"/>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D86A8C42-81FA-4317-BF0A-E41F102C504A}"/>
              </a:ext>
            </a:extLst>
          </p:cNvPr>
          <p:cNvPicPr>
            <a:picLocks xmlns:a="http://schemas.openxmlformats.org/drawingml/2006/main" noChangeAspect="1"/>
          </p:cNvPicPr>
          <p:nvPr/>
        </p:nvPicPr>
        <p:blipFill>
          <a:blip xmlns:r="http://schemas.openxmlformats.org/officeDocument/2006/relationships" xmlns:a="http://schemas.openxmlformats.org/drawingml/2006/main" r:embed="R4c269cb90727484b"/>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2-1">
            <a:extLst xmlns:a="http://schemas.openxmlformats.org/drawingml/2006/main">
              <a:ext uri="{FF2B5EF4-FFF2-40B4-BE49-F238E27FC236}">
                <a16:creationId xmlns:a16="http://schemas.microsoft.com/office/drawing/2014/main" id="{AC536767-AB8C-46B2-8EEA-3617DF82F366}"/>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01 PROBLEM / WHY IT MATTERS</a:t>
            </a:r>
          </a:p>
        </p:txBody>
      </p:sp>
      <p:sp>
        <p:nvSpPr>
          <p:cNvPr id="5" name="text-2-2">
            <a:extLst xmlns:a="http://schemas.openxmlformats.org/drawingml/2006/main">
              <a:ext uri="{FF2B5EF4-FFF2-40B4-BE49-F238E27FC236}">
                <a16:creationId xmlns:a16="http://schemas.microsoft.com/office/drawing/2014/main" id="{EE3DCC99-76DE-42B5-B697-9473AFAD4608}"/>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08:12 in Basel. A question arrives from China.</a:t>
            </a:r>
          </a:p>
        </p:txBody>
      </p:sp>
      <p:sp>
        <p:nvSpPr>
          <p:cNvPr id="6" name="text-2-3">
            <a:extLst xmlns:a="http://schemas.openxmlformats.org/drawingml/2006/main">
              <a:ext uri="{FF2B5EF4-FFF2-40B4-BE49-F238E27FC236}">
                <a16:creationId xmlns:a16="http://schemas.microsoft.com/office/drawing/2014/main" id="{605033BD-DBEA-4182-A8C9-F7BB4BE1AA38}"/>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Problem–solution fit</a:t>
            </a:r>
          </a:p>
        </p:txBody>
      </p:sp>
      <p:sp>
        <p:nvSpPr>
          <p:cNvPr id="7" name="text-2-4">
            <a:extLst xmlns:a="http://schemas.openxmlformats.org/drawingml/2006/main">
              <a:ext uri="{FF2B5EF4-FFF2-40B4-BE49-F238E27FC236}">
                <a16:creationId xmlns:a16="http://schemas.microsoft.com/office/drawing/2014/main" id="{D3F0AD30-D272-4974-AB7D-97DC54C49DF5}"/>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02</a:t>
            </a:r>
          </a:p>
        </p:txBody>
      </p:sp>
      <p:sp>
        <p:nvSpPr>
          <p:cNvPr id="8" name="text-2-5">
            <a:extLst xmlns:a="http://schemas.openxmlformats.org/drawingml/2006/main">
              <a:ext uri="{FF2B5EF4-FFF2-40B4-BE49-F238E27FC236}">
                <a16:creationId xmlns:a16="http://schemas.microsoft.com/office/drawing/2014/main" id="{23BCD065-CDF8-4EBF-B098-DAA33B443AE8}"/>
              </a:ext>
            </a:extLst>
          </p:cNvPr>
          <p:cNvSpPr>
            <a:spLocks xmlns:a="http://schemas.openxmlformats.org/drawingml/2006/main" noGrp="1"/>
          </p:cNvSpPr>
          <p:nvPr/>
        </p:nvSpPr>
        <p:spPr>
          <a:xfrm xmlns:a="http://schemas.openxmlformats.org/drawingml/2006/main">
            <a:off x="619125" y="2590800"/>
            <a:ext cx="752475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3F682E"/>
                </a:solidFill>
                <a:latin typeface="Poppins"/>
                <a:ea typeface="Poppins"/>
                <a:cs typeface="Poppins"/>
              </a:defRPr>
            </a:defPPr>
            <a:lvl1pPr>
              <a:defRPr sz="2700" b="1">
                <a:solidFill>
                  <a:srgbClr val="3F682E"/>
                </a:solidFill>
                <a:latin typeface="Poppins"/>
                <a:ea typeface="Poppins"/>
                <a:cs typeface="Poppins"/>
              </a:defRPr>
            </a:lvl1pPr>
            <a:lvl2pPr>
              <a:defRPr sz="2700" b="1">
                <a:solidFill>
                  <a:srgbClr val="3F682E"/>
                </a:solidFill>
                <a:latin typeface="Poppins"/>
                <a:ea typeface="Poppins"/>
                <a:cs typeface="Poppins"/>
              </a:defRPr>
            </a:lvl2pPr>
            <a:lvl3pPr>
              <a:defRPr sz="2700" b="1">
                <a:solidFill>
                  <a:srgbClr val="3F682E"/>
                </a:solidFill>
                <a:latin typeface="Poppins"/>
                <a:ea typeface="Poppins"/>
                <a:cs typeface="Poppins"/>
              </a:defRPr>
            </a:lvl3pPr>
            <a:lvl4pPr>
              <a:defRPr sz="2700" b="1">
                <a:solidFill>
                  <a:srgbClr val="3F682E"/>
                </a:solidFill>
                <a:latin typeface="Poppins"/>
                <a:ea typeface="Poppins"/>
                <a:cs typeface="Poppins"/>
              </a:defRPr>
            </a:lvl4pPr>
            <a:lvl5pPr>
              <a:defRPr sz="2700" b="1">
                <a:solidFill>
                  <a:srgbClr val="3F682E"/>
                </a:solidFill>
                <a:latin typeface="Poppins"/>
                <a:ea typeface="Poppins"/>
                <a:cs typeface="Poppins"/>
              </a:defRPr>
            </a:lvl5pPr>
            <a:lvl6pPr>
              <a:defRPr sz="2700" b="1">
                <a:solidFill>
                  <a:srgbClr val="3F682E"/>
                </a:solidFill>
                <a:latin typeface="Poppins"/>
                <a:ea typeface="Poppins"/>
                <a:cs typeface="Poppins"/>
              </a:defRPr>
            </a:lvl6pPr>
            <a:lvl7pPr>
              <a:defRPr sz="2700" b="1">
                <a:solidFill>
                  <a:srgbClr val="3F682E"/>
                </a:solidFill>
                <a:latin typeface="Poppins"/>
                <a:ea typeface="Poppins"/>
                <a:cs typeface="Poppins"/>
              </a:defRPr>
            </a:lvl7pPr>
            <a:lvl8pPr>
              <a:defRPr sz="2700" b="1">
                <a:solidFill>
                  <a:srgbClr val="3F682E"/>
                </a:solidFill>
                <a:latin typeface="Poppins"/>
                <a:ea typeface="Poppins"/>
                <a:cs typeface="Poppins"/>
              </a:defRPr>
            </a:lvl8pPr>
            <a:lvl9pPr>
              <a:defRPr sz="2700" b="1">
                <a:solidFill>
                  <a:srgbClr val="3F682E"/>
                </a:solidFill>
                <a:latin typeface="Poppins"/>
                <a:ea typeface="Poppins"/>
                <a:cs typeface="Poppins"/>
              </a:defRPr>
            </a:lvl9pPr>
          </a:lstStyle>
          <a:p xmlns:a="http://schemas.openxmlformats.org/drawingml/2006/main">
            <a:pPr>
              <a:defRPr sz="2700" b="1">
                <a:solidFill>
                  <a:srgbClr val="3F682E"/>
                </a:solidFill>
                <a:latin typeface="Poppins"/>
                <a:ea typeface="Poppins"/>
                <a:cs typeface="Poppins"/>
              </a:defRPr>
            </a:pPr>
            <a:r>
              <a:rPr sz="2700" b="1">
                <a:solidFill>
                  <a:srgbClr val="3F682E"/>
                </a:solidFill>
                <a:latin typeface="Poppins"/>
                <a:ea typeface="Poppins"/>
                <a:cs typeface="Poppins"/>
              </a:rPr>
              <a:t>“A headline says some products</a:t>
            </a:r>
          </a:p>
          <a:p xmlns:a="http://schemas.openxmlformats.org/drawingml/2006/main">
            <a:pPr>
              <a:defRPr sz="2700" b="1">
                <a:solidFill>
                  <a:srgbClr val="3F682E"/>
                </a:solidFill>
                <a:latin typeface="Poppins"/>
                <a:ea typeface="Poppins"/>
                <a:cs typeface="Poppins"/>
              </a:defRPr>
            </a:pPr>
            <a:r>
              <a:rPr sz="2700" b="1">
                <a:solidFill>
                  <a:srgbClr val="3F682E"/>
                </a:solidFill>
                <a:latin typeface="Poppins"/>
                <a:ea typeface="Poppins"/>
                <a:cs typeface="Poppins"/>
              </a:rPr>
              <a:t>are already banned. Do I need</a:t>
            </a:r>
          </a:p>
          <a:p xmlns:a="http://schemas.openxmlformats.org/drawingml/2006/main">
            <a:pPr>
              <a:defRPr sz="2700" b="1">
                <a:solidFill>
                  <a:srgbClr val="3F682E"/>
                </a:solidFill>
                <a:latin typeface="Poppins"/>
                <a:ea typeface="Poppins"/>
                <a:cs typeface="Poppins"/>
              </a:defRPr>
            </a:pPr>
            <a:r>
              <a:rPr sz="2700" b="1">
                <a:solidFill>
                  <a:srgbClr val="3F682E"/>
                </a:solidFill>
                <a:latin typeface="Poppins"/>
                <a:ea typeface="Poppins"/>
                <a:cs typeface="Poppins"/>
              </a:rPr>
              <a:t>to change my plans for</a:t>
            </a:r>
          </a:p>
          <a:p xmlns:a="http://schemas.openxmlformats.org/drawingml/2006/main">
            <a:pPr>
              <a:defRPr sz="2700" b="1">
                <a:solidFill>
                  <a:srgbClr val="3F682E"/>
                </a:solidFill>
                <a:latin typeface="Poppins"/>
                <a:ea typeface="Poppins"/>
                <a:cs typeface="Poppins"/>
              </a:defRPr>
            </a:pPr>
            <a:r>
              <a:rPr sz="2700" b="1">
                <a:solidFill>
                  <a:srgbClr val="3F682E"/>
                </a:solidFill>
                <a:latin typeface="Poppins"/>
                <a:ea typeface="Poppins"/>
                <a:cs typeface="Poppins"/>
              </a:rPr>
              <a:t>next season?”</a:t>
            </a:r>
          </a:p>
        </p:txBody>
      </p:sp>
      <p:sp>
        <p:nvSpPr>
          <p:cNvPr id="9" name="text-2-6">
            <a:extLst xmlns:a="http://schemas.openxmlformats.org/drawingml/2006/main">
              <a:ext uri="{FF2B5EF4-FFF2-40B4-BE49-F238E27FC236}">
                <a16:creationId xmlns:a16="http://schemas.microsoft.com/office/drawing/2014/main" id="{6430C66B-9245-4856-A028-9585579417CB}"/>
              </a:ext>
            </a:extLst>
          </p:cNvPr>
          <p:cNvSpPr>
            <a:spLocks xmlns:a="http://schemas.openxmlformats.org/drawingml/2006/main" noGrp="1"/>
          </p:cNvSpPr>
          <p:nvPr/>
        </p:nvSpPr>
        <p:spPr>
          <a:xfrm xmlns:a="http://schemas.openxmlformats.org/drawingml/2006/main">
            <a:off x="8858250" y="271462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D8BC62"/>
                </a:solidFill>
                <a:latin typeface="Poppins"/>
                <a:ea typeface="Poppins"/>
                <a:cs typeface="Poppins"/>
              </a:defRPr>
            </a:defPPr>
            <a:lvl1pPr>
              <a:defRPr sz="2925" b="1">
                <a:solidFill>
                  <a:srgbClr val="D8BC62"/>
                </a:solidFill>
                <a:latin typeface="Poppins"/>
                <a:ea typeface="Poppins"/>
                <a:cs typeface="Poppins"/>
              </a:defRPr>
            </a:lvl1pPr>
            <a:lvl2pPr>
              <a:defRPr sz="2925" b="1">
                <a:solidFill>
                  <a:srgbClr val="D8BC62"/>
                </a:solidFill>
                <a:latin typeface="Poppins"/>
                <a:ea typeface="Poppins"/>
                <a:cs typeface="Poppins"/>
              </a:defRPr>
            </a:lvl2pPr>
            <a:lvl3pPr>
              <a:defRPr sz="2925" b="1">
                <a:solidFill>
                  <a:srgbClr val="D8BC62"/>
                </a:solidFill>
                <a:latin typeface="Poppins"/>
                <a:ea typeface="Poppins"/>
                <a:cs typeface="Poppins"/>
              </a:defRPr>
            </a:lvl3pPr>
            <a:lvl4pPr>
              <a:defRPr sz="2925" b="1">
                <a:solidFill>
                  <a:srgbClr val="D8BC62"/>
                </a:solidFill>
                <a:latin typeface="Poppins"/>
                <a:ea typeface="Poppins"/>
                <a:cs typeface="Poppins"/>
              </a:defRPr>
            </a:lvl4pPr>
            <a:lvl5pPr>
              <a:defRPr sz="2925" b="1">
                <a:solidFill>
                  <a:srgbClr val="D8BC62"/>
                </a:solidFill>
                <a:latin typeface="Poppins"/>
                <a:ea typeface="Poppins"/>
                <a:cs typeface="Poppins"/>
              </a:defRPr>
            </a:lvl5pPr>
            <a:lvl6pPr>
              <a:defRPr sz="2925" b="1">
                <a:solidFill>
                  <a:srgbClr val="D8BC62"/>
                </a:solidFill>
                <a:latin typeface="Poppins"/>
                <a:ea typeface="Poppins"/>
                <a:cs typeface="Poppins"/>
              </a:defRPr>
            </a:lvl6pPr>
            <a:lvl7pPr>
              <a:defRPr sz="2925" b="1">
                <a:solidFill>
                  <a:srgbClr val="D8BC62"/>
                </a:solidFill>
                <a:latin typeface="Poppins"/>
                <a:ea typeface="Poppins"/>
                <a:cs typeface="Poppins"/>
              </a:defRPr>
            </a:lvl7pPr>
            <a:lvl8pPr>
              <a:defRPr sz="2925" b="1">
                <a:solidFill>
                  <a:srgbClr val="D8BC62"/>
                </a:solidFill>
                <a:latin typeface="Poppins"/>
                <a:ea typeface="Poppins"/>
                <a:cs typeface="Poppins"/>
              </a:defRPr>
            </a:lvl8pPr>
            <a:lvl9pPr>
              <a:defRPr sz="2925" b="1">
                <a:solidFill>
                  <a:srgbClr val="D8BC62"/>
                </a:solidFill>
                <a:latin typeface="Poppins"/>
                <a:ea typeface="Poppins"/>
                <a:cs typeface="Poppins"/>
              </a:defRPr>
            </a:lvl9pPr>
          </a:lstStyle>
          <a:p xmlns:a="http://schemas.openxmlformats.org/drawingml/2006/main">
            <a:pPr>
              <a:defRPr sz="2925" b="1">
                <a:solidFill>
                  <a:srgbClr val="D8BC62"/>
                </a:solidFill>
                <a:latin typeface="Poppins"/>
                <a:ea typeface="Poppins"/>
                <a:cs typeface="Poppins"/>
              </a:defRPr>
            </a:pPr>
            <a:r>
              <a:rPr sz="2925" b="1">
                <a:solidFill>
                  <a:srgbClr val="D8BC62"/>
                </a:solidFill>
                <a:latin typeface="Poppins"/>
                <a:ea typeface="Poppins"/>
                <a:cs typeface="Poppins"/>
              </a:rPr>
              <a:t>LIN</a:t>
            </a:r>
          </a:p>
        </p:txBody>
      </p:sp>
      <p:sp>
        <p:nvSpPr>
          <p:cNvPr id="10" name="text-2-7">
            <a:extLst xmlns:a="http://schemas.openxmlformats.org/drawingml/2006/main">
              <a:ext uri="{FF2B5EF4-FFF2-40B4-BE49-F238E27FC236}">
                <a16:creationId xmlns:a16="http://schemas.microsoft.com/office/drawing/2014/main" id="{8425B60D-1117-4052-8CF1-13262D6495D2}"/>
              </a:ext>
            </a:extLst>
          </p:cNvPr>
          <p:cNvSpPr>
            <a:spLocks xmlns:a="http://schemas.openxmlformats.org/drawingml/2006/main" noGrp="1"/>
          </p:cNvSpPr>
          <p:nvPr/>
        </p:nvSpPr>
        <p:spPr>
          <a:xfrm xmlns:a="http://schemas.openxmlformats.org/drawingml/2006/main">
            <a:off x="8858250" y="3324225"/>
            <a:ext cx="257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07160"/>
                </a:solidFill>
                <a:latin typeface="Arial"/>
                <a:ea typeface="Arial"/>
                <a:cs typeface="Arial"/>
              </a:defRPr>
            </a:defPPr>
            <a:lvl1pPr>
              <a:defRPr sz="1650" b="0">
                <a:solidFill>
                  <a:srgbClr val="607160"/>
                </a:solidFill>
                <a:latin typeface="Arial"/>
                <a:ea typeface="Arial"/>
                <a:cs typeface="Arial"/>
              </a:defRPr>
            </a:lvl1pPr>
            <a:lvl2pPr>
              <a:defRPr sz="1650" b="0">
                <a:solidFill>
                  <a:srgbClr val="607160"/>
                </a:solidFill>
                <a:latin typeface="Arial"/>
                <a:ea typeface="Arial"/>
                <a:cs typeface="Arial"/>
              </a:defRPr>
            </a:lvl2pPr>
            <a:lvl3pPr>
              <a:defRPr sz="1650" b="0">
                <a:solidFill>
                  <a:srgbClr val="607160"/>
                </a:solidFill>
                <a:latin typeface="Arial"/>
                <a:ea typeface="Arial"/>
                <a:cs typeface="Arial"/>
              </a:defRPr>
            </a:lvl3pPr>
            <a:lvl4pPr>
              <a:defRPr sz="1650" b="0">
                <a:solidFill>
                  <a:srgbClr val="607160"/>
                </a:solidFill>
                <a:latin typeface="Arial"/>
                <a:ea typeface="Arial"/>
                <a:cs typeface="Arial"/>
              </a:defRPr>
            </a:lvl4pPr>
            <a:lvl5pPr>
              <a:defRPr sz="1650" b="0">
                <a:solidFill>
                  <a:srgbClr val="607160"/>
                </a:solidFill>
                <a:latin typeface="Arial"/>
                <a:ea typeface="Arial"/>
                <a:cs typeface="Arial"/>
              </a:defRPr>
            </a:lvl5pPr>
            <a:lvl6pPr>
              <a:defRPr sz="1650" b="0">
                <a:solidFill>
                  <a:srgbClr val="607160"/>
                </a:solidFill>
                <a:latin typeface="Arial"/>
                <a:ea typeface="Arial"/>
                <a:cs typeface="Arial"/>
              </a:defRPr>
            </a:lvl6pPr>
            <a:lvl7pPr>
              <a:defRPr sz="1650" b="0">
                <a:solidFill>
                  <a:srgbClr val="607160"/>
                </a:solidFill>
                <a:latin typeface="Arial"/>
                <a:ea typeface="Arial"/>
                <a:cs typeface="Arial"/>
              </a:defRPr>
            </a:lvl7pPr>
            <a:lvl8pPr>
              <a:defRPr sz="1650" b="0">
                <a:solidFill>
                  <a:srgbClr val="607160"/>
                </a:solidFill>
                <a:latin typeface="Arial"/>
                <a:ea typeface="Arial"/>
                <a:cs typeface="Arial"/>
              </a:defRPr>
            </a:lvl8pPr>
            <a:lvl9pPr>
              <a:defRPr sz="1650" b="0">
                <a:solidFill>
                  <a:srgbClr val="607160"/>
                </a:solidFill>
                <a:latin typeface="Arial"/>
                <a:ea typeface="Arial"/>
                <a:cs typeface="Arial"/>
              </a:defRPr>
            </a:lvl9pPr>
          </a:lstStyle>
          <a:p xmlns:a="http://schemas.openxmlformats.org/drawingml/2006/main">
            <a:pPr>
              <a:defRPr sz="1650" b="0">
                <a:solidFill>
                  <a:srgbClr val="607160"/>
                </a:solidFill>
                <a:latin typeface="Arial"/>
                <a:ea typeface="Arial"/>
                <a:cs typeface="Arial"/>
              </a:defRPr>
            </a:pPr>
            <a:r>
              <a:rPr sz="1650" b="0">
                <a:solidFill>
                  <a:srgbClr val="607160"/>
                </a:solidFill>
                <a:latin typeface="Arial"/>
                <a:ea typeface="Arial"/>
                <a:cs typeface="Arial"/>
              </a:rPr>
              <a:t>Farmer in China</a:t>
            </a:r>
          </a:p>
          <a:p xmlns:a="http://schemas.openxmlformats.org/drawingml/2006/main">
            <a:pPr>
              <a:defRPr sz="1650" b="0">
                <a:solidFill>
                  <a:srgbClr val="607160"/>
                </a:solidFill>
                <a:latin typeface="Arial"/>
                <a:ea typeface="Arial"/>
                <a:cs typeface="Arial"/>
              </a:defRPr>
            </a:pPr>
            <a:r>
              <a:rPr sz="1650" b="0">
                <a:solidFill>
                  <a:srgbClr val="607160"/>
                </a:solidFill>
                <a:latin typeface="Arial"/>
                <a:ea typeface="Arial"/>
                <a:cs typeface="Arial"/>
              </a:rPr>
              <a:t>Needs practical clarity</a:t>
            </a:r>
          </a:p>
        </p:txBody>
      </p:sp>
      <p:sp>
        <p:nvSpPr>
          <p:cNvPr id="11" name="text-2-8">
            <a:extLst xmlns:a="http://schemas.openxmlformats.org/drawingml/2006/main">
              <a:ext uri="{FF2B5EF4-FFF2-40B4-BE49-F238E27FC236}">
                <a16:creationId xmlns:a16="http://schemas.microsoft.com/office/drawing/2014/main" id="{D1BFB852-3DCB-4EE9-A695-67E23BFF014D}"/>
              </a:ext>
            </a:extLst>
          </p:cNvPr>
          <p:cNvSpPr>
            <a:spLocks xmlns:a="http://schemas.openxmlformats.org/drawingml/2006/main" noGrp="1"/>
          </p:cNvSpPr>
          <p:nvPr/>
        </p:nvSpPr>
        <p:spPr>
          <a:xfrm xmlns:a="http://schemas.openxmlformats.org/drawingml/2006/main">
            <a:off x="8858250" y="4371975"/>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925" b="1">
                <a:solidFill>
                  <a:srgbClr val="D8BC62"/>
                </a:solidFill>
                <a:latin typeface="Poppins"/>
                <a:ea typeface="Poppins"/>
                <a:cs typeface="Poppins"/>
              </a:defRPr>
            </a:defPPr>
            <a:lvl1pPr>
              <a:defRPr sz="2925" b="1">
                <a:solidFill>
                  <a:srgbClr val="D8BC62"/>
                </a:solidFill>
                <a:latin typeface="Poppins"/>
                <a:ea typeface="Poppins"/>
                <a:cs typeface="Poppins"/>
              </a:defRPr>
            </a:lvl1pPr>
            <a:lvl2pPr>
              <a:defRPr sz="2925" b="1">
                <a:solidFill>
                  <a:srgbClr val="D8BC62"/>
                </a:solidFill>
                <a:latin typeface="Poppins"/>
                <a:ea typeface="Poppins"/>
                <a:cs typeface="Poppins"/>
              </a:defRPr>
            </a:lvl2pPr>
            <a:lvl3pPr>
              <a:defRPr sz="2925" b="1">
                <a:solidFill>
                  <a:srgbClr val="D8BC62"/>
                </a:solidFill>
                <a:latin typeface="Poppins"/>
                <a:ea typeface="Poppins"/>
                <a:cs typeface="Poppins"/>
              </a:defRPr>
            </a:lvl3pPr>
            <a:lvl4pPr>
              <a:defRPr sz="2925" b="1">
                <a:solidFill>
                  <a:srgbClr val="D8BC62"/>
                </a:solidFill>
                <a:latin typeface="Poppins"/>
                <a:ea typeface="Poppins"/>
                <a:cs typeface="Poppins"/>
              </a:defRPr>
            </a:lvl4pPr>
            <a:lvl5pPr>
              <a:defRPr sz="2925" b="1">
                <a:solidFill>
                  <a:srgbClr val="D8BC62"/>
                </a:solidFill>
                <a:latin typeface="Poppins"/>
                <a:ea typeface="Poppins"/>
                <a:cs typeface="Poppins"/>
              </a:defRPr>
            </a:lvl5pPr>
            <a:lvl6pPr>
              <a:defRPr sz="2925" b="1">
                <a:solidFill>
                  <a:srgbClr val="D8BC62"/>
                </a:solidFill>
                <a:latin typeface="Poppins"/>
                <a:ea typeface="Poppins"/>
                <a:cs typeface="Poppins"/>
              </a:defRPr>
            </a:lvl6pPr>
            <a:lvl7pPr>
              <a:defRPr sz="2925" b="1">
                <a:solidFill>
                  <a:srgbClr val="D8BC62"/>
                </a:solidFill>
                <a:latin typeface="Poppins"/>
                <a:ea typeface="Poppins"/>
                <a:cs typeface="Poppins"/>
              </a:defRPr>
            </a:lvl7pPr>
            <a:lvl8pPr>
              <a:defRPr sz="2925" b="1">
                <a:solidFill>
                  <a:srgbClr val="D8BC62"/>
                </a:solidFill>
                <a:latin typeface="Poppins"/>
                <a:ea typeface="Poppins"/>
                <a:cs typeface="Poppins"/>
              </a:defRPr>
            </a:lvl8pPr>
            <a:lvl9pPr>
              <a:defRPr sz="2925" b="1">
                <a:solidFill>
                  <a:srgbClr val="D8BC62"/>
                </a:solidFill>
                <a:latin typeface="Poppins"/>
                <a:ea typeface="Poppins"/>
                <a:cs typeface="Poppins"/>
              </a:defRPr>
            </a:lvl9pPr>
          </a:lstStyle>
          <a:p xmlns:a="http://schemas.openxmlformats.org/drawingml/2006/main">
            <a:pPr>
              <a:defRPr sz="2925" b="1">
                <a:solidFill>
                  <a:srgbClr val="D8BC62"/>
                </a:solidFill>
                <a:latin typeface="Poppins"/>
                <a:ea typeface="Poppins"/>
                <a:cs typeface="Poppins"/>
              </a:defRPr>
            </a:pPr>
            <a:r>
              <a:rPr sz="2925" b="1">
                <a:solidFill>
                  <a:srgbClr val="D8BC62"/>
                </a:solidFill>
                <a:latin typeface="Poppins"/>
                <a:ea typeface="Poppins"/>
                <a:cs typeface="Poppins"/>
              </a:rPr>
              <a:t>MAYA</a:t>
            </a:r>
          </a:p>
        </p:txBody>
      </p:sp>
      <p:sp>
        <p:nvSpPr>
          <p:cNvPr id="12" name="text-2-9">
            <a:extLst xmlns:a="http://schemas.openxmlformats.org/drawingml/2006/main">
              <a:ext uri="{FF2B5EF4-FFF2-40B4-BE49-F238E27FC236}">
                <a16:creationId xmlns:a16="http://schemas.microsoft.com/office/drawing/2014/main" id="{B7EC25CA-261F-4B8C-8785-E3A3D00E0D4B}"/>
              </a:ext>
            </a:extLst>
          </p:cNvPr>
          <p:cNvSpPr>
            <a:spLocks xmlns:a="http://schemas.openxmlformats.org/drawingml/2006/main" noGrp="1"/>
          </p:cNvSpPr>
          <p:nvPr/>
        </p:nvSpPr>
        <p:spPr>
          <a:xfrm xmlns:a="http://schemas.openxmlformats.org/drawingml/2006/main">
            <a:off x="8858250" y="4972050"/>
            <a:ext cx="266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607160"/>
                </a:solidFill>
                <a:latin typeface="Arial"/>
                <a:ea typeface="Arial"/>
                <a:cs typeface="Arial"/>
              </a:defRPr>
            </a:defPPr>
            <a:lvl1pPr>
              <a:defRPr sz="1650" b="0">
                <a:solidFill>
                  <a:srgbClr val="607160"/>
                </a:solidFill>
                <a:latin typeface="Arial"/>
                <a:ea typeface="Arial"/>
                <a:cs typeface="Arial"/>
              </a:defRPr>
            </a:lvl1pPr>
            <a:lvl2pPr>
              <a:defRPr sz="1650" b="0">
                <a:solidFill>
                  <a:srgbClr val="607160"/>
                </a:solidFill>
                <a:latin typeface="Arial"/>
                <a:ea typeface="Arial"/>
                <a:cs typeface="Arial"/>
              </a:defRPr>
            </a:lvl2pPr>
            <a:lvl3pPr>
              <a:defRPr sz="1650" b="0">
                <a:solidFill>
                  <a:srgbClr val="607160"/>
                </a:solidFill>
                <a:latin typeface="Arial"/>
                <a:ea typeface="Arial"/>
                <a:cs typeface="Arial"/>
              </a:defRPr>
            </a:lvl3pPr>
            <a:lvl4pPr>
              <a:defRPr sz="1650" b="0">
                <a:solidFill>
                  <a:srgbClr val="607160"/>
                </a:solidFill>
                <a:latin typeface="Arial"/>
                <a:ea typeface="Arial"/>
                <a:cs typeface="Arial"/>
              </a:defRPr>
            </a:lvl4pPr>
            <a:lvl5pPr>
              <a:defRPr sz="1650" b="0">
                <a:solidFill>
                  <a:srgbClr val="607160"/>
                </a:solidFill>
                <a:latin typeface="Arial"/>
                <a:ea typeface="Arial"/>
                <a:cs typeface="Arial"/>
              </a:defRPr>
            </a:lvl5pPr>
            <a:lvl6pPr>
              <a:defRPr sz="1650" b="0">
                <a:solidFill>
                  <a:srgbClr val="607160"/>
                </a:solidFill>
                <a:latin typeface="Arial"/>
                <a:ea typeface="Arial"/>
                <a:cs typeface="Arial"/>
              </a:defRPr>
            </a:lvl6pPr>
            <a:lvl7pPr>
              <a:defRPr sz="1650" b="0">
                <a:solidFill>
                  <a:srgbClr val="607160"/>
                </a:solidFill>
                <a:latin typeface="Arial"/>
                <a:ea typeface="Arial"/>
                <a:cs typeface="Arial"/>
              </a:defRPr>
            </a:lvl7pPr>
            <a:lvl8pPr>
              <a:defRPr sz="1650" b="0">
                <a:solidFill>
                  <a:srgbClr val="607160"/>
                </a:solidFill>
                <a:latin typeface="Arial"/>
                <a:ea typeface="Arial"/>
                <a:cs typeface="Arial"/>
              </a:defRPr>
            </a:lvl8pPr>
            <a:lvl9pPr>
              <a:defRPr sz="1650" b="0">
                <a:solidFill>
                  <a:srgbClr val="607160"/>
                </a:solidFill>
                <a:latin typeface="Arial"/>
                <a:ea typeface="Arial"/>
                <a:cs typeface="Arial"/>
              </a:defRPr>
            </a:lvl9pPr>
          </a:lstStyle>
          <a:p xmlns:a="http://schemas.openxmlformats.org/drawingml/2006/main">
            <a:pPr>
              <a:defRPr sz="1650" b="0">
                <a:solidFill>
                  <a:srgbClr val="607160"/>
                </a:solidFill>
                <a:latin typeface="Arial"/>
                <a:ea typeface="Arial"/>
                <a:cs typeface="Arial"/>
              </a:defRPr>
            </a:pPr>
            <a:r>
              <a:rPr sz="1650" b="0">
                <a:solidFill>
                  <a:srgbClr val="607160"/>
                </a:solidFill>
                <a:latin typeface="Arial"/>
                <a:ea typeface="Arial"/>
                <a:cs typeface="Arial"/>
              </a:rPr>
              <a:t>Corporate Affairs, Basel</a:t>
            </a:r>
          </a:p>
          <a:p xmlns:a="http://schemas.openxmlformats.org/drawingml/2006/main">
            <a:pPr>
              <a:defRPr sz="1650" b="0">
                <a:solidFill>
                  <a:srgbClr val="607160"/>
                </a:solidFill>
                <a:latin typeface="Arial"/>
                <a:ea typeface="Arial"/>
                <a:cs typeface="Arial"/>
              </a:defRPr>
            </a:pPr>
            <a:r>
              <a:rPr sz="1650" b="0">
                <a:solidFill>
                  <a:srgbClr val="607160"/>
                </a:solidFill>
                <a:latin typeface="Arial"/>
                <a:ea typeface="Arial"/>
                <a:cs typeface="Arial"/>
              </a:rPr>
              <a:t>Needs a checked response</a:t>
            </a:r>
          </a:p>
        </p:txBody>
      </p:sp>
      <p:sp>
        <p:nvSpPr>
          <p:cNvPr id="13" name="text-2-10">
            <a:extLst xmlns:a="http://schemas.openxmlformats.org/drawingml/2006/main">
              <a:ext uri="{FF2B5EF4-FFF2-40B4-BE49-F238E27FC236}">
                <a16:creationId xmlns:a16="http://schemas.microsoft.com/office/drawing/2014/main" id="{999CFF0C-5496-4974-B623-D2C6B6662EDB}"/>
              </a:ext>
            </a:extLst>
          </p:cNvPr>
          <p:cNvSpPr>
            <a:spLocks xmlns:a="http://schemas.openxmlformats.org/drawingml/2006/main" noGrp="1"/>
          </p:cNvSpPr>
          <p:nvPr/>
        </p:nvSpPr>
        <p:spPr>
          <a:xfrm xmlns:a="http://schemas.openxmlformats.org/drawingml/2006/main">
            <a:off x="619125" y="5581650"/>
            <a:ext cx="7620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7334A"/>
                </a:solidFill>
                <a:latin typeface="Poppins"/>
                <a:ea typeface="Poppins"/>
                <a:cs typeface="Poppins"/>
              </a:defRPr>
            </a:defPPr>
            <a:lvl1pPr>
              <a:defRPr sz="1875" b="1">
                <a:solidFill>
                  <a:srgbClr val="17334A"/>
                </a:solidFill>
                <a:latin typeface="Poppins"/>
                <a:ea typeface="Poppins"/>
                <a:cs typeface="Poppins"/>
              </a:defRPr>
            </a:lvl1pPr>
            <a:lvl2pPr>
              <a:defRPr sz="1875" b="1">
                <a:solidFill>
                  <a:srgbClr val="17334A"/>
                </a:solidFill>
                <a:latin typeface="Poppins"/>
                <a:ea typeface="Poppins"/>
                <a:cs typeface="Poppins"/>
              </a:defRPr>
            </a:lvl2pPr>
            <a:lvl3pPr>
              <a:defRPr sz="1875" b="1">
                <a:solidFill>
                  <a:srgbClr val="17334A"/>
                </a:solidFill>
                <a:latin typeface="Poppins"/>
                <a:ea typeface="Poppins"/>
                <a:cs typeface="Poppins"/>
              </a:defRPr>
            </a:lvl3pPr>
            <a:lvl4pPr>
              <a:defRPr sz="1875" b="1">
                <a:solidFill>
                  <a:srgbClr val="17334A"/>
                </a:solidFill>
                <a:latin typeface="Poppins"/>
                <a:ea typeface="Poppins"/>
                <a:cs typeface="Poppins"/>
              </a:defRPr>
            </a:lvl4pPr>
            <a:lvl5pPr>
              <a:defRPr sz="1875" b="1">
                <a:solidFill>
                  <a:srgbClr val="17334A"/>
                </a:solidFill>
                <a:latin typeface="Poppins"/>
                <a:ea typeface="Poppins"/>
                <a:cs typeface="Poppins"/>
              </a:defRPr>
            </a:lvl5pPr>
            <a:lvl6pPr>
              <a:defRPr sz="1875" b="1">
                <a:solidFill>
                  <a:srgbClr val="17334A"/>
                </a:solidFill>
                <a:latin typeface="Poppins"/>
                <a:ea typeface="Poppins"/>
                <a:cs typeface="Poppins"/>
              </a:defRPr>
            </a:lvl6pPr>
            <a:lvl7pPr>
              <a:defRPr sz="1875" b="1">
                <a:solidFill>
                  <a:srgbClr val="17334A"/>
                </a:solidFill>
                <a:latin typeface="Poppins"/>
                <a:ea typeface="Poppins"/>
                <a:cs typeface="Poppins"/>
              </a:defRPr>
            </a:lvl7pPr>
            <a:lvl8pPr>
              <a:defRPr sz="1875" b="1">
                <a:solidFill>
                  <a:srgbClr val="17334A"/>
                </a:solidFill>
                <a:latin typeface="Poppins"/>
                <a:ea typeface="Poppins"/>
                <a:cs typeface="Poppins"/>
              </a:defRPr>
            </a:lvl8pPr>
            <a:lvl9pPr>
              <a:defRPr sz="1875" b="1">
                <a:solidFill>
                  <a:srgbClr val="17334A"/>
                </a:solidFill>
                <a:latin typeface="Poppins"/>
                <a:ea typeface="Poppins"/>
                <a:cs typeface="Poppins"/>
              </a:defRPr>
            </a:lvl9pPr>
          </a:lstStyle>
          <a:p xmlns:a="http://schemas.openxmlformats.org/drawingml/2006/main">
            <a:pPr>
              <a:defRPr sz="1875" b="1">
                <a:solidFill>
                  <a:srgbClr val="17334A"/>
                </a:solidFill>
                <a:latin typeface="Poppins"/>
                <a:ea typeface="Poppins"/>
                <a:cs typeface="Poppins"/>
              </a:defRPr>
            </a:pPr>
            <a:r>
              <a:rPr sz="1875" b="1">
                <a:solidFill>
                  <a:srgbClr val="17334A"/>
                </a:solidFill>
                <a:latin typeface="Poppins"/>
                <a:ea typeface="Poppins"/>
                <a:cs typeface="Poppins"/>
              </a:rPr>
              <a:t>The missing link: what applies to Lin’s crop, product and location?</a:t>
            </a:r>
          </a:p>
        </p:txBody>
      </p:sp>
      <p:sp>
        <p:nvSpPr>
          <p:cNvPr id="14" name="text-2-11">
            <a:extLst xmlns:a="http://schemas.openxmlformats.org/drawingml/2006/main">
              <a:ext uri="{FF2B5EF4-FFF2-40B4-BE49-F238E27FC236}">
                <a16:creationId xmlns:a16="http://schemas.microsoft.com/office/drawing/2014/main" id="{7192BB96-12DC-4AF1-9AA8-0694D263913C}"/>
              </a:ext>
            </a:extLst>
          </p:cNvPr>
          <p:cNvSpPr>
            <a:spLocks xmlns:a="http://schemas.openxmlformats.org/drawingml/2006/main" noGrp="1"/>
          </p:cNvSpPr>
          <p:nvPr/>
        </p:nvSpPr>
        <p:spPr>
          <a:xfrm xmlns:a="http://schemas.openxmlformats.org/drawingml/2006/main">
            <a:off x="619125" y="626745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07160"/>
                </a:solidFill>
                <a:latin typeface="Arial"/>
                <a:ea typeface="Arial"/>
                <a:cs typeface="Arial"/>
              </a:defRPr>
            </a:defPPr>
            <a:lvl1pPr>
              <a:defRPr sz="1050" b="0">
                <a:solidFill>
                  <a:srgbClr val="607160"/>
                </a:solidFill>
                <a:latin typeface="Arial"/>
                <a:ea typeface="Arial"/>
                <a:cs typeface="Arial"/>
              </a:defRPr>
            </a:lvl1pPr>
            <a:lvl2pPr>
              <a:defRPr sz="1050" b="0">
                <a:solidFill>
                  <a:srgbClr val="607160"/>
                </a:solidFill>
                <a:latin typeface="Arial"/>
                <a:ea typeface="Arial"/>
                <a:cs typeface="Arial"/>
              </a:defRPr>
            </a:lvl2pPr>
            <a:lvl3pPr>
              <a:defRPr sz="1050" b="0">
                <a:solidFill>
                  <a:srgbClr val="607160"/>
                </a:solidFill>
                <a:latin typeface="Arial"/>
                <a:ea typeface="Arial"/>
                <a:cs typeface="Arial"/>
              </a:defRPr>
            </a:lvl3pPr>
            <a:lvl4pPr>
              <a:defRPr sz="1050" b="0">
                <a:solidFill>
                  <a:srgbClr val="607160"/>
                </a:solidFill>
                <a:latin typeface="Arial"/>
                <a:ea typeface="Arial"/>
                <a:cs typeface="Arial"/>
              </a:defRPr>
            </a:lvl4pPr>
            <a:lvl5pPr>
              <a:defRPr sz="1050" b="0">
                <a:solidFill>
                  <a:srgbClr val="607160"/>
                </a:solidFill>
                <a:latin typeface="Arial"/>
                <a:ea typeface="Arial"/>
                <a:cs typeface="Arial"/>
              </a:defRPr>
            </a:lvl5pPr>
            <a:lvl6pPr>
              <a:defRPr sz="1050" b="0">
                <a:solidFill>
                  <a:srgbClr val="607160"/>
                </a:solidFill>
                <a:latin typeface="Arial"/>
                <a:ea typeface="Arial"/>
                <a:cs typeface="Arial"/>
              </a:defRPr>
            </a:lvl6pPr>
            <a:lvl7pPr>
              <a:defRPr sz="1050" b="0">
                <a:solidFill>
                  <a:srgbClr val="607160"/>
                </a:solidFill>
                <a:latin typeface="Arial"/>
                <a:ea typeface="Arial"/>
                <a:cs typeface="Arial"/>
              </a:defRPr>
            </a:lvl7pPr>
            <a:lvl8pPr>
              <a:defRPr sz="1050" b="0">
                <a:solidFill>
                  <a:srgbClr val="607160"/>
                </a:solidFill>
                <a:latin typeface="Arial"/>
                <a:ea typeface="Arial"/>
                <a:cs typeface="Arial"/>
              </a:defRPr>
            </a:lvl8pPr>
            <a:lvl9pPr>
              <a:defRPr sz="1050" b="0">
                <a:solidFill>
                  <a:srgbClr val="607160"/>
                </a:solidFill>
                <a:latin typeface="Arial"/>
                <a:ea typeface="Arial"/>
                <a:cs typeface="Arial"/>
              </a:defRPr>
            </a:lvl9pPr>
          </a:lstStyle>
          <a:p xmlns:a="http://schemas.openxmlformats.org/drawingml/2006/main">
            <a:pPr>
              <a:defRPr sz="1050" b="0">
                <a:solidFill>
                  <a:srgbClr val="607160"/>
                </a:solidFill>
                <a:latin typeface="Arial"/>
                <a:ea typeface="Arial"/>
                <a:cs typeface="Arial"/>
              </a:defRPr>
            </a:pPr>
            <a:r>
              <a:rPr sz="1050" b="0">
                <a:solidFill>
                  <a:srgbClr val="607160"/>
                </a:solidFill>
                <a:latin typeface="Arial"/>
                <a:ea typeface="Arial"/>
                <a:cs typeface="Arial"/>
              </a:rPr>
              <a:t>Fictional personas and policy scenario. A European proposal does not establish a restriction in China.</a:t>
            </a:r>
          </a:p>
        </p:txBody>
      </p:sp>
    </p:spTree>
    <p:extLst>
      <p:ext uri="{BB962C8B-B14F-4D97-AF65-F5344CB8AC3E}">
        <p14:creationId xmlns:p14="http://schemas.microsoft.com/office/powerpoint/2010/main" val="952772893"/>
      </p:ext>
    </p:extLst>
  </p:cSld>
</p:sld>
</file>

<file path=ppt/slides/slide3.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973AEC63-CC8C-4411-A38F-5CC68095CC3A}"/>
              </a:ext>
            </a:extLst>
          </p:cNvPr>
          <p:cNvPicPr>
            <a:picLocks xmlns:a="http://schemas.openxmlformats.org/drawingml/2006/main" noChangeAspect="1"/>
          </p:cNvPicPr>
          <p:nvPr/>
        </p:nvPicPr>
        <p:blipFill>
          <a:blip xmlns:r="http://schemas.openxmlformats.org/officeDocument/2006/relationships" xmlns:a="http://schemas.openxmlformats.org/drawingml/2006/main" r:embed="R7c675bd3d2314a43"/>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3-0">
            <a:extLst xmlns:a="http://schemas.openxmlformats.org/drawingml/2006/main">
              <a:ext uri="{FF2B5EF4-FFF2-40B4-BE49-F238E27FC236}">
                <a16:creationId xmlns:a16="http://schemas.microsoft.com/office/drawing/2014/main" id="{2E96D28D-737E-4B71-B3AE-D683B5A3CE26}"/>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30D1CDCA-9B29-41DD-9239-A5B38447E760}"/>
              </a:ext>
            </a:extLst>
          </p:cNvPr>
          <p:cNvPicPr>
            <a:picLocks xmlns:a="http://schemas.openxmlformats.org/drawingml/2006/main" noChangeAspect="1"/>
          </p:cNvPicPr>
          <p:nvPr/>
        </p:nvPicPr>
        <p:blipFill>
          <a:blip xmlns:r="http://schemas.openxmlformats.org/officeDocument/2006/relationships" xmlns:a="http://schemas.openxmlformats.org/drawingml/2006/main" r:embed="Rb6c1e00e2f0d4679"/>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3-1">
            <a:extLst xmlns:a="http://schemas.openxmlformats.org/drawingml/2006/main">
              <a:ext uri="{FF2B5EF4-FFF2-40B4-BE49-F238E27FC236}">
                <a16:creationId xmlns:a16="http://schemas.microsoft.com/office/drawing/2014/main" id="{F7A611BB-6551-4A0C-BC85-230E69A5EB8E}"/>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01 PROBLEM / CORPORATE AFFAIRS NEEDS</a:t>
            </a:r>
          </a:p>
        </p:txBody>
      </p:sp>
      <p:sp>
        <p:nvSpPr>
          <p:cNvPr id="5" name="text-3-2">
            <a:extLst xmlns:a="http://schemas.openxmlformats.org/drawingml/2006/main">
              <a:ext uri="{FF2B5EF4-FFF2-40B4-BE49-F238E27FC236}">
                <a16:creationId xmlns:a16="http://schemas.microsoft.com/office/drawing/2014/main" id="{D531E1A9-DCE1-4D52-B12B-1B13769B19D4}"/>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Maya has the signals. She still needs the context.</a:t>
            </a:r>
          </a:p>
        </p:txBody>
      </p:sp>
      <p:sp>
        <p:nvSpPr>
          <p:cNvPr id="6" name="text-3-3">
            <a:extLst xmlns:a="http://schemas.openxmlformats.org/drawingml/2006/main">
              <a:ext uri="{FF2B5EF4-FFF2-40B4-BE49-F238E27FC236}">
                <a16:creationId xmlns:a16="http://schemas.microsoft.com/office/drawing/2014/main" id="{109D0DD0-6A21-475A-ABA1-EE53335F88C6}"/>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Problem–solution fit</a:t>
            </a:r>
          </a:p>
        </p:txBody>
      </p:sp>
      <p:sp>
        <p:nvSpPr>
          <p:cNvPr id="7" name="text-3-4">
            <a:extLst xmlns:a="http://schemas.openxmlformats.org/drawingml/2006/main">
              <a:ext uri="{FF2B5EF4-FFF2-40B4-BE49-F238E27FC236}">
                <a16:creationId xmlns:a16="http://schemas.microsoft.com/office/drawing/2014/main" id="{8F41896A-997D-4156-B632-54501E8D7779}"/>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03</a:t>
            </a:r>
          </a:p>
        </p:txBody>
      </p:sp>
      <p:sp>
        <p:nvSpPr>
          <p:cNvPr id="8" name="text-3-5">
            <a:extLst xmlns:a="http://schemas.openxmlformats.org/drawingml/2006/main">
              <a:ext uri="{FF2B5EF4-FFF2-40B4-BE49-F238E27FC236}">
                <a16:creationId xmlns:a16="http://schemas.microsoft.com/office/drawing/2014/main" id="{F3C01D55-220F-4D63-8A77-C93C9B2A2C25}"/>
              </a:ext>
            </a:extLst>
          </p:cNvPr>
          <p:cNvSpPr>
            <a:spLocks xmlns:a="http://schemas.openxmlformats.org/drawingml/2006/main" noGrp="1"/>
          </p:cNvSpPr>
          <p:nvPr/>
        </p:nvSpPr>
        <p:spPr>
          <a:xfrm xmlns:a="http://schemas.openxmlformats.org/drawingml/2006/main">
            <a:off x="619125" y="25050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463B"/>
                </a:solidFill>
                <a:latin typeface="Poppins"/>
                <a:ea typeface="Poppins"/>
                <a:cs typeface="Poppins"/>
              </a:defRPr>
            </a:defPPr>
            <a:lvl1pPr>
              <a:defRPr sz="1875" b="0">
                <a:solidFill>
                  <a:srgbClr val="30463B"/>
                </a:solidFill>
                <a:latin typeface="Poppins"/>
                <a:ea typeface="Poppins"/>
                <a:cs typeface="Poppins"/>
              </a:defRPr>
            </a:lvl1pPr>
            <a:lvl2pPr>
              <a:defRPr sz="1875" b="0">
                <a:solidFill>
                  <a:srgbClr val="30463B"/>
                </a:solidFill>
                <a:latin typeface="Poppins"/>
                <a:ea typeface="Poppins"/>
                <a:cs typeface="Poppins"/>
              </a:defRPr>
            </a:lvl2pPr>
            <a:lvl3pPr>
              <a:defRPr sz="1875" b="0">
                <a:solidFill>
                  <a:srgbClr val="30463B"/>
                </a:solidFill>
                <a:latin typeface="Poppins"/>
                <a:ea typeface="Poppins"/>
                <a:cs typeface="Poppins"/>
              </a:defRPr>
            </a:lvl3pPr>
            <a:lvl4pPr>
              <a:defRPr sz="1875" b="0">
                <a:solidFill>
                  <a:srgbClr val="30463B"/>
                </a:solidFill>
                <a:latin typeface="Poppins"/>
                <a:ea typeface="Poppins"/>
                <a:cs typeface="Poppins"/>
              </a:defRPr>
            </a:lvl4pPr>
            <a:lvl5pPr>
              <a:defRPr sz="1875" b="0">
                <a:solidFill>
                  <a:srgbClr val="30463B"/>
                </a:solidFill>
                <a:latin typeface="Poppins"/>
                <a:ea typeface="Poppins"/>
                <a:cs typeface="Poppins"/>
              </a:defRPr>
            </a:lvl5pPr>
            <a:lvl6pPr>
              <a:defRPr sz="1875" b="0">
                <a:solidFill>
                  <a:srgbClr val="30463B"/>
                </a:solidFill>
                <a:latin typeface="Poppins"/>
                <a:ea typeface="Poppins"/>
                <a:cs typeface="Poppins"/>
              </a:defRPr>
            </a:lvl6pPr>
            <a:lvl7pPr>
              <a:defRPr sz="1875" b="0">
                <a:solidFill>
                  <a:srgbClr val="30463B"/>
                </a:solidFill>
                <a:latin typeface="Poppins"/>
                <a:ea typeface="Poppins"/>
                <a:cs typeface="Poppins"/>
              </a:defRPr>
            </a:lvl7pPr>
            <a:lvl8pPr>
              <a:defRPr sz="1875" b="0">
                <a:solidFill>
                  <a:srgbClr val="30463B"/>
                </a:solidFill>
                <a:latin typeface="Poppins"/>
                <a:ea typeface="Poppins"/>
                <a:cs typeface="Poppins"/>
              </a:defRPr>
            </a:lvl8pPr>
            <a:lvl9pPr>
              <a:defRPr sz="1875" b="0">
                <a:solidFill>
                  <a:srgbClr val="30463B"/>
                </a:solidFill>
                <a:latin typeface="Poppins"/>
                <a:ea typeface="Poppins"/>
                <a:cs typeface="Poppins"/>
              </a:defRPr>
            </a:lvl9pPr>
          </a:lstStyle>
          <a:p xmlns:a="http://schemas.openxmlformats.org/drawingml/2006/main">
            <a:pPr>
              <a:defRPr sz="1875" b="0">
                <a:solidFill>
                  <a:srgbClr val="30463B"/>
                </a:solidFill>
                <a:latin typeface="Poppins"/>
                <a:ea typeface="Poppins"/>
                <a:cs typeface="Poppins"/>
              </a:defRPr>
            </a:pPr>
            <a:r>
              <a:rPr sz="1875" b="0">
                <a:solidFill>
                  <a:srgbClr val="30463B"/>
                </a:solidFill>
                <a:latin typeface="Poppins"/>
                <a:ea typeface="Poppins"/>
                <a:cs typeface="Poppins"/>
              </a:rPr>
              <a:t>Syngenta works in crop protection and seeds.</a:t>
            </a:r>
          </a:p>
          <a:p xmlns:a="http://schemas.openxmlformats.org/drawingml/2006/main">
            <a:pPr>
              <a:defRPr sz="1875" b="0">
                <a:solidFill>
                  <a:srgbClr val="30463B"/>
                </a:solidFill>
                <a:latin typeface="Poppins"/>
                <a:ea typeface="Poppins"/>
                <a:cs typeface="Poppins"/>
              </a:defRPr>
            </a:pPr>
            <a:r>
              <a:rPr sz="1875" b="0">
                <a:solidFill>
                  <a:srgbClr val="30463B"/>
                </a:solidFill>
                <a:latin typeface="Poppins"/>
                <a:ea typeface="Poppins"/>
                <a:cs typeface="Poppins"/>
              </a:rPr>
              <a:t>Corporate Affairs connects the business with people, public debate and policy.</a:t>
            </a:r>
          </a:p>
        </p:txBody>
      </p:sp>
      <p:sp>
        <p:nvSpPr>
          <p:cNvPr id="9" name="text-3-6">
            <a:extLst xmlns:a="http://schemas.openxmlformats.org/drawingml/2006/main">
              <a:ext uri="{FF2B5EF4-FFF2-40B4-BE49-F238E27FC236}">
                <a16:creationId xmlns:a16="http://schemas.microsoft.com/office/drawing/2014/main" id="{1D503C30-4CAF-40BC-97C3-26FE58F79FE6}"/>
              </a:ext>
            </a:extLst>
          </p:cNvPr>
          <p:cNvSpPr>
            <a:spLocks xmlns:a="http://schemas.openxmlformats.org/drawingml/2006/main" noGrp="1"/>
          </p:cNvSpPr>
          <p:nvPr/>
        </p:nvSpPr>
        <p:spPr>
          <a:xfrm xmlns:a="http://schemas.openxmlformats.org/drawingml/2006/main">
            <a:off x="619125" y="360045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01</a:t>
            </a:r>
          </a:p>
        </p:txBody>
      </p:sp>
      <p:sp>
        <p:nvSpPr>
          <p:cNvPr id="10" name="text-3-7">
            <a:extLst xmlns:a="http://schemas.openxmlformats.org/drawingml/2006/main">
              <a:ext uri="{FF2B5EF4-FFF2-40B4-BE49-F238E27FC236}">
                <a16:creationId xmlns:a16="http://schemas.microsoft.com/office/drawing/2014/main" id="{168653B5-9741-4A00-AE8E-81618AA83EE3}"/>
              </a:ext>
            </a:extLst>
          </p:cNvPr>
          <p:cNvSpPr>
            <a:spLocks xmlns:a="http://schemas.openxmlformats.org/drawingml/2006/main" noGrp="1"/>
          </p:cNvSpPr>
          <p:nvPr/>
        </p:nvSpPr>
        <p:spPr>
          <a:xfrm xmlns:a="http://schemas.openxmlformats.org/drawingml/2006/main">
            <a:off x="1333500" y="36004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Three disconnected fragments</a:t>
            </a:r>
          </a:p>
        </p:txBody>
      </p:sp>
      <p:sp>
        <p:nvSpPr>
          <p:cNvPr id="11" name="text-3-8">
            <a:extLst xmlns:a="http://schemas.openxmlformats.org/drawingml/2006/main">
              <a:ext uri="{FF2B5EF4-FFF2-40B4-BE49-F238E27FC236}">
                <a16:creationId xmlns:a16="http://schemas.microsoft.com/office/drawing/2014/main" id="{985B8834-73B9-43DB-861B-1FA04E7C001C}"/>
              </a:ext>
            </a:extLst>
          </p:cNvPr>
          <p:cNvSpPr>
            <a:spLocks xmlns:a="http://schemas.openxmlformats.org/drawingml/2006/main" noGrp="1"/>
          </p:cNvSpPr>
          <p:nvPr/>
        </p:nvSpPr>
        <p:spPr>
          <a:xfrm xmlns:a="http://schemas.openxmlformats.org/drawingml/2006/main">
            <a:off x="5095875" y="360997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A European proposal, an English ban headline and a Chinese planning question.</a:t>
            </a:r>
          </a:p>
        </p:txBody>
      </p:sp>
      <p:sp>
        <p:nvSpPr>
          <p:cNvPr id="12" name="text-3-9">
            <a:extLst xmlns:a="http://schemas.openxmlformats.org/drawingml/2006/main">
              <a:ext uri="{FF2B5EF4-FFF2-40B4-BE49-F238E27FC236}">
                <a16:creationId xmlns:a16="http://schemas.microsoft.com/office/drawing/2014/main" id="{8E24FE75-A54D-4BBB-AB71-1C806F917A73}"/>
              </a:ext>
            </a:extLst>
          </p:cNvPr>
          <p:cNvSpPr>
            <a:spLocks xmlns:a="http://schemas.openxmlformats.org/drawingml/2006/main" noGrp="1"/>
          </p:cNvSpPr>
          <p:nvPr/>
        </p:nvSpPr>
        <p:spPr>
          <a:xfrm xmlns:a="http://schemas.openxmlformats.org/drawingml/2006/main">
            <a:off x="619125" y="4486275"/>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02</a:t>
            </a:r>
          </a:p>
        </p:txBody>
      </p:sp>
      <p:sp>
        <p:nvSpPr>
          <p:cNvPr id="13" name="text-3-10">
            <a:extLst xmlns:a="http://schemas.openxmlformats.org/drawingml/2006/main">
              <a:ext uri="{FF2B5EF4-FFF2-40B4-BE49-F238E27FC236}">
                <a16:creationId xmlns:a16="http://schemas.microsoft.com/office/drawing/2014/main" id="{0F137E2A-CAB8-47B4-90B9-88255C493F4C}"/>
              </a:ext>
            </a:extLst>
          </p:cNvPr>
          <p:cNvSpPr>
            <a:spLocks xmlns:a="http://schemas.openxmlformats.org/drawingml/2006/main" noGrp="1"/>
          </p:cNvSpPr>
          <p:nvPr/>
        </p:nvSpPr>
        <p:spPr>
          <a:xfrm xmlns:a="http://schemas.openxmlformats.org/drawingml/2006/main">
            <a:off x="1333500" y="448627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One missing local answer</a:t>
            </a:r>
          </a:p>
        </p:txBody>
      </p:sp>
      <p:sp>
        <p:nvSpPr>
          <p:cNvPr id="14" name="text-3-11">
            <a:extLst xmlns:a="http://schemas.openxmlformats.org/drawingml/2006/main">
              <a:ext uri="{FF2B5EF4-FFF2-40B4-BE49-F238E27FC236}">
                <a16:creationId xmlns:a16="http://schemas.microsoft.com/office/drawing/2014/main" id="{B8AC3B8C-7C18-408F-8743-F05FE83FBB08}"/>
              </a:ext>
            </a:extLst>
          </p:cNvPr>
          <p:cNvSpPr>
            <a:spLocks xmlns:a="http://schemas.openxmlformats.org/drawingml/2006/main" noGrp="1"/>
          </p:cNvSpPr>
          <p:nvPr/>
        </p:nvSpPr>
        <p:spPr>
          <a:xfrm xmlns:a="http://schemas.openxmlformats.org/drawingml/2006/main">
            <a:off x="5095875" y="4495800"/>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Which crop, product and market? A translation cannot establish applicability.</a:t>
            </a:r>
          </a:p>
        </p:txBody>
      </p:sp>
      <p:sp>
        <p:nvSpPr>
          <p:cNvPr id="15" name="text-3-12">
            <a:extLst xmlns:a="http://schemas.openxmlformats.org/drawingml/2006/main">
              <a:ext uri="{FF2B5EF4-FFF2-40B4-BE49-F238E27FC236}">
                <a16:creationId xmlns:a16="http://schemas.microsoft.com/office/drawing/2014/main" id="{AA19BB3A-EF41-4B1B-89C8-5794CEFF54D3}"/>
              </a:ext>
            </a:extLst>
          </p:cNvPr>
          <p:cNvSpPr>
            <a:spLocks xmlns:a="http://schemas.openxmlformats.org/drawingml/2006/main" noGrp="1"/>
          </p:cNvSpPr>
          <p:nvPr/>
        </p:nvSpPr>
        <p:spPr>
          <a:xfrm xmlns:a="http://schemas.openxmlformats.org/drawingml/2006/main">
            <a:off x="619125" y="537210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03</a:t>
            </a:r>
          </a:p>
        </p:txBody>
      </p:sp>
      <p:sp>
        <p:nvSpPr>
          <p:cNvPr id="16" name="text-3-13">
            <a:extLst xmlns:a="http://schemas.openxmlformats.org/drawingml/2006/main">
              <a:ext uri="{FF2B5EF4-FFF2-40B4-BE49-F238E27FC236}">
                <a16:creationId xmlns:a16="http://schemas.microsoft.com/office/drawing/2014/main" id="{23784929-FBE8-4CBC-BB54-03E17BDD641A}"/>
              </a:ext>
            </a:extLst>
          </p:cNvPr>
          <p:cNvSpPr>
            <a:spLocks xmlns:a="http://schemas.openxmlformats.org/drawingml/2006/main" noGrp="1"/>
          </p:cNvSpPr>
          <p:nvPr/>
        </p:nvSpPr>
        <p:spPr>
          <a:xfrm xmlns:a="http://schemas.openxmlformats.org/drawingml/2006/main">
            <a:off x="1333500" y="537210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A time-sensitive handoff</a:t>
            </a:r>
          </a:p>
        </p:txBody>
      </p:sp>
      <p:sp>
        <p:nvSpPr>
          <p:cNvPr id="17" name="text-3-14">
            <a:extLst xmlns:a="http://schemas.openxmlformats.org/drawingml/2006/main">
              <a:ext uri="{FF2B5EF4-FFF2-40B4-BE49-F238E27FC236}">
                <a16:creationId xmlns:a16="http://schemas.microsoft.com/office/drawing/2014/main" id="{097DED9D-B1BC-4285-8F73-5FABA0580EFF}"/>
              </a:ext>
            </a:extLst>
          </p:cNvPr>
          <p:cNvSpPr>
            <a:spLocks xmlns:a="http://schemas.openxmlformats.org/drawingml/2006/main" noGrp="1"/>
          </p:cNvSpPr>
          <p:nvPr/>
        </p:nvSpPr>
        <p:spPr>
          <a:xfrm xmlns:a="http://schemas.openxmlformats.org/drawingml/2006/main">
            <a:off x="5095875" y="538162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Maya must find the right local expert and coordinate a responsible reply.</a:t>
            </a:r>
          </a:p>
        </p:txBody>
      </p:sp>
    </p:spTree>
    <p:extLst>
      <p:ext uri="{BB962C8B-B14F-4D97-AF65-F5344CB8AC3E}">
        <p14:creationId xmlns:p14="http://schemas.microsoft.com/office/powerpoint/2010/main" val="271142793"/>
      </p:ext>
    </p:extLst>
  </p:cSld>
</p:sld>
</file>

<file path=ppt/slides/slide4.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F672A0B4-FF05-417A-9DC6-1C4CC1A49F01}"/>
              </a:ext>
            </a:extLst>
          </p:cNvPr>
          <p:cNvPicPr>
            <a:picLocks xmlns:a="http://schemas.openxmlformats.org/drawingml/2006/main" noChangeAspect="1"/>
          </p:cNvPicPr>
          <p:nvPr/>
        </p:nvPicPr>
        <p:blipFill>
          <a:blip xmlns:r="http://schemas.openxmlformats.org/officeDocument/2006/relationships" xmlns:a="http://schemas.openxmlformats.org/drawingml/2006/main" r:embed="Rf6269108031646c1"/>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4-0">
            <a:extLst xmlns:a="http://schemas.openxmlformats.org/drawingml/2006/main">
              <a:ext uri="{FF2B5EF4-FFF2-40B4-BE49-F238E27FC236}">
                <a16:creationId xmlns:a16="http://schemas.microsoft.com/office/drawing/2014/main" id="{7A61F409-FF47-4C73-B964-F0825828ED09}"/>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0E62812F-1783-4D32-ACF6-273967FACB2E}"/>
              </a:ext>
            </a:extLst>
          </p:cNvPr>
          <p:cNvPicPr>
            <a:picLocks xmlns:a="http://schemas.openxmlformats.org/drawingml/2006/main" noChangeAspect="1"/>
          </p:cNvPicPr>
          <p:nvPr/>
        </p:nvPicPr>
        <p:blipFill>
          <a:blip xmlns:r="http://schemas.openxmlformats.org/officeDocument/2006/relationships" xmlns:a="http://schemas.openxmlformats.org/drawingml/2006/main" r:embed="Rfbf1d409ff7042ea"/>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4-1">
            <a:extLst xmlns:a="http://schemas.openxmlformats.org/drawingml/2006/main">
              <a:ext uri="{FF2B5EF4-FFF2-40B4-BE49-F238E27FC236}">
                <a16:creationId xmlns:a16="http://schemas.microsoft.com/office/drawing/2014/main" id="{E2C07A27-D657-4989-948E-DCC61609AEEE}"/>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02 SOLUTION / WHAT REPRADAR DOES</a:t>
            </a:r>
          </a:p>
        </p:txBody>
      </p:sp>
      <p:sp>
        <p:nvSpPr>
          <p:cNvPr id="5" name="text-4-2">
            <a:extLst xmlns:a="http://schemas.openxmlformats.org/drawingml/2006/main">
              <a:ext uri="{FF2B5EF4-FFF2-40B4-BE49-F238E27FC236}">
                <a16:creationId xmlns:a16="http://schemas.microsoft.com/office/drawing/2014/main" id="{7D3D8AD7-95F7-4CEA-877A-CBB67C91D765}"/>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One question, carried through the whole workflow</a:t>
            </a:r>
          </a:p>
        </p:txBody>
      </p:sp>
      <p:sp>
        <p:nvSpPr>
          <p:cNvPr id="6" name="text-4-3">
            <a:extLst xmlns:a="http://schemas.openxmlformats.org/drawingml/2006/main">
              <a:ext uri="{FF2B5EF4-FFF2-40B4-BE49-F238E27FC236}">
                <a16:creationId xmlns:a16="http://schemas.microsoft.com/office/drawing/2014/main" id="{5127B432-A172-4D21-93E9-53D874423C01}"/>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Problem–solution fit · Originality</a:t>
            </a:r>
          </a:p>
        </p:txBody>
      </p:sp>
      <p:sp>
        <p:nvSpPr>
          <p:cNvPr id="7" name="text-4-4">
            <a:extLst xmlns:a="http://schemas.openxmlformats.org/drawingml/2006/main">
              <a:ext uri="{FF2B5EF4-FFF2-40B4-BE49-F238E27FC236}">
                <a16:creationId xmlns:a16="http://schemas.microsoft.com/office/drawing/2014/main" id="{C3349BEF-2394-43FF-ADB2-ED8E78C4A97B}"/>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04</a:t>
            </a:r>
          </a:p>
        </p:txBody>
      </p:sp>
      <p:sp>
        <p:nvSpPr>
          <p:cNvPr id="8" name="text-4-5">
            <a:extLst xmlns:a="http://schemas.openxmlformats.org/drawingml/2006/main">
              <a:ext uri="{FF2B5EF4-FFF2-40B4-BE49-F238E27FC236}">
                <a16:creationId xmlns:a16="http://schemas.microsoft.com/office/drawing/2014/main" id="{F5AF45D0-5F1F-4DF5-9A1F-C581CB1C5FE2}"/>
              </a:ext>
            </a:extLst>
          </p:cNvPr>
          <p:cNvSpPr>
            <a:spLocks xmlns:a="http://schemas.openxmlformats.org/drawingml/2006/main" noGrp="1"/>
          </p:cNvSpPr>
          <p:nvPr/>
        </p:nvSpPr>
        <p:spPr>
          <a:xfrm xmlns:a="http://schemas.openxmlformats.org/drawingml/2006/main">
            <a:off x="619125" y="2714625"/>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D8BC62"/>
                </a:solidFill>
                <a:latin typeface="Poppins"/>
                <a:ea typeface="Poppins"/>
                <a:cs typeface="Poppins"/>
              </a:defRPr>
            </a:defPPr>
            <a:lvl1pPr>
              <a:defRPr sz="4125" b="1">
                <a:solidFill>
                  <a:srgbClr val="D8BC62"/>
                </a:solidFill>
                <a:latin typeface="Poppins"/>
                <a:ea typeface="Poppins"/>
                <a:cs typeface="Poppins"/>
              </a:defRPr>
            </a:lvl1pPr>
            <a:lvl2pPr>
              <a:defRPr sz="4125" b="1">
                <a:solidFill>
                  <a:srgbClr val="D8BC62"/>
                </a:solidFill>
                <a:latin typeface="Poppins"/>
                <a:ea typeface="Poppins"/>
                <a:cs typeface="Poppins"/>
              </a:defRPr>
            </a:lvl2pPr>
            <a:lvl3pPr>
              <a:defRPr sz="4125" b="1">
                <a:solidFill>
                  <a:srgbClr val="D8BC62"/>
                </a:solidFill>
                <a:latin typeface="Poppins"/>
                <a:ea typeface="Poppins"/>
                <a:cs typeface="Poppins"/>
              </a:defRPr>
            </a:lvl3pPr>
            <a:lvl4pPr>
              <a:defRPr sz="4125" b="1">
                <a:solidFill>
                  <a:srgbClr val="D8BC62"/>
                </a:solidFill>
                <a:latin typeface="Poppins"/>
                <a:ea typeface="Poppins"/>
                <a:cs typeface="Poppins"/>
              </a:defRPr>
            </a:lvl4pPr>
            <a:lvl5pPr>
              <a:defRPr sz="4125" b="1">
                <a:solidFill>
                  <a:srgbClr val="D8BC62"/>
                </a:solidFill>
                <a:latin typeface="Poppins"/>
                <a:ea typeface="Poppins"/>
                <a:cs typeface="Poppins"/>
              </a:defRPr>
            </a:lvl5pPr>
            <a:lvl6pPr>
              <a:defRPr sz="4125" b="1">
                <a:solidFill>
                  <a:srgbClr val="D8BC62"/>
                </a:solidFill>
                <a:latin typeface="Poppins"/>
                <a:ea typeface="Poppins"/>
                <a:cs typeface="Poppins"/>
              </a:defRPr>
            </a:lvl6pPr>
            <a:lvl7pPr>
              <a:defRPr sz="4125" b="1">
                <a:solidFill>
                  <a:srgbClr val="D8BC62"/>
                </a:solidFill>
                <a:latin typeface="Poppins"/>
                <a:ea typeface="Poppins"/>
                <a:cs typeface="Poppins"/>
              </a:defRPr>
            </a:lvl7pPr>
            <a:lvl8pPr>
              <a:defRPr sz="4125" b="1">
                <a:solidFill>
                  <a:srgbClr val="D8BC62"/>
                </a:solidFill>
                <a:latin typeface="Poppins"/>
                <a:ea typeface="Poppins"/>
                <a:cs typeface="Poppins"/>
              </a:defRPr>
            </a:lvl8pPr>
            <a:lvl9pPr>
              <a:defRPr sz="4125" b="1">
                <a:solidFill>
                  <a:srgbClr val="D8BC62"/>
                </a:solidFill>
                <a:latin typeface="Poppins"/>
                <a:ea typeface="Poppins"/>
                <a:cs typeface="Poppins"/>
              </a:defRPr>
            </a:lvl9pPr>
          </a:lstStyle>
          <a:p xmlns:a="http://schemas.openxmlformats.org/drawingml/2006/main">
            <a:pPr>
              <a:defRPr sz="4125" b="1">
                <a:solidFill>
                  <a:srgbClr val="D8BC62"/>
                </a:solidFill>
                <a:latin typeface="Poppins"/>
                <a:ea typeface="Poppins"/>
                <a:cs typeface="Poppins"/>
              </a:defRPr>
            </a:pPr>
            <a:r>
              <a:rPr sz="4125" b="1">
                <a:solidFill>
                  <a:srgbClr val="D8BC62"/>
                </a:solidFill>
                <a:latin typeface="Poppins"/>
                <a:ea typeface="Poppins"/>
                <a:cs typeface="Poppins"/>
              </a:rPr>
              <a:t>01</a:t>
            </a:r>
          </a:p>
        </p:txBody>
      </p:sp>
      <p:sp>
        <p:nvSpPr>
          <p:cNvPr id="9" name="text-4-6">
            <a:extLst xmlns:a="http://schemas.openxmlformats.org/drawingml/2006/main">
              <a:ext uri="{FF2B5EF4-FFF2-40B4-BE49-F238E27FC236}">
                <a16:creationId xmlns:a16="http://schemas.microsoft.com/office/drawing/2014/main" id="{1C14B193-B691-4FDE-835D-1C97E61266AF}"/>
              </a:ext>
            </a:extLst>
          </p:cNvPr>
          <p:cNvSpPr>
            <a:spLocks xmlns:a="http://schemas.openxmlformats.org/drawingml/2006/main" noGrp="1"/>
          </p:cNvSpPr>
          <p:nvPr/>
        </p:nvSpPr>
        <p:spPr>
          <a:xfrm xmlns:a="http://schemas.openxmlformats.org/drawingml/2006/main">
            <a:off x="619125" y="35814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F682E"/>
                </a:solidFill>
                <a:latin typeface="Poppins"/>
                <a:ea typeface="Poppins"/>
                <a:cs typeface="Poppins"/>
              </a:defRPr>
            </a:defPPr>
            <a:lvl1pPr>
              <a:defRPr sz="2325" b="1">
                <a:solidFill>
                  <a:srgbClr val="3F682E"/>
                </a:solidFill>
                <a:latin typeface="Poppins"/>
                <a:ea typeface="Poppins"/>
                <a:cs typeface="Poppins"/>
              </a:defRPr>
            </a:lvl1pPr>
            <a:lvl2pPr>
              <a:defRPr sz="2325" b="1">
                <a:solidFill>
                  <a:srgbClr val="3F682E"/>
                </a:solidFill>
                <a:latin typeface="Poppins"/>
                <a:ea typeface="Poppins"/>
                <a:cs typeface="Poppins"/>
              </a:defRPr>
            </a:lvl2pPr>
            <a:lvl3pPr>
              <a:defRPr sz="2325" b="1">
                <a:solidFill>
                  <a:srgbClr val="3F682E"/>
                </a:solidFill>
                <a:latin typeface="Poppins"/>
                <a:ea typeface="Poppins"/>
                <a:cs typeface="Poppins"/>
              </a:defRPr>
            </a:lvl3pPr>
            <a:lvl4pPr>
              <a:defRPr sz="2325" b="1">
                <a:solidFill>
                  <a:srgbClr val="3F682E"/>
                </a:solidFill>
                <a:latin typeface="Poppins"/>
                <a:ea typeface="Poppins"/>
                <a:cs typeface="Poppins"/>
              </a:defRPr>
            </a:lvl4pPr>
            <a:lvl5pPr>
              <a:defRPr sz="2325" b="1">
                <a:solidFill>
                  <a:srgbClr val="3F682E"/>
                </a:solidFill>
                <a:latin typeface="Poppins"/>
                <a:ea typeface="Poppins"/>
                <a:cs typeface="Poppins"/>
              </a:defRPr>
            </a:lvl5pPr>
            <a:lvl6pPr>
              <a:defRPr sz="2325" b="1">
                <a:solidFill>
                  <a:srgbClr val="3F682E"/>
                </a:solidFill>
                <a:latin typeface="Poppins"/>
                <a:ea typeface="Poppins"/>
                <a:cs typeface="Poppins"/>
              </a:defRPr>
            </a:lvl6pPr>
            <a:lvl7pPr>
              <a:defRPr sz="2325" b="1">
                <a:solidFill>
                  <a:srgbClr val="3F682E"/>
                </a:solidFill>
                <a:latin typeface="Poppins"/>
                <a:ea typeface="Poppins"/>
                <a:cs typeface="Poppins"/>
              </a:defRPr>
            </a:lvl7pPr>
            <a:lvl8pPr>
              <a:defRPr sz="2325" b="1">
                <a:solidFill>
                  <a:srgbClr val="3F682E"/>
                </a:solidFill>
                <a:latin typeface="Poppins"/>
                <a:ea typeface="Poppins"/>
                <a:cs typeface="Poppins"/>
              </a:defRPr>
            </a:lvl8pPr>
            <a:lvl9pPr>
              <a:defRPr sz="2325" b="1">
                <a:solidFill>
                  <a:srgbClr val="3F682E"/>
                </a:solidFill>
                <a:latin typeface="Poppins"/>
                <a:ea typeface="Poppins"/>
                <a:cs typeface="Poppins"/>
              </a:defRPr>
            </a:lvl9pPr>
          </a:lstStyle>
          <a:p xmlns:a="http://schemas.openxmlformats.org/drawingml/2006/main">
            <a:pPr>
              <a:defRPr sz="2325" b="1">
                <a:solidFill>
                  <a:srgbClr val="3F682E"/>
                </a:solidFill>
                <a:latin typeface="Poppins"/>
                <a:ea typeface="Poppins"/>
                <a:cs typeface="Poppins"/>
              </a:defRPr>
            </a:pPr>
            <a:r>
              <a:rPr sz="2325" b="1">
                <a:solidFill>
                  <a:srgbClr val="3F682E"/>
                </a:solidFill>
                <a:latin typeface="Poppins"/>
                <a:ea typeface="Poppins"/>
                <a:cs typeface="Poppins"/>
              </a:rPr>
              <a:t>Listen</a:t>
            </a:r>
          </a:p>
        </p:txBody>
      </p:sp>
      <p:sp>
        <p:nvSpPr>
          <p:cNvPr id="10" name="text-4-7">
            <a:extLst xmlns:a="http://schemas.openxmlformats.org/drawingml/2006/main">
              <a:ext uri="{FF2B5EF4-FFF2-40B4-BE49-F238E27FC236}">
                <a16:creationId xmlns:a16="http://schemas.microsoft.com/office/drawing/2014/main" id="{A1D1D904-8C70-42DC-A69E-860C5A980A2D}"/>
              </a:ext>
            </a:extLst>
          </p:cNvPr>
          <p:cNvSpPr>
            <a:spLocks xmlns:a="http://schemas.openxmlformats.org/drawingml/2006/main" noGrp="1"/>
          </p:cNvSpPr>
          <p:nvPr/>
        </p:nvSpPr>
        <p:spPr>
          <a:xfrm xmlns:a="http://schemas.openxmlformats.org/drawingml/2006/main">
            <a:off x="619125" y="4210050"/>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07160"/>
                </a:solidFill>
                <a:latin typeface="Arial"/>
                <a:ea typeface="Arial"/>
                <a:cs typeface="Arial"/>
              </a:defRPr>
            </a:defPPr>
            <a:lvl1pPr>
              <a:defRPr sz="1800" b="0">
                <a:solidFill>
                  <a:srgbClr val="607160"/>
                </a:solidFill>
                <a:latin typeface="Arial"/>
                <a:ea typeface="Arial"/>
                <a:cs typeface="Arial"/>
              </a:defRPr>
            </a:lvl1pPr>
            <a:lvl2pPr>
              <a:defRPr sz="1800" b="0">
                <a:solidFill>
                  <a:srgbClr val="607160"/>
                </a:solidFill>
                <a:latin typeface="Arial"/>
                <a:ea typeface="Arial"/>
                <a:cs typeface="Arial"/>
              </a:defRPr>
            </a:lvl2pPr>
            <a:lvl3pPr>
              <a:defRPr sz="1800" b="0">
                <a:solidFill>
                  <a:srgbClr val="607160"/>
                </a:solidFill>
                <a:latin typeface="Arial"/>
                <a:ea typeface="Arial"/>
                <a:cs typeface="Arial"/>
              </a:defRPr>
            </a:lvl3pPr>
            <a:lvl4pPr>
              <a:defRPr sz="1800" b="0">
                <a:solidFill>
                  <a:srgbClr val="607160"/>
                </a:solidFill>
                <a:latin typeface="Arial"/>
                <a:ea typeface="Arial"/>
                <a:cs typeface="Arial"/>
              </a:defRPr>
            </a:lvl4pPr>
            <a:lvl5pPr>
              <a:defRPr sz="1800" b="0">
                <a:solidFill>
                  <a:srgbClr val="607160"/>
                </a:solidFill>
                <a:latin typeface="Arial"/>
                <a:ea typeface="Arial"/>
                <a:cs typeface="Arial"/>
              </a:defRPr>
            </a:lvl5pPr>
            <a:lvl6pPr>
              <a:defRPr sz="1800" b="0">
                <a:solidFill>
                  <a:srgbClr val="607160"/>
                </a:solidFill>
                <a:latin typeface="Arial"/>
                <a:ea typeface="Arial"/>
                <a:cs typeface="Arial"/>
              </a:defRPr>
            </a:lvl6pPr>
            <a:lvl7pPr>
              <a:defRPr sz="1800" b="0">
                <a:solidFill>
                  <a:srgbClr val="607160"/>
                </a:solidFill>
                <a:latin typeface="Arial"/>
                <a:ea typeface="Arial"/>
                <a:cs typeface="Arial"/>
              </a:defRPr>
            </a:lvl7pPr>
            <a:lvl8pPr>
              <a:defRPr sz="1800" b="0">
                <a:solidFill>
                  <a:srgbClr val="607160"/>
                </a:solidFill>
                <a:latin typeface="Arial"/>
                <a:ea typeface="Arial"/>
                <a:cs typeface="Arial"/>
              </a:defRPr>
            </a:lvl8pPr>
            <a:lvl9pPr>
              <a:defRPr sz="1800" b="0">
                <a:solidFill>
                  <a:srgbClr val="607160"/>
                </a:solidFill>
                <a:latin typeface="Arial"/>
                <a:ea typeface="Arial"/>
                <a:cs typeface="Arial"/>
              </a:defRPr>
            </a:lvl9pPr>
          </a:lstStyle>
          <a:p xmlns:a="http://schemas.openxmlformats.org/drawingml/2006/main">
            <a:pPr>
              <a:defRPr sz="1800" b="0">
                <a:solidFill>
                  <a:srgbClr val="607160"/>
                </a:solidFill>
                <a:latin typeface="Arial"/>
                <a:ea typeface="Arial"/>
                <a:cs typeface="Arial"/>
              </a:defRPr>
            </a:pPr>
            <a:r>
              <a:rPr sz="1800" b="0">
                <a:solidFill>
                  <a:srgbClr val="607160"/>
                </a:solidFill>
                <a:latin typeface="Arial"/>
                <a:ea typeface="Arial"/>
                <a:cs typeface="Arial"/>
              </a:rPr>
              <a:t>Read Lin’s words</a:t>
            </a:r>
          </a:p>
          <a:p xmlns:a="http://schemas.openxmlformats.org/drawingml/2006/main">
            <a:pPr>
              <a:defRPr sz="1800" b="0">
                <a:solidFill>
                  <a:srgbClr val="607160"/>
                </a:solidFill>
                <a:latin typeface="Arial"/>
                <a:ea typeface="Arial"/>
                <a:cs typeface="Arial"/>
              </a:defRPr>
            </a:pPr>
            <a:r>
              <a:rPr sz="1800" b="0">
                <a:solidFill>
                  <a:srgbClr val="607160"/>
                </a:solidFill>
                <a:latin typeface="Arial"/>
                <a:ea typeface="Arial"/>
                <a:cs typeface="Arial"/>
              </a:rPr>
              <a:t>and the headline.</a:t>
            </a:r>
          </a:p>
        </p:txBody>
      </p:sp>
      <p:sp>
        <p:nvSpPr>
          <p:cNvPr id="11" name="text-4-8">
            <a:extLst xmlns:a="http://schemas.openxmlformats.org/drawingml/2006/main">
              <a:ext uri="{FF2B5EF4-FFF2-40B4-BE49-F238E27FC236}">
                <a16:creationId xmlns:a16="http://schemas.microsoft.com/office/drawing/2014/main" id="{09549A5A-42E8-4731-BB37-F7E7DD562F4C}"/>
              </a:ext>
            </a:extLst>
          </p:cNvPr>
          <p:cNvSpPr>
            <a:spLocks xmlns:a="http://schemas.openxmlformats.org/drawingml/2006/main" noGrp="1"/>
          </p:cNvSpPr>
          <p:nvPr/>
        </p:nvSpPr>
        <p:spPr>
          <a:xfrm xmlns:a="http://schemas.openxmlformats.org/drawingml/2006/main">
            <a:off x="3419475" y="2714625"/>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D8BC62"/>
                </a:solidFill>
                <a:latin typeface="Poppins"/>
                <a:ea typeface="Poppins"/>
                <a:cs typeface="Poppins"/>
              </a:defRPr>
            </a:defPPr>
            <a:lvl1pPr>
              <a:defRPr sz="4125" b="1">
                <a:solidFill>
                  <a:srgbClr val="D8BC62"/>
                </a:solidFill>
                <a:latin typeface="Poppins"/>
                <a:ea typeface="Poppins"/>
                <a:cs typeface="Poppins"/>
              </a:defRPr>
            </a:lvl1pPr>
            <a:lvl2pPr>
              <a:defRPr sz="4125" b="1">
                <a:solidFill>
                  <a:srgbClr val="D8BC62"/>
                </a:solidFill>
                <a:latin typeface="Poppins"/>
                <a:ea typeface="Poppins"/>
                <a:cs typeface="Poppins"/>
              </a:defRPr>
            </a:lvl2pPr>
            <a:lvl3pPr>
              <a:defRPr sz="4125" b="1">
                <a:solidFill>
                  <a:srgbClr val="D8BC62"/>
                </a:solidFill>
                <a:latin typeface="Poppins"/>
                <a:ea typeface="Poppins"/>
                <a:cs typeface="Poppins"/>
              </a:defRPr>
            </a:lvl3pPr>
            <a:lvl4pPr>
              <a:defRPr sz="4125" b="1">
                <a:solidFill>
                  <a:srgbClr val="D8BC62"/>
                </a:solidFill>
                <a:latin typeface="Poppins"/>
                <a:ea typeface="Poppins"/>
                <a:cs typeface="Poppins"/>
              </a:defRPr>
            </a:lvl4pPr>
            <a:lvl5pPr>
              <a:defRPr sz="4125" b="1">
                <a:solidFill>
                  <a:srgbClr val="D8BC62"/>
                </a:solidFill>
                <a:latin typeface="Poppins"/>
                <a:ea typeface="Poppins"/>
                <a:cs typeface="Poppins"/>
              </a:defRPr>
            </a:lvl5pPr>
            <a:lvl6pPr>
              <a:defRPr sz="4125" b="1">
                <a:solidFill>
                  <a:srgbClr val="D8BC62"/>
                </a:solidFill>
                <a:latin typeface="Poppins"/>
                <a:ea typeface="Poppins"/>
                <a:cs typeface="Poppins"/>
              </a:defRPr>
            </a:lvl6pPr>
            <a:lvl7pPr>
              <a:defRPr sz="4125" b="1">
                <a:solidFill>
                  <a:srgbClr val="D8BC62"/>
                </a:solidFill>
                <a:latin typeface="Poppins"/>
                <a:ea typeface="Poppins"/>
                <a:cs typeface="Poppins"/>
              </a:defRPr>
            </a:lvl7pPr>
            <a:lvl8pPr>
              <a:defRPr sz="4125" b="1">
                <a:solidFill>
                  <a:srgbClr val="D8BC62"/>
                </a:solidFill>
                <a:latin typeface="Poppins"/>
                <a:ea typeface="Poppins"/>
                <a:cs typeface="Poppins"/>
              </a:defRPr>
            </a:lvl8pPr>
            <a:lvl9pPr>
              <a:defRPr sz="4125" b="1">
                <a:solidFill>
                  <a:srgbClr val="D8BC62"/>
                </a:solidFill>
                <a:latin typeface="Poppins"/>
                <a:ea typeface="Poppins"/>
                <a:cs typeface="Poppins"/>
              </a:defRPr>
            </a:lvl9pPr>
          </a:lstStyle>
          <a:p xmlns:a="http://schemas.openxmlformats.org/drawingml/2006/main">
            <a:pPr>
              <a:defRPr sz="4125" b="1">
                <a:solidFill>
                  <a:srgbClr val="D8BC62"/>
                </a:solidFill>
                <a:latin typeface="Poppins"/>
                <a:ea typeface="Poppins"/>
                <a:cs typeface="Poppins"/>
              </a:defRPr>
            </a:pPr>
            <a:r>
              <a:rPr sz="4125" b="1">
                <a:solidFill>
                  <a:srgbClr val="D8BC62"/>
                </a:solidFill>
                <a:latin typeface="Poppins"/>
                <a:ea typeface="Poppins"/>
                <a:cs typeface="Poppins"/>
              </a:rPr>
              <a:t>02</a:t>
            </a:r>
          </a:p>
        </p:txBody>
      </p:sp>
      <p:sp>
        <p:nvSpPr>
          <p:cNvPr id="12" name="text-4-9">
            <a:extLst xmlns:a="http://schemas.openxmlformats.org/drawingml/2006/main">
              <a:ext uri="{FF2B5EF4-FFF2-40B4-BE49-F238E27FC236}">
                <a16:creationId xmlns:a16="http://schemas.microsoft.com/office/drawing/2014/main" id="{43F2D9D2-C17D-49D2-8472-007DC0061079}"/>
              </a:ext>
            </a:extLst>
          </p:cNvPr>
          <p:cNvSpPr>
            <a:spLocks xmlns:a="http://schemas.openxmlformats.org/drawingml/2006/main" noGrp="1"/>
          </p:cNvSpPr>
          <p:nvPr/>
        </p:nvSpPr>
        <p:spPr>
          <a:xfrm xmlns:a="http://schemas.openxmlformats.org/drawingml/2006/main">
            <a:off x="3419475" y="35814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F682E"/>
                </a:solidFill>
                <a:latin typeface="Poppins"/>
                <a:ea typeface="Poppins"/>
                <a:cs typeface="Poppins"/>
              </a:defRPr>
            </a:defPPr>
            <a:lvl1pPr>
              <a:defRPr sz="2325" b="1">
                <a:solidFill>
                  <a:srgbClr val="3F682E"/>
                </a:solidFill>
                <a:latin typeface="Poppins"/>
                <a:ea typeface="Poppins"/>
                <a:cs typeface="Poppins"/>
              </a:defRPr>
            </a:lvl1pPr>
            <a:lvl2pPr>
              <a:defRPr sz="2325" b="1">
                <a:solidFill>
                  <a:srgbClr val="3F682E"/>
                </a:solidFill>
                <a:latin typeface="Poppins"/>
                <a:ea typeface="Poppins"/>
                <a:cs typeface="Poppins"/>
              </a:defRPr>
            </a:lvl2pPr>
            <a:lvl3pPr>
              <a:defRPr sz="2325" b="1">
                <a:solidFill>
                  <a:srgbClr val="3F682E"/>
                </a:solidFill>
                <a:latin typeface="Poppins"/>
                <a:ea typeface="Poppins"/>
                <a:cs typeface="Poppins"/>
              </a:defRPr>
            </a:lvl3pPr>
            <a:lvl4pPr>
              <a:defRPr sz="2325" b="1">
                <a:solidFill>
                  <a:srgbClr val="3F682E"/>
                </a:solidFill>
                <a:latin typeface="Poppins"/>
                <a:ea typeface="Poppins"/>
                <a:cs typeface="Poppins"/>
              </a:defRPr>
            </a:lvl4pPr>
            <a:lvl5pPr>
              <a:defRPr sz="2325" b="1">
                <a:solidFill>
                  <a:srgbClr val="3F682E"/>
                </a:solidFill>
                <a:latin typeface="Poppins"/>
                <a:ea typeface="Poppins"/>
                <a:cs typeface="Poppins"/>
              </a:defRPr>
            </a:lvl5pPr>
            <a:lvl6pPr>
              <a:defRPr sz="2325" b="1">
                <a:solidFill>
                  <a:srgbClr val="3F682E"/>
                </a:solidFill>
                <a:latin typeface="Poppins"/>
                <a:ea typeface="Poppins"/>
                <a:cs typeface="Poppins"/>
              </a:defRPr>
            </a:lvl6pPr>
            <a:lvl7pPr>
              <a:defRPr sz="2325" b="1">
                <a:solidFill>
                  <a:srgbClr val="3F682E"/>
                </a:solidFill>
                <a:latin typeface="Poppins"/>
                <a:ea typeface="Poppins"/>
                <a:cs typeface="Poppins"/>
              </a:defRPr>
            </a:lvl7pPr>
            <a:lvl8pPr>
              <a:defRPr sz="2325" b="1">
                <a:solidFill>
                  <a:srgbClr val="3F682E"/>
                </a:solidFill>
                <a:latin typeface="Poppins"/>
                <a:ea typeface="Poppins"/>
                <a:cs typeface="Poppins"/>
              </a:defRPr>
            </a:lvl8pPr>
            <a:lvl9pPr>
              <a:defRPr sz="2325" b="1">
                <a:solidFill>
                  <a:srgbClr val="3F682E"/>
                </a:solidFill>
                <a:latin typeface="Poppins"/>
                <a:ea typeface="Poppins"/>
                <a:cs typeface="Poppins"/>
              </a:defRPr>
            </a:lvl9pPr>
          </a:lstStyle>
          <a:p xmlns:a="http://schemas.openxmlformats.org/drawingml/2006/main">
            <a:pPr>
              <a:defRPr sz="2325" b="1">
                <a:solidFill>
                  <a:srgbClr val="3F682E"/>
                </a:solidFill>
                <a:latin typeface="Poppins"/>
                <a:ea typeface="Poppins"/>
                <a:cs typeface="Poppins"/>
              </a:defRPr>
            </a:pPr>
            <a:r>
              <a:rPr sz="2325" b="1">
                <a:solidFill>
                  <a:srgbClr val="3F682E"/>
                </a:solidFill>
                <a:latin typeface="Poppins"/>
                <a:ea typeface="Poppins"/>
                <a:cs typeface="Poppins"/>
              </a:rPr>
              <a:t>Interpret</a:t>
            </a:r>
          </a:p>
        </p:txBody>
      </p:sp>
      <p:sp>
        <p:nvSpPr>
          <p:cNvPr id="13" name="text-4-10">
            <a:extLst xmlns:a="http://schemas.openxmlformats.org/drawingml/2006/main">
              <a:ext uri="{FF2B5EF4-FFF2-40B4-BE49-F238E27FC236}">
                <a16:creationId xmlns:a16="http://schemas.microsoft.com/office/drawing/2014/main" id="{C2E6715B-1908-40A5-9567-61052FEFA281}"/>
              </a:ext>
            </a:extLst>
          </p:cNvPr>
          <p:cNvSpPr>
            <a:spLocks xmlns:a="http://schemas.openxmlformats.org/drawingml/2006/main" noGrp="1"/>
          </p:cNvSpPr>
          <p:nvPr/>
        </p:nvSpPr>
        <p:spPr>
          <a:xfrm xmlns:a="http://schemas.openxmlformats.org/drawingml/2006/main">
            <a:off x="3419475" y="4210050"/>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07160"/>
                </a:solidFill>
                <a:latin typeface="Arial"/>
                <a:ea typeface="Arial"/>
                <a:cs typeface="Arial"/>
              </a:defRPr>
            </a:defPPr>
            <a:lvl1pPr>
              <a:defRPr sz="1800" b="0">
                <a:solidFill>
                  <a:srgbClr val="607160"/>
                </a:solidFill>
                <a:latin typeface="Arial"/>
                <a:ea typeface="Arial"/>
                <a:cs typeface="Arial"/>
              </a:defRPr>
            </a:lvl1pPr>
            <a:lvl2pPr>
              <a:defRPr sz="1800" b="0">
                <a:solidFill>
                  <a:srgbClr val="607160"/>
                </a:solidFill>
                <a:latin typeface="Arial"/>
                <a:ea typeface="Arial"/>
                <a:cs typeface="Arial"/>
              </a:defRPr>
            </a:lvl2pPr>
            <a:lvl3pPr>
              <a:defRPr sz="1800" b="0">
                <a:solidFill>
                  <a:srgbClr val="607160"/>
                </a:solidFill>
                <a:latin typeface="Arial"/>
                <a:ea typeface="Arial"/>
                <a:cs typeface="Arial"/>
              </a:defRPr>
            </a:lvl3pPr>
            <a:lvl4pPr>
              <a:defRPr sz="1800" b="0">
                <a:solidFill>
                  <a:srgbClr val="607160"/>
                </a:solidFill>
                <a:latin typeface="Arial"/>
                <a:ea typeface="Arial"/>
                <a:cs typeface="Arial"/>
              </a:defRPr>
            </a:lvl4pPr>
            <a:lvl5pPr>
              <a:defRPr sz="1800" b="0">
                <a:solidFill>
                  <a:srgbClr val="607160"/>
                </a:solidFill>
                <a:latin typeface="Arial"/>
                <a:ea typeface="Arial"/>
                <a:cs typeface="Arial"/>
              </a:defRPr>
            </a:lvl5pPr>
            <a:lvl6pPr>
              <a:defRPr sz="1800" b="0">
                <a:solidFill>
                  <a:srgbClr val="607160"/>
                </a:solidFill>
                <a:latin typeface="Arial"/>
                <a:ea typeface="Arial"/>
                <a:cs typeface="Arial"/>
              </a:defRPr>
            </a:lvl6pPr>
            <a:lvl7pPr>
              <a:defRPr sz="1800" b="0">
                <a:solidFill>
                  <a:srgbClr val="607160"/>
                </a:solidFill>
                <a:latin typeface="Arial"/>
                <a:ea typeface="Arial"/>
                <a:cs typeface="Arial"/>
              </a:defRPr>
            </a:lvl7pPr>
            <a:lvl8pPr>
              <a:defRPr sz="1800" b="0">
                <a:solidFill>
                  <a:srgbClr val="607160"/>
                </a:solidFill>
                <a:latin typeface="Arial"/>
                <a:ea typeface="Arial"/>
                <a:cs typeface="Arial"/>
              </a:defRPr>
            </a:lvl8pPr>
            <a:lvl9pPr>
              <a:defRPr sz="1800" b="0">
                <a:solidFill>
                  <a:srgbClr val="607160"/>
                </a:solidFill>
                <a:latin typeface="Arial"/>
                <a:ea typeface="Arial"/>
                <a:cs typeface="Arial"/>
              </a:defRPr>
            </a:lvl9pPr>
          </a:lstStyle>
          <a:p xmlns:a="http://schemas.openxmlformats.org/drawingml/2006/main">
            <a:pPr>
              <a:defRPr sz="1800" b="0">
                <a:solidFill>
                  <a:srgbClr val="607160"/>
                </a:solidFill>
                <a:latin typeface="Arial"/>
                <a:ea typeface="Arial"/>
                <a:cs typeface="Arial"/>
              </a:defRPr>
            </a:pPr>
            <a:r>
              <a:rPr sz="1800" b="0">
                <a:solidFill>
                  <a:srgbClr val="607160"/>
                </a:solidFill>
                <a:latin typeface="Arial"/>
                <a:ea typeface="Arial"/>
                <a:cs typeface="Arial"/>
              </a:rPr>
              <a:t>Check the proposal</a:t>
            </a:r>
          </a:p>
          <a:p xmlns:a="http://schemas.openxmlformats.org/drawingml/2006/main">
            <a:pPr>
              <a:defRPr sz="1800" b="0">
                <a:solidFill>
                  <a:srgbClr val="607160"/>
                </a:solidFill>
                <a:latin typeface="Arial"/>
                <a:ea typeface="Arial"/>
                <a:cs typeface="Arial"/>
              </a:defRPr>
            </a:pPr>
            <a:r>
              <a:rPr sz="1800" b="0">
                <a:solidFill>
                  <a:srgbClr val="607160"/>
                </a:solidFill>
                <a:latin typeface="Arial"/>
                <a:ea typeface="Arial"/>
                <a:cs typeface="Arial"/>
              </a:rPr>
              <a:t>and missing local scope.</a:t>
            </a:r>
          </a:p>
        </p:txBody>
      </p:sp>
      <p:sp>
        <p:nvSpPr>
          <p:cNvPr id="14" name="text-4-11">
            <a:extLst xmlns:a="http://schemas.openxmlformats.org/drawingml/2006/main">
              <a:ext uri="{FF2B5EF4-FFF2-40B4-BE49-F238E27FC236}">
                <a16:creationId xmlns:a16="http://schemas.microsoft.com/office/drawing/2014/main" id="{FAAE5DC8-1FC6-47C3-AAC1-809F47BE7E20}"/>
              </a:ext>
            </a:extLst>
          </p:cNvPr>
          <p:cNvSpPr>
            <a:spLocks xmlns:a="http://schemas.openxmlformats.org/drawingml/2006/main" noGrp="1"/>
          </p:cNvSpPr>
          <p:nvPr/>
        </p:nvSpPr>
        <p:spPr>
          <a:xfrm xmlns:a="http://schemas.openxmlformats.org/drawingml/2006/main">
            <a:off x="6219825" y="2714625"/>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D8BC62"/>
                </a:solidFill>
                <a:latin typeface="Poppins"/>
                <a:ea typeface="Poppins"/>
                <a:cs typeface="Poppins"/>
              </a:defRPr>
            </a:defPPr>
            <a:lvl1pPr>
              <a:defRPr sz="4125" b="1">
                <a:solidFill>
                  <a:srgbClr val="D8BC62"/>
                </a:solidFill>
                <a:latin typeface="Poppins"/>
                <a:ea typeface="Poppins"/>
                <a:cs typeface="Poppins"/>
              </a:defRPr>
            </a:lvl1pPr>
            <a:lvl2pPr>
              <a:defRPr sz="4125" b="1">
                <a:solidFill>
                  <a:srgbClr val="D8BC62"/>
                </a:solidFill>
                <a:latin typeface="Poppins"/>
                <a:ea typeface="Poppins"/>
                <a:cs typeface="Poppins"/>
              </a:defRPr>
            </a:lvl2pPr>
            <a:lvl3pPr>
              <a:defRPr sz="4125" b="1">
                <a:solidFill>
                  <a:srgbClr val="D8BC62"/>
                </a:solidFill>
                <a:latin typeface="Poppins"/>
                <a:ea typeface="Poppins"/>
                <a:cs typeface="Poppins"/>
              </a:defRPr>
            </a:lvl3pPr>
            <a:lvl4pPr>
              <a:defRPr sz="4125" b="1">
                <a:solidFill>
                  <a:srgbClr val="D8BC62"/>
                </a:solidFill>
                <a:latin typeface="Poppins"/>
                <a:ea typeface="Poppins"/>
                <a:cs typeface="Poppins"/>
              </a:defRPr>
            </a:lvl4pPr>
            <a:lvl5pPr>
              <a:defRPr sz="4125" b="1">
                <a:solidFill>
                  <a:srgbClr val="D8BC62"/>
                </a:solidFill>
                <a:latin typeface="Poppins"/>
                <a:ea typeface="Poppins"/>
                <a:cs typeface="Poppins"/>
              </a:defRPr>
            </a:lvl5pPr>
            <a:lvl6pPr>
              <a:defRPr sz="4125" b="1">
                <a:solidFill>
                  <a:srgbClr val="D8BC62"/>
                </a:solidFill>
                <a:latin typeface="Poppins"/>
                <a:ea typeface="Poppins"/>
                <a:cs typeface="Poppins"/>
              </a:defRPr>
            </a:lvl6pPr>
            <a:lvl7pPr>
              <a:defRPr sz="4125" b="1">
                <a:solidFill>
                  <a:srgbClr val="D8BC62"/>
                </a:solidFill>
                <a:latin typeface="Poppins"/>
                <a:ea typeface="Poppins"/>
                <a:cs typeface="Poppins"/>
              </a:defRPr>
            </a:lvl7pPr>
            <a:lvl8pPr>
              <a:defRPr sz="4125" b="1">
                <a:solidFill>
                  <a:srgbClr val="D8BC62"/>
                </a:solidFill>
                <a:latin typeface="Poppins"/>
                <a:ea typeface="Poppins"/>
                <a:cs typeface="Poppins"/>
              </a:defRPr>
            </a:lvl8pPr>
            <a:lvl9pPr>
              <a:defRPr sz="4125" b="1">
                <a:solidFill>
                  <a:srgbClr val="D8BC62"/>
                </a:solidFill>
                <a:latin typeface="Poppins"/>
                <a:ea typeface="Poppins"/>
                <a:cs typeface="Poppins"/>
              </a:defRPr>
            </a:lvl9pPr>
          </a:lstStyle>
          <a:p xmlns:a="http://schemas.openxmlformats.org/drawingml/2006/main">
            <a:pPr>
              <a:defRPr sz="4125" b="1">
                <a:solidFill>
                  <a:srgbClr val="D8BC62"/>
                </a:solidFill>
                <a:latin typeface="Poppins"/>
                <a:ea typeface="Poppins"/>
                <a:cs typeface="Poppins"/>
              </a:defRPr>
            </a:pPr>
            <a:r>
              <a:rPr sz="4125" b="1">
                <a:solidFill>
                  <a:srgbClr val="D8BC62"/>
                </a:solidFill>
                <a:latin typeface="Poppins"/>
                <a:ea typeface="Poppins"/>
                <a:cs typeface="Poppins"/>
              </a:rPr>
              <a:t>03</a:t>
            </a:r>
          </a:p>
        </p:txBody>
      </p:sp>
      <p:sp>
        <p:nvSpPr>
          <p:cNvPr id="15" name="text-4-12">
            <a:extLst xmlns:a="http://schemas.openxmlformats.org/drawingml/2006/main">
              <a:ext uri="{FF2B5EF4-FFF2-40B4-BE49-F238E27FC236}">
                <a16:creationId xmlns:a16="http://schemas.microsoft.com/office/drawing/2014/main" id="{BFF9622A-6FAA-4849-9DE4-4EE26A30C0F0}"/>
              </a:ext>
            </a:extLst>
          </p:cNvPr>
          <p:cNvSpPr>
            <a:spLocks xmlns:a="http://schemas.openxmlformats.org/drawingml/2006/main" noGrp="1"/>
          </p:cNvSpPr>
          <p:nvPr/>
        </p:nvSpPr>
        <p:spPr>
          <a:xfrm xmlns:a="http://schemas.openxmlformats.org/drawingml/2006/main">
            <a:off x="6219825" y="35814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F682E"/>
                </a:solidFill>
                <a:latin typeface="Poppins"/>
                <a:ea typeface="Poppins"/>
                <a:cs typeface="Poppins"/>
              </a:defRPr>
            </a:defPPr>
            <a:lvl1pPr>
              <a:defRPr sz="2325" b="1">
                <a:solidFill>
                  <a:srgbClr val="3F682E"/>
                </a:solidFill>
                <a:latin typeface="Poppins"/>
                <a:ea typeface="Poppins"/>
                <a:cs typeface="Poppins"/>
              </a:defRPr>
            </a:lvl1pPr>
            <a:lvl2pPr>
              <a:defRPr sz="2325" b="1">
                <a:solidFill>
                  <a:srgbClr val="3F682E"/>
                </a:solidFill>
                <a:latin typeface="Poppins"/>
                <a:ea typeface="Poppins"/>
                <a:cs typeface="Poppins"/>
              </a:defRPr>
            </a:lvl2pPr>
            <a:lvl3pPr>
              <a:defRPr sz="2325" b="1">
                <a:solidFill>
                  <a:srgbClr val="3F682E"/>
                </a:solidFill>
                <a:latin typeface="Poppins"/>
                <a:ea typeface="Poppins"/>
                <a:cs typeface="Poppins"/>
              </a:defRPr>
            </a:lvl3pPr>
            <a:lvl4pPr>
              <a:defRPr sz="2325" b="1">
                <a:solidFill>
                  <a:srgbClr val="3F682E"/>
                </a:solidFill>
                <a:latin typeface="Poppins"/>
                <a:ea typeface="Poppins"/>
                <a:cs typeface="Poppins"/>
              </a:defRPr>
            </a:lvl4pPr>
            <a:lvl5pPr>
              <a:defRPr sz="2325" b="1">
                <a:solidFill>
                  <a:srgbClr val="3F682E"/>
                </a:solidFill>
                <a:latin typeface="Poppins"/>
                <a:ea typeface="Poppins"/>
                <a:cs typeface="Poppins"/>
              </a:defRPr>
            </a:lvl5pPr>
            <a:lvl6pPr>
              <a:defRPr sz="2325" b="1">
                <a:solidFill>
                  <a:srgbClr val="3F682E"/>
                </a:solidFill>
                <a:latin typeface="Poppins"/>
                <a:ea typeface="Poppins"/>
                <a:cs typeface="Poppins"/>
              </a:defRPr>
            </a:lvl6pPr>
            <a:lvl7pPr>
              <a:defRPr sz="2325" b="1">
                <a:solidFill>
                  <a:srgbClr val="3F682E"/>
                </a:solidFill>
                <a:latin typeface="Poppins"/>
                <a:ea typeface="Poppins"/>
                <a:cs typeface="Poppins"/>
              </a:defRPr>
            </a:lvl7pPr>
            <a:lvl8pPr>
              <a:defRPr sz="2325" b="1">
                <a:solidFill>
                  <a:srgbClr val="3F682E"/>
                </a:solidFill>
                <a:latin typeface="Poppins"/>
                <a:ea typeface="Poppins"/>
                <a:cs typeface="Poppins"/>
              </a:defRPr>
            </a:lvl8pPr>
            <a:lvl9pPr>
              <a:defRPr sz="2325" b="1">
                <a:solidFill>
                  <a:srgbClr val="3F682E"/>
                </a:solidFill>
                <a:latin typeface="Poppins"/>
                <a:ea typeface="Poppins"/>
                <a:cs typeface="Poppins"/>
              </a:defRPr>
            </a:lvl9pPr>
          </a:lstStyle>
          <a:p xmlns:a="http://schemas.openxmlformats.org/drawingml/2006/main">
            <a:pPr>
              <a:defRPr sz="2325" b="1">
                <a:solidFill>
                  <a:srgbClr val="3F682E"/>
                </a:solidFill>
                <a:latin typeface="Poppins"/>
                <a:ea typeface="Poppins"/>
                <a:cs typeface="Poppins"/>
              </a:defRPr>
            </a:pPr>
            <a:r>
              <a:rPr sz="2325" b="1">
                <a:solidFill>
                  <a:srgbClr val="3F682E"/>
                </a:solidFill>
                <a:latin typeface="Poppins"/>
                <a:ea typeface="Poppins"/>
                <a:cs typeface="Poppins"/>
              </a:rPr>
              <a:t>Decide</a:t>
            </a:r>
          </a:p>
        </p:txBody>
      </p:sp>
      <p:sp>
        <p:nvSpPr>
          <p:cNvPr id="16" name="text-4-13">
            <a:extLst xmlns:a="http://schemas.openxmlformats.org/drawingml/2006/main">
              <a:ext uri="{FF2B5EF4-FFF2-40B4-BE49-F238E27FC236}">
                <a16:creationId xmlns:a16="http://schemas.microsoft.com/office/drawing/2014/main" id="{1F9D93BE-CCC1-4F1B-9A00-1DEA189617B9}"/>
              </a:ext>
            </a:extLst>
          </p:cNvPr>
          <p:cNvSpPr>
            <a:spLocks xmlns:a="http://schemas.openxmlformats.org/drawingml/2006/main" noGrp="1"/>
          </p:cNvSpPr>
          <p:nvPr/>
        </p:nvSpPr>
        <p:spPr>
          <a:xfrm xmlns:a="http://schemas.openxmlformats.org/drawingml/2006/main">
            <a:off x="6219825" y="4210050"/>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07160"/>
                </a:solidFill>
                <a:latin typeface="Arial"/>
                <a:ea typeface="Arial"/>
                <a:cs typeface="Arial"/>
              </a:defRPr>
            </a:defPPr>
            <a:lvl1pPr>
              <a:defRPr sz="1800" b="0">
                <a:solidFill>
                  <a:srgbClr val="607160"/>
                </a:solidFill>
                <a:latin typeface="Arial"/>
                <a:ea typeface="Arial"/>
                <a:cs typeface="Arial"/>
              </a:defRPr>
            </a:lvl1pPr>
            <a:lvl2pPr>
              <a:defRPr sz="1800" b="0">
                <a:solidFill>
                  <a:srgbClr val="607160"/>
                </a:solidFill>
                <a:latin typeface="Arial"/>
                <a:ea typeface="Arial"/>
                <a:cs typeface="Arial"/>
              </a:defRPr>
            </a:lvl2pPr>
            <a:lvl3pPr>
              <a:defRPr sz="1800" b="0">
                <a:solidFill>
                  <a:srgbClr val="607160"/>
                </a:solidFill>
                <a:latin typeface="Arial"/>
                <a:ea typeface="Arial"/>
                <a:cs typeface="Arial"/>
              </a:defRPr>
            </a:lvl3pPr>
            <a:lvl4pPr>
              <a:defRPr sz="1800" b="0">
                <a:solidFill>
                  <a:srgbClr val="607160"/>
                </a:solidFill>
                <a:latin typeface="Arial"/>
                <a:ea typeface="Arial"/>
                <a:cs typeface="Arial"/>
              </a:defRPr>
            </a:lvl4pPr>
            <a:lvl5pPr>
              <a:defRPr sz="1800" b="0">
                <a:solidFill>
                  <a:srgbClr val="607160"/>
                </a:solidFill>
                <a:latin typeface="Arial"/>
                <a:ea typeface="Arial"/>
                <a:cs typeface="Arial"/>
              </a:defRPr>
            </a:lvl5pPr>
            <a:lvl6pPr>
              <a:defRPr sz="1800" b="0">
                <a:solidFill>
                  <a:srgbClr val="607160"/>
                </a:solidFill>
                <a:latin typeface="Arial"/>
                <a:ea typeface="Arial"/>
                <a:cs typeface="Arial"/>
              </a:defRPr>
            </a:lvl6pPr>
            <a:lvl7pPr>
              <a:defRPr sz="1800" b="0">
                <a:solidFill>
                  <a:srgbClr val="607160"/>
                </a:solidFill>
                <a:latin typeface="Arial"/>
                <a:ea typeface="Arial"/>
                <a:cs typeface="Arial"/>
              </a:defRPr>
            </a:lvl7pPr>
            <a:lvl8pPr>
              <a:defRPr sz="1800" b="0">
                <a:solidFill>
                  <a:srgbClr val="607160"/>
                </a:solidFill>
                <a:latin typeface="Arial"/>
                <a:ea typeface="Arial"/>
                <a:cs typeface="Arial"/>
              </a:defRPr>
            </a:lvl8pPr>
            <a:lvl9pPr>
              <a:defRPr sz="1800" b="0">
                <a:solidFill>
                  <a:srgbClr val="607160"/>
                </a:solidFill>
                <a:latin typeface="Arial"/>
                <a:ea typeface="Arial"/>
                <a:cs typeface="Arial"/>
              </a:defRPr>
            </a:lvl9pPr>
          </a:lstStyle>
          <a:p xmlns:a="http://schemas.openxmlformats.org/drawingml/2006/main">
            <a:pPr>
              <a:defRPr sz="1800" b="0">
                <a:solidFill>
                  <a:srgbClr val="607160"/>
                </a:solidFill>
                <a:latin typeface="Arial"/>
                <a:ea typeface="Arial"/>
                <a:cs typeface="Arial"/>
              </a:defRPr>
            </a:pPr>
            <a:r>
              <a:rPr sz="1800" b="0">
                <a:solidFill>
                  <a:srgbClr val="607160"/>
                </a:solidFill>
                <a:latin typeface="Arial"/>
                <a:ea typeface="Arial"/>
                <a:cs typeface="Arial"/>
              </a:rPr>
              <a:t>Use role-specific sources</a:t>
            </a:r>
          </a:p>
          <a:p xmlns:a="http://schemas.openxmlformats.org/drawingml/2006/main">
            <a:pPr>
              <a:defRPr sz="1800" b="0">
                <a:solidFill>
                  <a:srgbClr val="607160"/>
                </a:solidFill>
                <a:latin typeface="Arial"/>
                <a:ea typeface="Arial"/>
                <a:cs typeface="Arial"/>
              </a:defRPr>
            </a:pPr>
            <a:r>
              <a:rPr sz="1800" b="0">
                <a:solidFill>
                  <a:srgbClr val="607160"/>
                </a:solidFill>
                <a:latin typeface="Arial"/>
                <a:ea typeface="Arial"/>
                <a:cs typeface="Arial"/>
              </a:rPr>
              <a:t>to compare next steps.</a:t>
            </a:r>
          </a:p>
        </p:txBody>
      </p:sp>
      <p:sp>
        <p:nvSpPr>
          <p:cNvPr id="17" name="text-4-14">
            <a:extLst xmlns:a="http://schemas.openxmlformats.org/drawingml/2006/main">
              <a:ext uri="{FF2B5EF4-FFF2-40B4-BE49-F238E27FC236}">
                <a16:creationId xmlns:a16="http://schemas.microsoft.com/office/drawing/2014/main" id="{81CCBD08-D4B8-4829-A620-E194872BE02D}"/>
              </a:ext>
            </a:extLst>
          </p:cNvPr>
          <p:cNvSpPr>
            <a:spLocks xmlns:a="http://schemas.openxmlformats.org/drawingml/2006/main" noGrp="1"/>
          </p:cNvSpPr>
          <p:nvPr/>
        </p:nvSpPr>
        <p:spPr>
          <a:xfrm xmlns:a="http://schemas.openxmlformats.org/drawingml/2006/main">
            <a:off x="9020175" y="2714625"/>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D8BC62"/>
                </a:solidFill>
                <a:latin typeface="Poppins"/>
                <a:ea typeface="Poppins"/>
                <a:cs typeface="Poppins"/>
              </a:defRPr>
            </a:defPPr>
            <a:lvl1pPr>
              <a:defRPr sz="4125" b="1">
                <a:solidFill>
                  <a:srgbClr val="D8BC62"/>
                </a:solidFill>
                <a:latin typeface="Poppins"/>
                <a:ea typeface="Poppins"/>
                <a:cs typeface="Poppins"/>
              </a:defRPr>
            </a:lvl1pPr>
            <a:lvl2pPr>
              <a:defRPr sz="4125" b="1">
                <a:solidFill>
                  <a:srgbClr val="D8BC62"/>
                </a:solidFill>
                <a:latin typeface="Poppins"/>
                <a:ea typeface="Poppins"/>
                <a:cs typeface="Poppins"/>
              </a:defRPr>
            </a:lvl2pPr>
            <a:lvl3pPr>
              <a:defRPr sz="4125" b="1">
                <a:solidFill>
                  <a:srgbClr val="D8BC62"/>
                </a:solidFill>
                <a:latin typeface="Poppins"/>
                <a:ea typeface="Poppins"/>
                <a:cs typeface="Poppins"/>
              </a:defRPr>
            </a:lvl3pPr>
            <a:lvl4pPr>
              <a:defRPr sz="4125" b="1">
                <a:solidFill>
                  <a:srgbClr val="D8BC62"/>
                </a:solidFill>
                <a:latin typeface="Poppins"/>
                <a:ea typeface="Poppins"/>
                <a:cs typeface="Poppins"/>
              </a:defRPr>
            </a:lvl4pPr>
            <a:lvl5pPr>
              <a:defRPr sz="4125" b="1">
                <a:solidFill>
                  <a:srgbClr val="D8BC62"/>
                </a:solidFill>
                <a:latin typeface="Poppins"/>
                <a:ea typeface="Poppins"/>
                <a:cs typeface="Poppins"/>
              </a:defRPr>
            </a:lvl5pPr>
            <a:lvl6pPr>
              <a:defRPr sz="4125" b="1">
                <a:solidFill>
                  <a:srgbClr val="D8BC62"/>
                </a:solidFill>
                <a:latin typeface="Poppins"/>
                <a:ea typeface="Poppins"/>
                <a:cs typeface="Poppins"/>
              </a:defRPr>
            </a:lvl6pPr>
            <a:lvl7pPr>
              <a:defRPr sz="4125" b="1">
                <a:solidFill>
                  <a:srgbClr val="D8BC62"/>
                </a:solidFill>
                <a:latin typeface="Poppins"/>
                <a:ea typeface="Poppins"/>
                <a:cs typeface="Poppins"/>
              </a:defRPr>
            </a:lvl7pPr>
            <a:lvl8pPr>
              <a:defRPr sz="4125" b="1">
                <a:solidFill>
                  <a:srgbClr val="D8BC62"/>
                </a:solidFill>
                <a:latin typeface="Poppins"/>
                <a:ea typeface="Poppins"/>
                <a:cs typeface="Poppins"/>
              </a:defRPr>
            </a:lvl8pPr>
            <a:lvl9pPr>
              <a:defRPr sz="4125" b="1">
                <a:solidFill>
                  <a:srgbClr val="D8BC62"/>
                </a:solidFill>
                <a:latin typeface="Poppins"/>
                <a:ea typeface="Poppins"/>
                <a:cs typeface="Poppins"/>
              </a:defRPr>
            </a:lvl9pPr>
          </a:lstStyle>
          <a:p xmlns:a="http://schemas.openxmlformats.org/drawingml/2006/main">
            <a:pPr>
              <a:defRPr sz="4125" b="1">
                <a:solidFill>
                  <a:srgbClr val="D8BC62"/>
                </a:solidFill>
                <a:latin typeface="Poppins"/>
                <a:ea typeface="Poppins"/>
                <a:cs typeface="Poppins"/>
              </a:defRPr>
            </a:pPr>
            <a:r>
              <a:rPr sz="4125" b="1">
                <a:solidFill>
                  <a:srgbClr val="D8BC62"/>
                </a:solidFill>
                <a:latin typeface="Poppins"/>
                <a:ea typeface="Poppins"/>
                <a:cs typeface="Poppins"/>
              </a:rPr>
              <a:t>04</a:t>
            </a:r>
          </a:p>
        </p:txBody>
      </p:sp>
      <p:sp>
        <p:nvSpPr>
          <p:cNvPr id="18" name="text-4-15">
            <a:extLst xmlns:a="http://schemas.openxmlformats.org/drawingml/2006/main">
              <a:ext uri="{FF2B5EF4-FFF2-40B4-BE49-F238E27FC236}">
                <a16:creationId xmlns:a16="http://schemas.microsoft.com/office/drawing/2014/main" id="{78078E9C-A7B7-4064-8004-3CCC15FE3B15}"/>
              </a:ext>
            </a:extLst>
          </p:cNvPr>
          <p:cNvSpPr>
            <a:spLocks xmlns:a="http://schemas.openxmlformats.org/drawingml/2006/main" noGrp="1"/>
          </p:cNvSpPr>
          <p:nvPr/>
        </p:nvSpPr>
        <p:spPr>
          <a:xfrm xmlns:a="http://schemas.openxmlformats.org/drawingml/2006/main">
            <a:off x="9020175" y="3581400"/>
            <a:ext cx="238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3F682E"/>
                </a:solidFill>
                <a:latin typeface="Poppins"/>
                <a:ea typeface="Poppins"/>
                <a:cs typeface="Poppins"/>
              </a:defRPr>
            </a:defPPr>
            <a:lvl1pPr>
              <a:defRPr sz="2325" b="1">
                <a:solidFill>
                  <a:srgbClr val="3F682E"/>
                </a:solidFill>
                <a:latin typeface="Poppins"/>
                <a:ea typeface="Poppins"/>
                <a:cs typeface="Poppins"/>
              </a:defRPr>
            </a:lvl1pPr>
            <a:lvl2pPr>
              <a:defRPr sz="2325" b="1">
                <a:solidFill>
                  <a:srgbClr val="3F682E"/>
                </a:solidFill>
                <a:latin typeface="Poppins"/>
                <a:ea typeface="Poppins"/>
                <a:cs typeface="Poppins"/>
              </a:defRPr>
            </a:lvl2pPr>
            <a:lvl3pPr>
              <a:defRPr sz="2325" b="1">
                <a:solidFill>
                  <a:srgbClr val="3F682E"/>
                </a:solidFill>
                <a:latin typeface="Poppins"/>
                <a:ea typeface="Poppins"/>
                <a:cs typeface="Poppins"/>
              </a:defRPr>
            </a:lvl3pPr>
            <a:lvl4pPr>
              <a:defRPr sz="2325" b="1">
                <a:solidFill>
                  <a:srgbClr val="3F682E"/>
                </a:solidFill>
                <a:latin typeface="Poppins"/>
                <a:ea typeface="Poppins"/>
                <a:cs typeface="Poppins"/>
              </a:defRPr>
            </a:lvl4pPr>
            <a:lvl5pPr>
              <a:defRPr sz="2325" b="1">
                <a:solidFill>
                  <a:srgbClr val="3F682E"/>
                </a:solidFill>
                <a:latin typeface="Poppins"/>
                <a:ea typeface="Poppins"/>
                <a:cs typeface="Poppins"/>
              </a:defRPr>
            </a:lvl5pPr>
            <a:lvl6pPr>
              <a:defRPr sz="2325" b="1">
                <a:solidFill>
                  <a:srgbClr val="3F682E"/>
                </a:solidFill>
                <a:latin typeface="Poppins"/>
                <a:ea typeface="Poppins"/>
                <a:cs typeface="Poppins"/>
              </a:defRPr>
            </a:lvl6pPr>
            <a:lvl7pPr>
              <a:defRPr sz="2325" b="1">
                <a:solidFill>
                  <a:srgbClr val="3F682E"/>
                </a:solidFill>
                <a:latin typeface="Poppins"/>
                <a:ea typeface="Poppins"/>
                <a:cs typeface="Poppins"/>
              </a:defRPr>
            </a:lvl7pPr>
            <a:lvl8pPr>
              <a:defRPr sz="2325" b="1">
                <a:solidFill>
                  <a:srgbClr val="3F682E"/>
                </a:solidFill>
                <a:latin typeface="Poppins"/>
                <a:ea typeface="Poppins"/>
                <a:cs typeface="Poppins"/>
              </a:defRPr>
            </a:lvl8pPr>
            <a:lvl9pPr>
              <a:defRPr sz="2325" b="1">
                <a:solidFill>
                  <a:srgbClr val="3F682E"/>
                </a:solidFill>
                <a:latin typeface="Poppins"/>
                <a:ea typeface="Poppins"/>
                <a:cs typeface="Poppins"/>
              </a:defRPr>
            </a:lvl9pPr>
          </a:lstStyle>
          <a:p xmlns:a="http://schemas.openxmlformats.org/drawingml/2006/main">
            <a:pPr>
              <a:defRPr sz="2325" b="1">
                <a:solidFill>
                  <a:srgbClr val="3F682E"/>
                </a:solidFill>
                <a:latin typeface="Poppins"/>
                <a:ea typeface="Poppins"/>
                <a:cs typeface="Poppins"/>
              </a:defRPr>
            </a:pPr>
            <a:r>
              <a:rPr sz="2325" b="1">
                <a:solidFill>
                  <a:srgbClr val="3F682E"/>
                </a:solidFill>
                <a:latin typeface="Poppins"/>
                <a:ea typeface="Poppins"/>
                <a:cs typeface="Poppins"/>
              </a:rPr>
              <a:t>Review</a:t>
            </a:r>
          </a:p>
        </p:txBody>
      </p:sp>
      <p:sp>
        <p:nvSpPr>
          <p:cNvPr id="19" name="text-4-16">
            <a:extLst xmlns:a="http://schemas.openxmlformats.org/drawingml/2006/main">
              <a:ext uri="{FF2B5EF4-FFF2-40B4-BE49-F238E27FC236}">
                <a16:creationId xmlns:a16="http://schemas.microsoft.com/office/drawing/2014/main" id="{2106DFD7-31BA-41C8-BA8A-87BAC678A0DE}"/>
              </a:ext>
            </a:extLst>
          </p:cNvPr>
          <p:cNvSpPr>
            <a:spLocks xmlns:a="http://schemas.openxmlformats.org/drawingml/2006/main" noGrp="1"/>
          </p:cNvSpPr>
          <p:nvPr/>
        </p:nvSpPr>
        <p:spPr>
          <a:xfrm xmlns:a="http://schemas.openxmlformats.org/drawingml/2006/main">
            <a:off x="9020175" y="4210050"/>
            <a:ext cx="233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607160"/>
                </a:solidFill>
                <a:latin typeface="Arial"/>
                <a:ea typeface="Arial"/>
                <a:cs typeface="Arial"/>
              </a:defRPr>
            </a:defPPr>
            <a:lvl1pPr>
              <a:defRPr sz="1800" b="0">
                <a:solidFill>
                  <a:srgbClr val="607160"/>
                </a:solidFill>
                <a:latin typeface="Arial"/>
                <a:ea typeface="Arial"/>
                <a:cs typeface="Arial"/>
              </a:defRPr>
            </a:lvl1pPr>
            <a:lvl2pPr>
              <a:defRPr sz="1800" b="0">
                <a:solidFill>
                  <a:srgbClr val="607160"/>
                </a:solidFill>
                <a:latin typeface="Arial"/>
                <a:ea typeface="Arial"/>
                <a:cs typeface="Arial"/>
              </a:defRPr>
            </a:lvl2pPr>
            <a:lvl3pPr>
              <a:defRPr sz="1800" b="0">
                <a:solidFill>
                  <a:srgbClr val="607160"/>
                </a:solidFill>
                <a:latin typeface="Arial"/>
                <a:ea typeface="Arial"/>
                <a:cs typeface="Arial"/>
              </a:defRPr>
            </a:lvl3pPr>
            <a:lvl4pPr>
              <a:defRPr sz="1800" b="0">
                <a:solidFill>
                  <a:srgbClr val="607160"/>
                </a:solidFill>
                <a:latin typeface="Arial"/>
                <a:ea typeface="Arial"/>
                <a:cs typeface="Arial"/>
              </a:defRPr>
            </a:lvl4pPr>
            <a:lvl5pPr>
              <a:defRPr sz="1800" b="0">
                <a:solidFill>
                  <a:srgbClr val="607160"/>
                </a:solidFill>
                <a:latin typeface="Arial"/>
                <a:ea typeface="Arial"/>
                <a:cs typeface="Arial"/>
              </a:defRPr>
            </a:lvl5pPr>
            <a:lvl6pPr>
              <a:defRPr sz="1800" b="0">
                <a:solidFill>
                  <a:srgbClr val="607160"/>
                </a:solidFill>
                <a:latin typeface="Arial"/>
                <a:ea typeface="Arial"/>
                <a:cs typeface="Arial"/>
              </a:defRPr>
            </a:lvl6pPr>
            <a:lvl7pPr>
              <a:defRPr sz="1800" b="0">
                <a:solidFill>
                  <a:srgbClr val="607160"/>
                </a:solidFill>
                <a:latin typeface="Arial"/>
                <a:ea typeface="Arial"/>
                <a:cs typeface="Arial"/>
              </a:defRPr>
            </a:lvl7pPr>
            <a:lvl8pPr>
              <a:defRPr sz="1800" b="0">
                <a:solidFill>
                  <a:srgbClr val="607160"/>
                </a:solidFill>
                <a:latin typeface="Arial"/>
                <a:ea typeface="Arial"/>
                <a:cs typeface="Arial"/>
              </a:defRPr>
            </a:lvl8pPr>
            <a:lvl9pPr>
              <a:defRPr sz="1800" b="0">
                <a:solidFill>
                  <a:srgbClr val="607160"/>
                </a:solidFill>
                <a:latin typeface="Arial"/>
                <a:ea typeface="Arial"/>
                <a:cs typeface="Arial"/>
              </a:defRPr>
            </a:lvl9pPr>
          </a:lstStyle>
          <a:p xmlns:a="http://schemas.openxmlformats.org/drawingml/2006/main">
            <a:pPr>
              <a:defRPr sz="1800" b="0">
                <a:solidFill>
                  <a:srgbClr val="607160"/>
                </a:solidFill>
                <a:latin typeface="Arial"/>
                <a:ea typeface="Arial"/>
                <a:cs typeface="Arial"/>
              </a:defRPr>
            </a:pPr>
            <a:r>
              <a:rPr sz="1800" b="0">
                <a:solidFill>
                  <a:srgbClr val="607160"/>
                </a:solidFill>
                <a:latin typeface="Arial"/>
                <a:ea typeface="Arial"/>
                <a:cs typeface="Arial"/>
              </a:rPr>
              <a:t>Assign the local owner.</a:t>
            </a:r>
          </a:p>
          <a:p xmlns:a="http://schemas.openxmlformats.org/drawingml/2006/main">
            <a:pPr>
              <a:defRPr sz="1800" b="0">
                <a:solidFill>
                  <a:srgbClr val="607160"/>
                </a:solidFill>
                <a:latin typeface="Arial"/>
                <a:ea typeface="Arial"/>
                <a:cs typeface="Arial"/>
              </a:defRPr>
            </a:pPr>
            <a:r>
              <a:rPr sz="1800" b="0">
                <a:solidFill>
                  <a:srgbClr val="607160"/>
                </a:solidFill>
                <a:latin typeface="Arial"/>
                <a:ea typeface="Arial"/>
                <a:cs typeface="Arial"/>
              </a:rPr>
              <a:t>Record why and when.</a:t>
            </a:r>
          </a:p>
        </p:txBody>
      </p:sp>
      <p:sp>
        <p:nvSpPr>
          <p:cNvPr id="20" name="text-4-17">
            <a:extLst xmlns:a="http://schemas.openxmlformats.org/drawingml/2006/main">
              <a:ext uri="{FF2B5EF4-FFF2-40B4-BE49-F238E27FC236}">
                <a16:creationId xmlns:a16="http://schemas.microsoft.com/office/drawing/2014/main" id="{4C3B574D-198D-424B-93BA-11A4BCFD0EFB}"/>
              </a:ext>
            </a:extLst>
          </p:cNvPr>
          <p:cNvSpPr>
            <a:spLocks xmlns:a="http://schemas.openxmlformats.org/drawingml/2006/main" noGrp="1"/>
          </p:cNvSpPr>
          <p:nvPr/>
        </p:nvSpPr>
        <p:spPr>
          <a:xfrm xmlns:a="http://schemas.openxmlformats.org/drawingml/2006/main">
            <a:off x="619125" y="5629275"/>
            <a:ext cx="10715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334A"/>
                </a:solidFill>
                <a:latin typeface="Poppins"/>
                <a:ea typeface="Poppins"/>
                <a:cs typeface="Poppins"/>
              </a:defRPr>
            </a:defPPr>
            <a:lvl1pPr>
              <a:defRPr sz="2025" b="1">
                <a:solidFill>
                  <a:srgbClr val="17334A"/>
                </a:solidFill>
                <a:latin typeface="Poppins"/>
                <a:ea typeface="Poppins"/>
                <a:cs typeface="Poppins"/>
              </a:defRPr>
            </a:lvl1pPr>
            <a:lvl2pPr>
              <a:defRPr sz="2025" b="1">
                <a:solidFill>
                  <a:srgbClr val="17334A"/>
                </a:solidFill>
                <a:latin typeface="Poppins"/>
                <a:ea typeface="Poppins"/>
                <a:cs typeface="Poppins"/>
              </a:defRPr>
            </a:lvl2pPr>
            <a:lvl3pPr>
              <a:defRPr sz="2025" b="1">
                <a:solidFill>
                  <a:srgbClr val="17334A"/>
                </a:solidFill>
                <a:latin typeface="Poppins"/>
                <a:ea typeface="Poppins"/>
                <a:cs typeface="Poppins"/>
              </a:defRPr>
            </a:lvl3pPr>
            <a:lvl4pPr>
              <a:defRPr sz="2025" b="1">
                <a:solidFill>
                  <a:srgbClr val="17334A"/>
                </a:solidFill>
                <a:latin typeface="Poppins"/>
                <a:ea typeface="Poppins"/>
                <a:cs typeface="Poppins"/>
              </a:defRPr>
            </a:lvl4pPr>
            <a:lvl5pPr>
              <a:defRPr sz="2025" b="1">
                <a:solidFill>
                  <a:srgbClr val="17334A"/>
                </a:solidFill>
                <a:latin typeface="Poppins"/>
                <a:ea typeface="Poppins"/>
                <a:cs typeface="Poppins"/>
              </a:defRPr>
            </a:lvl5pPr>
            <a:lvl6pPr>
              <a:defRPr sz="2025" b="1">
                <a:solidFill>
                  <a:srgbClr val="17334A"/>
                </a:solidFill>
                <a:latin typeface="Poppins"/>
                <a:ea typeface="Poppins"/>
                <a:cs typeface="Poppins"/>
              </a:defRPr>
            </a:lvl6pPr>
            <a:lvl7pPr>
              <a:defRPr sz="2025" b="1">
                <a:solidFill>
                  <a:srgbClr val="17334A"/>
                </a:solidFill>
                <a:latin typeface="Poppins"/>
                <a:ea typeface="Poppins"/>
                <a:cs typeface="Poppins"/>
              </a:defRPr>
            </a:lvl7pPr>
            <a:lvl8pPr>
              <a:defRPr sz="2025" b="1">
                <a:solidFill>
                  <a:srgbClr val="17334A"/>
                </a:solidFill>
                <a:latin typeface="Poppins"/>
                <a:ea typeface="Poppins"/>
                <a:cs typeface="Poppins"/>
              </a:defRPr>
            </a:lvl8pPr>
            <a:lvl9pPr>
              <a:defRPr sz="2025" b="1">
                <a:solidFill>
                  <a:srgbClr val="17334A"/>
                </a:solidFill>
                <a:latin typeface="Poppins"/>
                <a:ea typeface="Poppins"/>
                <a:cs typeface="Poppins"/>
              </a:defRPr>
            </a:lvl9pPr>
          </a:lstStyle>
          <a:p xmlns:a="http://schemas.openxmlformats.org/drawingml/2006/main">
            <a:pPr>
              <a:defRPr sz="2025" b="1">
                <a:solidFill>
                  <a:srgbClr val="17334A"/>
                </a:solidFill>
                <a:latin typeface="Poppins"/>
                <a:ea typeface="Poppins"/>
                <a:cs typeface="Poppins"/>
              </a:defRPr>
            </a:pPr>
            <a:r>
              <a:rPr sz="2025" b="1">
                <a:solidFill>
                  <a:srgbClr val="17334A"/>
                </a:solidFill>
                <a:latin typeface="Poppins"/>
                <a:ea typeface="Poppins"/>
                <a:cs typeface="Poppins"/>
              </a:rPr>
              <a:t>Maya’s decision: verify locally, assign the response owner, and set the next update.</a:t>
            </a:r>
          </a:p>
        </p:txBody>
      </p:sp>
    </p:spTree>
    <p:extLst>
      <p:ext uri="{BB962C8B-B14F-4D97-AF65-F5344CB8AC3E}">
        <p14:creationId xmlns:p14="http://schemas.microsoft.com/office/powerpoint/2010/main" val="368032889"/>
      </p:ext>
    </p:extLst>
  </p:cSld>
</p:sld>
</file>

<file path=ppt/slides/slide5.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9FAF5"/>
        </a:solidFill>
      </p:bgPr>
    </p:bg>
    <p:spTree>
      <p:nvGrpSpPr>
        <p:cNvPr id="1" name=""/>
        <p:cNvGrpSpPr/>
        <p:nvPr/>
      </p:nvGrpSpPr>
      <p:grpSpPr>
        <a:xfrm/>
      </p:grpSpPr>
      <p:pic>
        <p:nvPicPr>
          <p:cNvPr id="14" name="">
            <a:extLst>
              <a:ext uri="{FF2B5EF4-FFF2-40B4-BE49-F238E27FC236}">
                <ns2:creationId id="{DF2EC325-1CAC-4E20-98C1-0DCD6BC808CE}"/>
              </a:ext>
            </a:extLst>
          </p:cNvPr>
          <p:cNvPicPr>
            <a:picLocks noChangeAspect="1"/>
          </p:cNvPicPr>
          <p:nvPr/>
        </p:nvPicPr>
        <p:blipFill>
          <a:blip r:embed="Rd71c91c28f24467d"/>
          <a:stretch/>
        </p:blipFill>
        <p:spPr>
          <a:xfrm>
            <a:off x="619125" y="266700"/>
            <a:ext cx="342900" cy="342900"/>
          </a:xfrm>
          <a:prstGeom prst="rect">
            <a:avLst/>
          </a:prstGeom>
        </p:spPr>
      </p:pic>
      <p:sp>
        <p:nvSpPr>
          <p:cNvPr id="2" name="text-5-0">
            <a:extLst>
              <a:ext uri="{FF2B5EF4-FFF2-40B4-BE49-F238E27FC236}">
                <ns2:creationId id="{80B3B53B-04CE-4E12-ADB6-3A2E68D61369}"/>
              </a:ext>
            </a:extLst>
          </p:cNvPr>
          <p:cNvSpPr>
            <a:spLocks noGrp="1"/>
          </p:cNvSpPr>
          <p:nvPr/>
        </p:nvSpPr>
        <p:spPr>
          <a:xfrm>
            <a:off x="1085850" y="257175"/>
            <a:ext cx="2190750" cy="419100"/>
          </a:xfrm>
          <a:prstGeom prst="rect">
            <a:avLst/>
          </a:prstGeom>
          <a:noFill/>
          <a:ln w="0">
            <a:noFill/>
          </a:ln>
        </p:spPr>
        <p:txBody>
          <a:bodyPr wrap="square" lIns="0" tIns="0" rIns="0" bIns="0" anchor="t">
            <a:noAutofit/>
          </a:bodyPr>
          <a:lstStyle>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a:ext uri="{FF2B5EF4-FFF2-40B4-BE49-F238E27FC236}">
                <ns2:creationId id="{81255CFA-C6AB-477E-9143-A0FC96459D86}"/>
              </a:ext>
            </a:extLst>
          </p:cNvPr>
          <p:cNvPicPr>
            <a:picLocks noChangeAspect="1"/>
          </p:cNvPicPr>
          <p:nvPr/>
        </p:nvPicPr>
        <p:blipFill>
          <a:blip r:embed="R497648e337a34ac1"/>
          <a:stretch/>
        </p:blipFill>
        <p:spPr>
          <a:xfrm>
            <a:off x="9829800" y="231236"/>
            <a:ext cx="1714500" cy="528127"/>
          </a:xfrm>
          <a:prstGeom prst="rect">
            <a:avLst/>
          </a:prstGeom>
        </p:spPr>
      </p:pic>
      <p:sp>
        <p:nvSpPr>
          <p:cNvPr id="4" name="text-5-1">
            <a:extLst>
              <a:ext uri="{FF2B5EF4-FFF2-40B4-BE49-F238E27FC236}">
                <ns2:creationId id="{EA490CF6-9E4D-4F2A-B267-3E91A57CA19F}"/>
              </a:ext>
            </a:extLst>
          </p:cNvPr>
          <p:cNvSpPr>
            <a:spLocks noGrp="1"/>
          </p:cNvSpPr>
          <p:nvPr/>
        </p:nvSpPr>
        <p:spPr>
          <a:xfrm>
            <a:off x="619125" y="1019175"/>
            <a:ext cx="10477500" cy="228600"/>
          </a:xfrm>
          <a:prstGeom prst="rect">
            <a:avLst/>
          </a:prstGeom>
          <a:noFill/>
          <a:ln w="0">
            <a:noFill/>
          </a:ln>
        </p:spPr>
        <p:txBody>
          <a:bodyPr wrap="square" lIns="0" tIns="0" rIns="0" bIns="0" anchor="t">
            <a:noAutofit/>
          </a:bodyPr>
          <a:lstStyle>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a:pPr>
              <a:defRPr sz="900" b="1">
                <a:solidFill>
                  <a:srgbClr val="607160"/>
                </a:solidFill>
                <a:latin typeface="Arial"/>
                <a:ea typeface="Arial"/>
                <a:cs typeface="Arial"/>
              </a:defRPr>
            </a:pPr>
            <a:r>
              <a:rPr sz="900" b="1">
                <a:solidFill>
                  <a:srgbClr val="607160"/>
                </a:solidFill>
                <a:latin typeface="Arial"/>
                <a:ea typeface="Arial"/>
                <a:cs typeface="Arial"/>
              </a:rPr>
              <a:t>02 SOLUTION / LIVE DEMO</a:t>
            </a:r>
          </a:p>
        </p:txBody>
      </p:sp>
      <p:sp>
        <p:nvSpPr>
          <p:cNvPr id="5" name="text-5-2">
            <a:extLst>
              <a:ext uri="{FF2B5EF4-FFF2-40B4-BE49-F238E27FC236}">
                <ns2:creationId id="{450E937B-CD54-4171-8A66-D62FF1B213B6}"/>
              </a:ext>
            </a:extLst>
          </p:cNvPr>
          <p:cNvSpPr>
            <a:spLocks noGrp="1"/>
          </p:cNvSpPr>
          <p:nvPr/>
        </p:nvSpPr>
        <p:spPr>
          <a:xfrm>
            <a:off x="600075" y="1343025"/>
            <a:ext cx="10572750" cy="1066800"/>
          </a:xfrm>
          <a:prstGeom prst="rect">
            <a:avLst/>
          </a:prstGeom>
          <a:noFill/>
          <a:ln w="0">
            <a:noFill/>
          </a:ln>
        </p:spPr>
        <p:txBody>
          <a:bodyPr wrap="square" lIns="0" tIns="0" rIns="0" bIns="0" anchor="t">
            <a:noAutofit/>
          </a:bodyPr>
          <a:lstStyle>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a:pPr>
              <a:defRPr sz="3075" b="1">
                <a:solidFill>
                  <a:srgbClr val="17334A"/>
                </a:solidFill>
                <a:latin typeface="Poppins"/>
                <a:ea typeface="Poppins"/>
                <a:cs typeface="Poppins"/>
              </a:defRPr>
            </a:pPr>
            <a:r>
              <a:rPr sz="3075" b="1">
                <a:solidFill>
                  <a:srgbClr val="17334A"/>
                </a:solidFill>
                <a:latin typeface="Poppins"/>
                <a:ea typeface="Poppins"/>
                <a:cs typeface="Poppins"/>
              </a:rPr>
              <a:t>Live demo: help Maya answer Lin</a:t>
            </a:r>
          </a:p>
        </p:txBody>
      </p:sp>
      <p:sp>
        <p:nvSpPr>
          <p:cNvPr id="6" name="text-5-3">
            <a:extLst>
              <a:ext uri="{FF2B5EF4-FFF2-40B4-BE49-F238E27FC236}">
                <ns2:creationId id="{664DC5C6-3DF8-4FBB-A47B-1AFE0D0DE04E}"/>
              </a:ext>
            </a:extLst>
          </p:cNvPr>
          <p:cNvSpPr>
            <a:spLocks noGrp="1"/>
          </p:cNvSpPr>
          <p:nvPr/>
        </p:nvSpPr>
        <p:spPr>
          <a:xfrm>
            <a:off x="619125" y="6610350"/>
            <a:ext cx="10477500" cy="142875"/>
          </a:xfrm>
          <a:prstGeom prst="rect">
            <a:avLst/>
          </a:prstGeom>
          <a:noFill/>
          <a:ln w="0">
            <a:noFill/>
          </a:ln>
        </p:spPr>
        <p:txBody>
          <a:bodyPr wrap="square" lIns="0" tIns="0" rIns="0" bIns="0" anchor="t">
            <a:noAutofit/>
          </a:bodyPr>
          <a:lstStyle>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a:pPr>
              <a:defRPr sz="825" b="0">
                <a:solidFill>
                  <a:srgbClr val="60755A"/>
                </a:solidFill>
                <a:latin typeface="Arial"/>
                <a:ea typeface="Arial"/>
                <a:cs typeface="Arial"/>
              </a:defRPr>
            </a:pPr>
            <a:r>
              <a:rPr sz="825" b="0">
                <a:solidFill>
                  <a:srgbClr val="60755A"/>
                </a:solidFill>
                <a:latin typeface="Arial"/>
                <a:ea typeface="Arial"/>
                <a:cs typeface="Arial"/>
              </a:rPr>
              <a:t>CRITERIA  /  Pitch &amp; Q&amp;A · Problem–solution fit</a:t>
            </a:r>
          </a:p>
        </p:txBody>
      </p:sp>
      <p:sp>
        <p:nvSpPr>
          <p:cNvPr id="7" name="text-5-4">
            <a:extLst>
              <a:ext uri="{FF2B5EF4-FFF2-40B4-BE49-F238E27FC236}">
                <ns2:creationId id="{2C1CF7A0-B3BF-425D-A6A0-26F5AEA363DD}"/>
              </a:ext>
            </a:extLst>
          </p:cNvPr>
          <p:cNvSpPr>
            <a:spLocks noGrp="1"/>
          </p:cNvSpPr>
          <p:nvPr/>
        </p:nvSpPr>
        <p:spPr>
          <a:xfrm>
            <a:off x="11239500" y="6477000"/>
            <a:ext cx="333375" cy="190500"/>
          </a:xfrm>
          <a:prstGeom prst="rect">
            <a:avLst/>
          </a:prstGeom>
          <a:noFill/>
          <a:ln w="0">
            <a:noFill/>
          </a:ln>
        </p:spPr>
        <p:txBody>
          <a:bodyPr wrap="square" lIns="0" tIns="0" rIns="0" bIns="0" anchor="t">
            <a:noAutofit/>
          </a:bodyPr>
          <a:lstStyle>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a:pPr>
              <a:defRPr sz="900" b="0">
                <a:solidFill>
                  <a:srgbClr val="607160"/>
                </a:solidFill>
                <a:latin typeface="Arial"/>
                <a:ea typeface="Arial"/>
                <a:cs typeface="Arial"/>
              </a:defRPr>
            </a:pPr>
            <a:r>
              <a:rPr sz="900" b="0">
                <a:solidFill>
                  <a:srgbClr val="607160"/>
                </a:solidFill>
                <a:latin typeface="Arial"/>
                <a:ea typeface="Arial"/>
                <a:cs typeface="Arial"/>
              </a:rPr>
              <a:t>05</a:t>
            </a:r>
          </a:p>
        </p:txBody>
      </p:sp>
      <p:pic>
        <p:nvPicPr>
          <p:cNvPr id="8" name="">
            <a:extLst>
              <a:ext uri="{FF2B5EF4-FFF2-40B4-BE49-F238E27FC236}">
                <ns2:creationId id="{FF09681D-2706-42F1-AA2C-0F7F6CBC5786}"/>
              </a:ext>
            </a:extLst>
          </p:cNvPr>
          <p:cNvPicPr>
            <a:picLocks noChangeAspect="1"/>
          </p:cNvPicPr>
          <p:nvPr/>
        </p:nvPicPr>
        <p:blipFill>
          <a:blip r:embed="R9b78f8251c254b85"/>
          <a:stretch/>
        </p:blipFill>
        <p:spPr>
          <a:xfrm>
            <a:off x="1447800" y="2524125"/>
            <a:ext cx="6248400" cy="3905250"/>
          </a:xfrm>
          <a:prstGeom prst="rect">
            <a:avLst/>
          </a:prstGeom>
        </p:spPr>
      </p:pic>
      <p:sp>
        <p:nvSpPr>
          <p:cNvPr id="9" name="live-demo-button">
            <a:extLst>
              <a:ext uri="{FF2B5EF4-FFF2-40B4-BE49-F238E27FC236}">
                <ns2:creationId id="{DC52665A-540D-4784-9C9B-467B6BE112FE}"/>
              </a:ext>
            </a:extLst>
            <a:hlinkClick r:id="rIdRepRadarDemo" tooltip="Open the RepRadar live demo in your browser"/>
          </p:cNvPr>
          <p:cNvSpPr>
            <a:spLocks noGrp="1"/>
          </p:cNvSpPr>
          <p:nvPr/>
        </p:nvSpPr>
        <p:spPr>
          <a:xfrm>
            <a:off x="8858250" y="2619375"/>
            <a:ext cx="2667000" cy="533400"/>
          </a:xfrm>
          <a:prstGeom prst="rect">
            <a:avLst/>
          </a:prstGeom>
          <a:solidFill>
            <a:srgbClr val="3F682E"/>
          </a:solidFill>
          <a:ln w="0">
            <a:noFill/>
          </a:ln>
        </p:spPr>
        <p:txBody>
          <a:bodyPr wrap="square" lIns="171450" tIns="114300" rIns="114300" bIns="95250" anchor="t">
            <a:noAutofit/>
          </a:bodyPr>
          <a:lstStyle>
            <a:defPPr>
              <a:defRPr sz="1875" b="1">
                <a:solidFill>
                  <a:srgbClr val="FFFFFF"/>
                </a:solidFill>
                <a:latin typeface="Arial"/>
                <a:ea typeface="Arial"/>
                <a:cs typeface="Arial"/>
              </a:defRPr>
            </a:defPPr>
            <a:lvl1pPr>
              <a:defRPr sz="1875" b="1">
                <a:solidFill>
                  <a:srgbClr val="FFFFFF"/>
                </a:solidFill>
                <a:latin typeface="Arial"/>
                <a:ea typeface="Arial"/>
                <a:cs typeface="Arial"/>
              </a:defRPr>
            </a:lvl1pPr>
            <a:lvl2pPr>
              <a:defRPr sz="1875" b="1">
                <a:solidFill>
                  <a:srgbClr val="FFFFFF"/>
                </a:solidFill>
                <a:latin typeface="Arial"/>
                <a:ea typeface="Arial"/>
                <a:cs typeface="Arial"/>
              </a:defRPr>
            </a:lvl2pPr>
            <a:lvl3pPr>
              <a:defRPr sz="1875" b="1">
                <a:solidFill>
                  <a:srgbClr val="FFFFFF"/>
                </a:solidFill>
                <a:latin typeface="Arial"/>
                <a:ea typeface="Arial"/>
                <a:cs typeface="Arial"/>
              </a:defRPr>
            </a:lvl3pPr>
            <a:lvl4pPr>
              <a:defRPr sz="1875" b="1">
                <a:solidFill>
                  <a:srgbClr val="FFFFFF"/>
                </a:solidFill>
                <a:latin typeface="Arial"/>
                <a:ea typeface="Arial"/>
                <a:cs typeface="Arial"/>
              </a:defRPr>
            </a:lvl4pPr>
            <a:lvl5pPr>
              <a:defRPr sz="1875" b="1">
                <a:solidFill>
                  <a:srgbClr val="FFFFFF"/>
                </a:solidFill>
                <a:latin typeface="Arial"/>
                <a:ea typeface="Arial"/>
                <a:cs typeface="Arial"/>
              </a:defRPr>
            </a:lvl5pPr>
            <a:lvl6pPr>
              <a:defRPr sz="1875" b="1">
                <a:solidFill>
                  <a:srgbClr val="FFFFFF"/>
                </a:solidFill>
                <a:latin typeface="Arial"/>
                <a:ea typeface="Arial"/>
                <a:cs typeface="Arial"/>
              </a:defRPr>
            </a:lvl6pPr>
            <a:lvl7pPr>
              <a:defRPr sz="1875" b="1">
                <a:solidFill>
                  <a:srgbClr val="FFFFFF"/>
                </a:solidFill>
                <a:latin typeface="Arial"/>
                <a:ea typeface="Arial"/>
                <a:cs typeface="Arial"/>
              </a:defRPr>
            </a:lvl7pPr>
            <a:lvl8pPr>
              <a:defRPr sz="1875" b="1">
                <a:solidFill>
                  <a:srgbClr val="FFFFFF"/>
                </a:solidFill>
                <a:latin typeface="Arial"/>
                <a:ea typeface="Arial"/>
                <a:cs typeface="Arial"/>
              </a:defRPr>
            </a:lvl8pPr>
            <a:lvl9pPr>
              <a:defRPr sz="1875" b="1">
                <a:solidFill>
                  <a:srgbClr val="FFFFFF"/>
                </a:solidFill>
                <a:latin typeface="Arial"/>
                <a:ea typeface="Arial"/>
                <a:cs typeface="Arial"/>
              </a:defRPr>
            </a:lvl9pPr>
          </a:lstStyle>
          <a:p>
            <a:pPr>
              <a:defRPr sz="1875" b="1">
                <a:solidFill>
                  <a:srgbClr val="FFFFFF"/>
                </a:solidFill>
                <a:latin typeface="Arial"/>
                <a:ea typeface="Arial"/>
                <a:cs typeface="Arial"/>
              </a:defRPr>
            </a:pPr>
            <a:r>
              <a:rPr sz="1875" b="1">
                <a:solidFill>
                  <a:srgbClr val="FFFFFF"/>
                </a:solidFill>
                <a:latin typeface="Arial"/>
                <a:ea typeface="Arial"/>
                <a:cs typeface="Arial"/>
              </a:rPr>
              <a:t>Open live demo</a:t>
            </a:r>
          </a:p>
        </p:txBody>
      </p:sp>
      <p:sp>
        <p:nvSpPr>
          <p:cNvPr id="10" name="live-demo-address">
            <a:extLst>
              <a:ext uri="{FF2B5EF4-FFF2-40B4-BE49-F238E27FC236}">
                <ns2:creationId id="{AAD8D068-C3F3-4826-BB0F-DFCF06E56BD4}"/>
              </a:ext>
            </a:extLst>
            <a:hlinkClick r:id="rIdRepRadarDemo" tooltip="Open the RepRadar live demo in your browser"/>
          </p:cNvPr>
          <p:cNvSpPr>
            <a:spLocks noGrp="1"/>
          </p:cNvSpPr>
          <p:nvPr/>
        </p:nvSpPr>
        <p:spPr>
          <a:xfrm>
            <a:off x="8858250" y="3276600"/>
            <a:ext cx="2667000" cy="266700"/>
          </a:xfrm>
          <a:prstGeom prst="rect">
            <a:avLst/>
          </a:prstGeom>
          <a:noFill/>
          <a:ln w="0">
            <a:noFill/>
          </a:ln>
        </p:spPr>
        <p:txBody>
          <a:bodyPr wrap="square" lIns="0" tIns="0" rIns="0" bIns="0" anchor="t">
            <a:noAutofit/>
          </a:bodyPr>
          <a:lstStyle>
            <a:defPPr>
              <a:defRPr sz="1275" b="1">
                <a:solidFill>
                  <a:srgbClr val="3F682E"/>
                </a:solidFill>
                <a:latin typeface="Arial"/>
                <a:ea typeface="Arial"/>
                <a:cs typeface="Arial"/>
              </a:defRPr>
            </a:defPPr>
            <a:lvl1pPr>
              <a:defRPr sz="1275" b="1">
                <a:solidFill>
                  <a:srgbClr val="3F682E"/>
                </a:solidFill>
                <a:latin typeface="Arial"/>
                <a:ea typeface="Arial"/>
                <a:cs typeface="Arial"/>
              </a:defRPr>
            </a:lvl1pPr>
            <a:lvl2pPr>
              <a:defRPr sz="1275" b="1">
                <a:solidFill>
                  <a:srgbClr val="3F682E"/>
                </a:solidFill>
                <a:latin typeface="Arial"/>
                <a:ea typeface="Arial"/>
                <a:cs typeface="Arial"/>
              </a:defRPr>
            </a:lvl2pPr>
            <a:lvl3pPr>
              <a:defRPr sz="1275" b="1">
                <a:solidFill>
                  <a:srgbClr val="3F682E"/>
                </a:solidFill>
                <a:latin typeface="Arial"/>
                <a:ea typeface="Arial"/>
                <a:cs typeface="Arial"/>
              </a:defRPr>
            </a:lvl3pPr>
            <a:lvl4pPr>
              <a:defRPr sz="1275" b="1">
                <a:solidFill>
                  <a:srgbClr val="3F682E"/>
                </a:solidFill>
                <a:latin typeface="Arial"/>
                <a:ea typeface="Arial"/>
                <a:cs typeface="Arial"/>
              </a:defRPr>
            </a:lvl4pPr>
            <a:lvl5pPr>
              <a:defRPr sz="1275" b="1">
                <a:solidFill>
                  <a:srgbClr val="3F682E"/>
                </a:solidFill>
                <a:latin typeface="Arial"/>
                <a:ea typeface="Arial"/>
                <a:cs typeface="Arial"/>
              </a:defRPr>
            </a:lvl5pPr>
            <a:lvl6pPr>
              <a:defRPr sz="1275" b="1">
                <a:solidFill>
                  <a:srgbClr val="3F682E"/>
                </a:solidFill>
                <a:latin typeface="Arial"/>
                <a:ea typeface="Arial"/>
                <a:cs typeface="Arial"/>
              </a:defRPr>
            </a:lvl6pPr>
            <a:lvl7pPr>
              <a:defRPr sz="1275" b="1">
                <a:solidFill>
                  <a:srgbClr val="3F682E"/>
                </a:solidFill>
                <a:latin typeface="Arial"/>
                <a:ea typeface="Arial"/>
                <a:cs typeface="Arial"/>
              </a:defRPr>
            </a:lvl7pPr>
            <a:lvl8pPr>
              <a:defRPr sz="1275" b="1">
                <a:solidFill>
                  <a:srgbClr val="3F682E"/>
                </a:solidFill>
                <a:latin typeface="Arial"/>
                <a:ea typeface="Arial"/>
                <a:cs typeface="Arial"/>
              </a:defRPr>
            </a:lvl8pPr>
            <a:lvl9pPr>
              <a:defRPr sz="1275" b="1">
                <a:solidFill>
                  <a:srgbClr val="3F682E"/>
                </a:solidFill>
                <a:latin typeface="Arial"/>
                <a:ea typeface="Arial"/>
                <a:cs typeface="Arial"/>
              </a:defRPr>
            </a:lvl9pPr>
          </a:lstStyle>
          <a:p>
            <a:pPr>
              <a:defRPr sz="1275" b="1">
                <a:solidFill>
                  <a:srgbClr val="3F682E"/>
                </a:solidFill>
                <a:latin typeface="Arial"/>
                <a:ea typeface="Arial"/>
                <a:cs typeface="Arial"/>
              </a:defRPr>
            </a:pPr>
            <a:r>
              <a:rPr sz="1275" b="1">
                <a:solidFill>
                  <a:srgbClr val="3F682E"/>
                </a:solidFill>
                <a:latin typeface="Arial"/>
                <a:ea typeface="Arial"/>
                <a:cs typeface="Arial"/>
              </a:rPr>
              <a:t>repradar-phi.vercel.app</a:t>
            </a:r>
          </a:p>
        </p:txBody>
      </p:sp>
      <p:sp>
        <p:nvSpPr>
          <p:cNvPr id="11" name="text-5-7">
            <a:extLst>
              <a:ext uri="{FF2B5EF4-FFF2-40B4-BE49-F238E27FC236}">
                <ns2:creationId id="{7FDF399F-D86D-4BE2-B5C7-D9A37691C8D9}"/>
              </a:ext>
            </a:extLst>
          </p:cNvPr>
          <p:cNvSpPr>
            <a:spLocks noGrp="1"/>
          </p:cNvSpPr>
          <p:nvPr/>
        </p:nvSpPr>
        <p:spPr>
          <a:xfrm>
            <a:off x="8858250" y="3829050"/>
            <a:ext cx="2667000" cy="685800"/>
          </a:xfrm>
          <a:prstGeom prst="rect">
            <a:avLst/>
          </a:prstGeom>
          <a:noFill/>
          <a:ln w="0">
            <a:noFill/>
          </a:ln>
        </p:spPr>
        <p:txBody>
          <a:bodyPr wrap="square" lIns="0" tIns="0" rIns="0" bIns="0" anchor="t">
            <a:noAutofit/>
          </a:bodyPr>
          <a:lstStyle>
            <a:defPPr>
              <a:defRPr sz="1575" b="1">
                <a:solidFill>
                  <a:srgbClr val="17334A"/>
                </a:solidFill>
                <a:latin typeface="Arial"/>
                <a:ea typeface="Arial"/>
                <a:cs typeface="Arial"/>
              </a:defRPr>
            </a:defPPr>
            <a:lvl1pPr>
              <a:defRPr sz="1575" b="1">
                <a:solidFill>
                  <a:srgbClr val="17334A"/>
                </a:solidFill>
                <a:latin typeface="Arial"/>
                <a:ea typeface="Arial"/>
                <a:cs typeface="Arial"/>
              </a:defRPr>
            </a:lvl1pPr>
            <a:lvl2pPr>
              <a:defRPr sz="1575" b="1">
                <a:solidFill>
                  <a:srgbClr val="17334A"/>
                </a:solidFill>
                <a:latin typeface="Arial"/>
                <a:ea typeface="Arial"/>
                <a:cs typeface="Arial"/>
              </a:defRPr>
            </a:lvl2pPr>
            <a:lvl3pPr>
              <a:defRPr sz="1575" b="1">
                <a:solidFill>
                  <a:srgbClr val="17334A"/>
                </a:solidFill>
                <a:latin typeface="Arial"/>
                <a:ea typeface="Arial"/>
                <a:cs typeface="Arial"/>
              </a:defRPr>
            </a:lvl3pPr>
            <a:lvl4pPr>
              <a:defRPr sz="1575" b="1">
                <a:solidFill>
                  <a:srgbClr val="17334A"/>
                </a:solidFill>
                <a:latin typeface="Arial"/>
                <a:ea typeface="Arial"/>
                <a:cs typeface="Arial"/>
              </a:defRPr>
            </a:lvl4pPr>
            <a:lvl5pPr>
              <a:defRPr sz="1575" b="1">
                <a:solidFill>
                  <a:srgbClr val="17334A"/>
                </a:solidFill>
                <a:latin typeface="Arial"/>
                <a:ea typeface="Arial"/>
                <a:cs typeface="Arial"/>
              </a:defRPr>
            </a:lvl5pPr>
            <a:lvl6pPr>
              <a:defRPr sz="1575" b="1">
                <a:solidFill>
                  <a:srgbClr val="17334A"/>
                </a:solidFill>
                <a:latin typeface="Arial"/>
                <a:ea typeface="Arial"/>
                <a:cs typeface="Arial"/>
              </a:defRPr>
            </a:lvl6pPr>
            <a:lvl7pPr>
              <a:defRPr sz="1575" b="1">
                <a:solidFill>
                  <a:srgbClr val="17334A"/>
                </a:solidFill>
                <a:latin typeface="Arial"/>
                <a:ea typeface="Arial"/>
                <a:cs typeface="Arial"/>
              </a:defRPr>
            </a:lvl7pPr>
            <a:lvl8pPr>
              <a:defRPr sz="1575" b="1">
                <a:solidFill>
                  <a:srgbClr val="17334A"/>
                </a:solidFill>
                <a:latin typeface="Arial"/>
                <a:ea typeface="Arial"/>
                <a:cs typeface="Arial"/>
              </a:defRPr>
            </a:lvl8pPr>
            <a:lvl9pPr>
              <a:defRPr sz="1575" b="1">
                <a:solidFill>
                  <a:srgbClr val="17334A"/>
                </a:solidFill>
                <a:latin typeface="Arial"/>
                <a:ea typeface="Arial"/>
                <a:cs typeface="Arial"/>
              </a:defRPr>
            </a:lvl9pPr>
          </a:lstStyle>
          <a:p>
            <a:pPr>
              <a:defRPr sz="1575" b="1">
                <a:solidFill>
                  <a:srgbClr val="17334A"/>
                </a:solidFill>
                <a:latin typeface="Arial"/>
                <a:ea typeface="Arial"/>
                <a:cs typeface="Arial"/>
              </a:defRPr>
            </a:pPr>
            <a:r>
              <a:rPr sz="1575" b="1">
                <a:solidFill>
                  <a:srgbClr val="17334A"/>
                </a:solidFill>
                <a:latin typeface="Arial"/>
                <a:ea typeface="Arial"/>
                <a:cs typeface="Arial"/>
              </a:rPr>
              <a:t>1  Read the dashboard</a:t>
            </a:r>
          </a:p>
          <a:p>
            <a:pPr>
              <a:defRPr sz="1575" b="1">
                <a:solidFill>
                  <a:srgbClr val="17334A"/>
                </a:solidFill>
                <a:latin typeface="Arial"/>
                <a:ea typeface="Arial"/>
                <a:cs typeface="Arial"/>
              </a:defRPr>
            </a:pPr>
            <a:r>
              <a:rPr sz="1575" b="1">
                <a:solidFill>
                  <a:srgbClr val="17334A"/>
                </a:solidFill>
                <a:latin typeface="Arial"/>
                <a:ea typeface="Arial"/>
                <a:cs typeface="Arial"/>
              </a:rPr>
              <a:t>    Open Lin’s original question</a:t>
            </a:r>
          </a:p>
        </p:txBody>
      </p:sp>
      <p:sp>
        <p:nvSpPr>
          <p:cNvPr id="12" name="text-5-8">
            <a:extLst>
              <a:ext uri="{FF2B5EF4-FFF2-40B4-BE49-F238E27FC236}">
                <ns2:creationId id="{CEA1853A-7D57-4EC5-8BB1-2BC341A933BA}"/>
              </a:ext>
            </a:extLst>
          </p:cNvPr>
          <p:cNvSpPr>
            <a:spLocks noGrp="1"/>
          </p:cNvSpPr>
          <p:nvPr/>
        </p:nvSpPr>
        <p:spPr>
          <a:xfrm>
            <a:off x="8858250" y="4724400"/>
            <a:ext cx="2667000" cy="685800"/>
          </a:xfrm>
          <a:prstGeom prst="rect">
            <a:avLst/>
          </a:prstGeom>
          <a:noFill/>
          <a:ln w="0">
            <a:noFill/>
          </a:ln>
        </p:spPr>
        <p:txBody>
          <a:bodyPr wrap="square" lIns="0" tIns="0" rIns="0" bIns="0" anchor="t">
            <a:noAutofit/>
          </a:bodyPr>
          <a:lstStyle>
            <a:defPPr>
              <a:defRPr sz="1575" b="1">
                <a:solidFill>
                  <a:srgbClr val="17334A"/>
                </a:solidFill>
                <a:latin typeface="Arial"/>
                <a:ea typeface="Arial"/>
                <a:cs typeface="Arial"/>
              </a:defRPr>
            </a:defPPr>
            <a:lvl1pPr>
              <a:defRPr sz="1575" b="1">
                <a:solidFill>
                  <a:srgbClr val="17334A"/>
                </a:solidFill>
                <a:latin typeface="Arial"/>
                <a:ea typeface="Arial"/>
                <a:cs typeface="Arial"/>
              </a:defRPr>
            </a:lvl1pPr>
            <a:lvl2pPr>
              <a:defRPr sz="1575" b="1">
                <a:solidFill>
                  <a:srgbClr val="17334A"/>
                </a:solidFill>
                <a:latin typeface="Arial"/>
                <a:ea typeface="Arial"/>
                <a:cs typeface="Arial"/>
              </a:defRPr>
            </a:lvl2pPr>
            <a:lvl3pPr>
              <a:defRPr sz="1575" b="1">
                <a:solidFill>
                  <a:srgbClr val="17334A"/>
                </a:solidFill>
                <a:latin typeface="Arial"/>
                <a:ea typeface="Arial"/>
                <a:cs typeface="Arial"/>
              </a:defRPr>
            </a:lvl3pPr>
            <a:lvl4pPr>
              <a:defRPr sz="1575" b="1">
                <a:solidFill>
                  <a:srgbClr val="17334A"/>
                </a:solidFill>
                <a:latin typeface="Arial"/>
                <a:ea typeface="Arial"/>
                <a:cs typeface="Arial"/>
              </a:defRPr>
            </a:lvl4pPr>
            <a:lvl5pPr>
              <a:defRPr sz="1575" b="1">
                <a:solidFill>
                  <a:srgbClr val="17334A"/>
                </a:solidFill>
                <a:latin typeface="Arial"/>
                <a:ea typeface="Arial"/>
                <a:cs typeface="Arial"/>
              </a:defRPr>
            </a:lvl5pPr>
            <a:lvl6pPr>
              <a:defRPr sz="1575" b="1">
                <a:solidFill>
                  <a:srgbClr val="17334A"/>
                </a:solidFill>
                <a:latin typeface="Arial"/>
                <a:ea typeface="Arial"/>
                <a:cs typeface="Arial"/>
              </a:defRPr>
            </a:lvl6pPr>
            <a:lvl7pPr>
              <a:defRPr sz="1575" b="1">
                <a:solidFill>
                  <a:srgbClr val="17334A"/>
                </a:solidFill>
                <a:latin typeface="Arial"/>
                <a:ea typeface="Arial"/>
                <a:cs typeface="Arial"/>
              </a:defRPr>
            </a:lvl7pPr>
            <a:lvl8pPr>
              <a:defRPr sz="1575" b="1">
                <a:solidFill>
                  <a:srgbClr val="17334A"/>
                </a:solidFill>
                <a:latin typeface="Arial"/>
                <a:ea typeface="Arial"/>
                <a:cs typeface="Arial"/>
              </a:defRPr>
            </a:lvl8pPr>
            <a:lvl9pPr>
              <a:defRPr sz="1575" b="1">
                <a:solidFill>
                  <a:srgbClr val="17334A"/>
                </a:solidFill>
                <a:latin typeface="Arial"/>
                <a:ea typeface="Arial"/>
                <a:cs typeface="Arial"/>
              </a:defRPr>
            </a:lvl9pPr>
          </a:lstStyle>
          <a:p>
            <a:pPr>
              <a:defRPr sz="1575" b="1">
                <a:solidFill>
                  <a:srgbClr val="17334A"/>
                </a:solidFill>
                <a:latin typeface="Arial"/>
                <a:ea typeface="Arial"/>
                <a:cs typeface="Arial"/>
              </a:defRPr>
            </a:pPr>
            <a:r>
              <a:rPr sz="1575" b="1">
                <a:solidFill>
                  <a:srgbClr val="17334A"/>
                </a:solidFill>
                <a:latin typeface="Arial"/>
                <a:ea typeface="Arial"/>
                <a:cs typeface="Arial"/>
              </a:rPr>
              <a:t>2  Check the evidence</a:t>
            </a:r>
          </a:p>
          <a:p>
            <a:pPr>
              <a:defRPr sz="1575" b="1">
                <a:solidFill>
                  <a:srgbClr val="17334A"/>
                </a:solidFill>
                <a:latin typeface="Arial"/>
                <a:ea typeface="Arial"/>
                <a:cs typeface="Arial"/>
              </a:defRPr>
            </a:pPr>
            <a:r>
              <a:rPr sz="1575" b="1">
                <a:solidFill>
                  <a:srgbClr val="17334A"/>
                </a:solidFill>
                <a:latin typeface="Arial"/>
                <a:ea typeface="Arial"/>
                <a:cs typeface="Arial"/>
              </a:rPr>
              <a:t>    Ask the role-specific assistant</a:t>
            </a:r>
          </a:p>
        </p:txBody>
      </p:sp>
      <p:sp>
        <p:nvSpPr>
          <p:cNvPr id="13" name="text-5-9">
            <a:extLst>
              <a:ext uri="{FF2B5EF4-FFF2-40B4-BE49-F238E27FC236}">
                <ns2:creationId id="{9353C6AC-7F69-432B-94E9-F1E1ABCF5824}"/>
              </a:ext>
            </a:extLst>
          </p:cNvPr>
          <p:cNvSpPr>
            <a:spLocks noGrp="1"/>
          </p:cNvSpPr>
          <p:nvPr/>
        </p:nvSpPr>
        <p:spPr>
          <a:xfrm>
            <a:off x="8858250" y="5619750"/>
            <a:ext cx="2667000" cy="685800"/>
          </a:xfrm>
          <a:prstGeom prst="rect">
            <a:avLst/>
          </a:prstGeom>
          <a:noFill/>
          <a:ln w="0">
            <a:noFill/>
          </a:ln>
        </p:spPr>
        <p:txBody>
          <a:bodyPr wrap="square" lIns="0" tIns="0" rIns="0" bIns="0" anchor="t">
            <a:noAutofit/>
          </a:bodyPr>
          <a:lstStyle>
            <a:defPPr>
              <a:defRPr sz="1575" b="1">
                <a:solidFill>
                  <a:srgbClr val="17334A"/>
                </a:solidFill>
                <a:latin typeface="Arial"/>
                <a:ea typeface="Arial"/>
                <a:cs typeface="Arial"/>
              </a:defRPr>
            </a:defPPr>
            <a:lvl1pPr>
              <a:defRPr sz="1575" b="1">
                <a:solidFill>
                  <a:srgbClr val="17334A"/>
                </a:solidFill>
                <a:latin typeface="Arial"/>
                <a:ea typeface="Arial"/>
                <a:cs typeface="Arial"/>
              </a:defRPr>
            </a:lvl1pPr>
            <a:lvl2pPr>
              <a:defRPr sz="1575" b="1">
                <a:solidFill>
                  <a:srgbClr val="17334A"/>
                </a:solidFill>
                <a:latin typeface="Arial"/>
                <a:ea typeface="Arial"/>
                <a:cs typeface="Arial"/>
              </a:defRPr>
            </a:lvl2pPr>
            <a:lvl3pPr>
              <a:defRPr sz="1575" b="1">
                <a:solidFill>
                  <a:srgbClr val="17334A"/>
                </a:solidFill>
                <a:latin typeface="Arial"/>
                <a:ea typeface="Arial"/>
                <a:cs typeface="Arial"/>
              </a:defRPr>
            </a:lvl3pPr>
            <a:lvl4pPr>
              <a:defRPr sz="1575" b="1">
                <a:solidFill>
                  <a:srgbClr val="17334A"/>
                </a:solidFill>
                <a:latin typeface="Arial"/>
                <a:ea typeface="Arial"/>
                <a:cs typeface="Arial"/>
              </a:defRPr>
            </a:lvl4pPr>
            <a:lvl5pPr>
              <a:defRPr sz="1575" b="1">
                <a:solidFill>
                  <a:srgbClr val="17334A"/>
                </a:solidFill>
                <a:latin typeface="Arial"/>
                <a:ea typeface="Arial"/>
                <a:cs typeface="Arial"/>
              </a:defRPr>
            </a:lvl5pPr>
            <a:lvl6pPr>
              <a:defRPr sz="1575" b="1">
                <a:solidFill>
                  <a:srgbClr val="17334A"/>
                </a:solidFill>
                <a:latin typeface="Arial"/>
                <a:ea typeface="Arial"/>
                <a:cs typeface="Arial"/>
              </a:defRPr>
            </a:lvl6pPr>
            <a:lvl7pPr>
              <a:defRPr sz="1575" b="1">
                <a:solidFill>
                  <a:srgbClr val="17334A"/>
                </a:solidFill>
                <a:latin typeface="Arial"/>
                <a:ea typeface="Arial"/>
                <a:cs typeface="Arial"/>
              </a:defRPr>
            </a:lvl7pPr>
            <a:lvl8pPr>
              <a:defRPr sz="1575" b="1">
                <a:solidFill>
                  <a:srgbClr val="17334A"/>
                </a:solidFill>
                <a:latin typeface="Arial"/>
                <a:ea typeface="Arial"/>
                <a:cs typeface="Arial"/>
              </a:defRPr>
            </a:lvl8pPr>
            <a:lvl9pPr>
              <a:defRPr sz="1575" b="1">
                <a:solidFill>
                  <a:srgbClr val="17334A"/>
                </a:solidFill>
                <a:latin typeface="Arial"/>
                <a:ea typeface="Arial"/>
                <a:cs typeface="Arial"/>
              </a:defRPr>
            </a:lvl9pPr>
          </a:lstStyle>
          <a:p>
            <a:pPr>
              <a:defRPr sz="1575" b="1">
                <a:solidFill>
                  <a:srgbClr val="17334A"/>
                </a:solidFill>
                <a:latin typeface="Arial"/>
                <a:ea typeface="Arial"/>
                <a:cs typeface="Arial"/>
              </a:defRPr>
            </a:pPr>
            <a:r>
              <a:rPr sz="1575" b="1">
                <a:solidFill>
                  <a:srgbClr val="17334A"/>
                </a:solidFill>
                <a:latin typeface="Arial"/>
                <a:ea typeface="Arial"/>
                <a:cs typeface="Arial"/>
              </a:rPr>
              <a:t>3  Record a human decision</a:t>
            </a:r>
          </a:p>
          <a:p>
            <a:pPr>
              <a:defRPr sz="1575" b="1">
                <a:solidFill>
                  <a:srgbClr val="17334A"/>
                </a:solidFill>
                <a:latin typeface="Arial"/>
                <a:ea typeface="Arial"/>
                <a:cs typeface="Arial"/>
              </a:defRPr>
            </a:pPr>
            <a:r>
              <a:rPr sz="1575" b="1">
                <a:solidFill>
                  <a:srgbClr val="17334A"/>
                </a:solidFill>
                <a:latin typeface="Arial"/>
                <a:ea typeface="Arial"/>
                <a:cs typeface="Arial"/>
              </a:rPr>
              <a:t>    Prepare the team handoff</a:t>
            </a:r>
          </a:p>
        </p:txBody>
      </p:sp>
    </p:spTree>
    <p:extLst>
      <p:ext uri="{BB962C8B-B14F-4D97-AF65-F5344CB8AC3E}">
        <ns4:creationId val="444794174"/>
      </p:ext>
    </p:extLst>
  </p:cSld>
</p:sld>
</file>

<file path=ppt/slides/slide6.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46443A4-7453-4D52-91D3-8447CB9DAA6D}"/>
              </a:ext>
            </a:extLst>
          </p:cNvPr>
          <p:cNvPicPr>
            <a:picLocks xmlns:a="http://schemas.openxmlformats.org/drawingml/2006/main" noChangeAspect="1"/>
          </p:cNvPicPr>
          <p:nvPr/>
        </p:nvPicPr>
        <p:blipFill>
          <a:blip xmlns:r="http://schemas.openxmlformats.org/officeDocument/2006/relationships" xmlns:a="http://schemas.openxmlformats.org/drawingml/2006/main" r:embed="R578aa70e5e9146e2"/>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6-0">
            <a:extLst xmlns:a="http://schemas.openxmlformats.org/drawingml/2006/main">
              <a:ext uri="{FF2B5EF4-FFF2-40B4-BE49-F238E27FC236}">
                <a16:creationId xmlns:a16="http://schemas.microsoft.com/office/drawing/2014/main" id="{42AD12EC-F669-4830-AE7E-492A8FCD81D9}"/>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01191CFE-FF15-425B-BCFB-A30067E501DE}"/>
              </a:ext>
            </a:extLst>
          </p:cNvPr>
          <p:cNvPicPr>
            <a:picLocks xmlns:a="http://schemas.openxmlformats.org/drawingml/2006/main" noChangeAspect="1"/>
          </p:cNvPicPr>
          <p:nvPr/>
        </p:nvPicPr>
        <p:blipFill>
          <a:blip xmlns:r="http://schemas.openxmlformats.org/officeDocument/2006/relationships" xmlns:a="http://schemas.openxmlformats.org/drawingml/2006/main" r:embed="Ree3b62067a1b4908"/>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6-1">
            <a:extLst xmlns:a="http://schemas.openxmlformats.org/drawingml/2006/main">
              <a:ext uri="{FF2B5EF4-FFF2-40B4-BE49-F238E27FC236}">
                <a16:creationId xmlns:a16="http://schemas.microsoft.com/office/drawing/2014/main" id="{E823B472-82F6-4D4A-8164-105A1A42E8D8}"/>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03 ARCHITECTURE / SYSTEM OVERVIEW</a:t>
            </a:r>
          </a:p>
        </p:txBody>
      </p:sp>
      <p:sp>
        <p:nvSpPr>
          <p:cNvPr id="5" name="text-6-2">
            <a:extLst xmlns:a="http://schemas.openxmlformats.org/drawingml/2006/main">
              <a:ext uri="{FF2B5EF4-FFF2-40B4-BE49-F238E27FC236}">
                <a16:creationId xmlns:a16="http://schemas.microsoft.com/office/drawing/2014/main" id="{2AE32C94-2A36-40F3-9329-3FB4175EF059}"/>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Role-specific RAG and a human review boundary</a:t>
            </a:r>
          </a:p>
        </p:txBody>
      </p:sp>
      <p:sp>
        <p:nvSpPr>
          <p:cNvPr id="6" name="text-6-3">
            <a:extLst xmlns:a="http://schemas.openxmlformats.org/drawingml/2006/main">
              <a:ext uri="{FF2B5EF4-FFF2-40B4-BE49-F238E27FC236}">
                <a16:creationId xmlns:a16="http://schemas.microsoft.com/office/drawing/2014/main" id="{ECFFB2E1-59DB-4C0A-8947-953A2AE17D9D}"/>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Feasibility · Originality</a:t>
            </a:r>
          </a:p>
        </p:txBody>
      </p:sp>
      <p:sp>
        <p:nvSpPr>
          <p:cNvPr id="7" name="text-6-4">
            <a:extLst xmlns:a="http://schemas.openxmlformats.org/drawingml/2006/main">
              <a:ext uri="{FF2B5EF4-FFF2-40B4-BE49-F238E27FC236}">
                <a16:creationId xmlns:a16="http://schemas.microsoft.com/office/drawing/2014/main" id="{A5FB1671-1ED1-4F81-AB89-4B3810B47B9E}"/>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06</a:t>
            </a:r>
          </a:p>
        </p:txBody>
      </p:sp>
      <p:graphicFrame>
        <p:nvGraphicFramePr>
          <p:cNvPr id="8" name="">
            <a:extLst xmlns:a="http://schemas.openxmlformats.org/drawingml/2006/main">
              <a:ext uri="{FF2B5EF4-FFF2-40B4-BE49-F238E27FC236}">
                <a16:creationId xmlns:a16="http://schemas.microsoft.com/office/drawing/2014/main" id="{88728111-3832-473C-B636-84D7F69181C8}"/>
              </a:ext>
            </a:extLst>
          </p:cNvPr>
          <p:cNvGraphicFramePr/>
          <p:nvPr/>
        </p:nvGraphicFramePr>
        <p:xfrm>
          <a:off xmlns:a="http://schemas.openxmlformats.org/drawingml/2006/main" x="619125" y="2619375"/>
          <a:ext xmlns:a="http://schemas.openxmlformats.org/drawingml/2006/main" cx="10953750" cy="2952750"/>
        </p:xfrm>
        <a:graphic xmlns:a="http://schemas.openxmlformats.org/drawingml/2006/main">
          <a:graphicData uri="http://schemas.openxmlformats.org/drawingml/2006/table">
            <a:tbl>
              <a:tblPr/>
              <a:tblGrid>
                <a:gridCol w="2095500"/>
                <a:gridCol w="4095750"/>
                <a:gridCol w="4762500"/>
              </a:tblGrid>
              <a:tr h="492125">
                <a:tc>
                  <a:txBody>
                    <a:bodyPr lIns="133350" tIns="104775" rIns="114300" bIns="76200"/>
                    <a:lstStyle/>
                    <a:p>
                      <a:r>
                        <a:rPr sz="1500" b="1">
                          <a:solidFill>
                            <a:srgbClr val="FFFFFF"/>
                          </a:solidFill>
                          <a:latin typeface="Arial"/>
                          <a:ea typeface="Arial"/>
                          <a:cs typeface="Arial"/>
                        </a:rPr>
                        <a:t>Stage</a:t>
                      </a:r>
                    </a:p>
                  </a:txBody>
                  <a:tcPr marL="91440" marR="91440" marT="45720" marB="45720" anchor="ctr">
                    <a:lnL w="5715">
                      <a:solidFill>
                        <a:srgbClr val="DFE7D7"/>
                      </a:solidFill>
                      <a:prstDash val="solid"/>
                    </a:lnL>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104775" rIns="114300" bIns="76200"/>
                    <a:lstStyle/>
                    <a:p>
                      <a:r>
                        <a:rPr sz="1500" b="1">
                          <a:solidFill>
                            <a:srgbClr val="FFFFFF"/>
                          </a:solidFill>
                          <a:latin typeface="Arial"/>
                          <a:ea typeface="Arial"/>
                          <a:cs typeface="Arial"/>
                        </a:rPr>
                        <a:t>Working prototype</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104775" rIns="114300" bIns="76200"/>
                    <a:lstStyle/>
                    <a:p>
                      <a:r>
                        <a:rPr sz="1500" b="1">
                          <a:solidFill>
                            <a:srgbClr val="FFFFFF"/>
                          </a:solidFill>
                          <a:latin typeface="Arial"/>
                          <a:ea typeface="Arial"/>
                          <a:cs typeface="Arial"/>
                        </a:rPr>
                        <a:t>Pilot extension</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r>
              <a:tr h="492125">
                <a:tc>
                  <a:txBody>
                    <a:bodyPr lIns="133350" tIns="104775" rIns="114300" bIns="76200"/>
                    <a:lstStyle/>
                    <a:p>
                      <a:r>
                        <a:rPr sz="1500" b="1">
                          <a:solidFill>
                            <a:srgbClr val="17334A"/>
                          </a:solidFill>
                          <a:latin typeface="Arial"/>
                          <a:ea typeface="Arial"/>
                          <a:cs typeface="Arial"/>
                        </a:rPr>
                        <a:t>Signals</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Multilingual synthetic records</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Licensed feeds, redaction, deduplication</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492125">
                <a:tc>
                  <a:txBody>
                    <a:bodyPr lIns="133350" tIns="104775" rIns="114300" bIns="76200"/>
                    <a:lstStyle/>
                    <a:p>
                      <a:r>
                        <a:rPr sz="1500" b="1">
                          <a:solidFill>
                            <a:srgbClr val="17334A"/>
                          </a:solidFill>
                          <a:latin typeface="Arial"/>
                          <a:ea typeface="Arial"/>
                          <a:cs typeface="Arial"/>
                        </a:rPr>
                        <a:t>Interpretation</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Authored agent perspectives</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Media, regulatory and local-language agents</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492125">
                <a:tc>
                  <a:txBody>
                    <a:bodyPr lIns="133350" tIns="104775" rIns="114300" bIns="76200"/>
                    <a:lstStyle/>
                    <a:p>
                      <a:r>
                        <a:rPr sz="1500" b="1">
                          <a:solidFill>
                            <a:srgbClr val="17334A"/>
                          </a:solidFill>
                          <a:latin typeface="Arial"/>
                          <a:ea typeface="Arial"/>
                          <a:cs typeface="Arial"/>
                        </a:rPr>
                        <a:t>Knowledge</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Role-filtered retrieval (RAG context)</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Permission-filtered hybrid / vector retrieval</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492125">
                <a:tc>
                  <a:txBody>
                    <a:bodyPr lIns="133350" tIns="104775" rIns="114300" bIns="76200"/>
                    <a:lstStyle/>
                    <a:p>
                      <a:r>
                        <a:rPr sz="1500" b="1">
                          <a:solidFill>
                            <a:srgbClr val="17334A"/>
                          </a:solidFill>
                          <a:latin typeface="Arial"/>
                          <a:ea typeface="Arial"/>
                          <a:cs typeface="Arial"/>
                        </a:rPr>
                        <a:t>Recommendations</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Ranking; optional local Qwen3</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Evaluated generation with source tracing</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492125">
                <a:tc>
                  <a:txBody>
                    <a:bodyPr lIns="133350" tIns="104775" rIns="114300" bIns="76200"/>
                    <a:lstStyle/>
                    <a:p>
                      <a:r>
                        <a:rPr sz="1500" b="1">
                          <a:solidFill>
                            <a:srgbClr val="17334A"/>
                          </a:solidFill>
                          <a:latin typeface="Arial"/>
                          <a:ea typeface="Arial"/>
                          <a:cs typeface="Arial"/>
                        </a:rPr>
                        <a:t>Decision</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Human review + Outlook / CSV</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SSO, mailbox and ERP connectors</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bl>
          </a:graphicData>
        </a:graphic>
      </p:graphicFrame>
      <p:sp>
        <p:nvSpPr>
          <p:cNvPr id="9" name="text-6-5">
            <a:extLst xmlns:a="http://schemas.openxmlformats.org/drawingml/2006/main">
              <a:ext uri="{FF2B5EF4-FFF2-40B4-BE49-F238E27FC236}">
                <a16:creationId xmlns:a16="http://schemas.microsoft.com/office/drawing/2014/main" id="{97C17107-DA8A-4148-B076-C77EAC4E7726}"/>
              </a:ext>
            </a:extLst>
          </p:cNvPr>
          <p:cNvSpPr>
            <a:spLocks xmlns:a="http://schemas.openxmlformats.org/drawingml/2006/main" noGrp="1"/>
          </p:cNvSpPr>
          <p:nvPr/>
        </p:nvSpPr>
        <p:spPr>
          <a:xfrm xmlns:a="http://schemas.openxmlformats.org/drawingml/2006/main">
            <a:off x="619125" y="58007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3F682E"/>
                </a:solidFill>
                <a:latin typeface="Arial"/>
                <a:ea typeface="Arial"/>
                <a:cs typeface="Arial"/>
              </a:defRPr>
            </a:defPPr>
            <a:lvl1pPr>
              <a:defRPr sz="1650" b="1">
                <a:solidFill>
                  <a:srgbClr val="3F682E"/>
                </a:solidFill>
                <a:latin typeface="Arial"/>
                <a:ea typeface="Arial"/>
                <a:cs typeface="Arial"/>
              </a:defRPr>
            </a:lvl1pPr>
            <a:lvl2pPr>
              <a:defRPr sz="1650" b="1">
                <a:solidFill>
                  <a:srgbClr val="3F682E"/>
                </a:solidFill>
                <a:latin typeface="Arial"/>
                <a:ea typeface="Arial"/>
                <a:cs typeface="Arial"/>
              </a:defRPr>
            </a:lvl2pPr>
            <a:lvl3pPr>
              <a:defRPr sz="1650" b="1">
                <a:solidFill>
                  <a:srgbClr val="3F682E"/>
                </a:solidFill>
                <a:latin typeface="Arial"/>
                <a:ea typeface="Arial"/>
                <a:cs typeface="Arial"/>
              </a:defRPr>
            </a:lvl3pPr>
            <a:lvl4pPr>
              <a:defRPr sz="1650" b="1">
                <a:solidFill>
                  <a:srgbClr val="3F682E"/>
                </a:solidFill>
                <a:latin typeface="Arial"/>
                <a:ea typeface="Arial"/>
                <a:cs typeface="Arial"/>
              </a:defRPr>
            </a:lvl4pPr>
            <a:lvl5pPr>
              <a:defRPr sz="1650" b="1">
                <a:solidFill>
                  <a:srgbClr val="3F682E"/>
                </a:solidFill>
                <a:latin typeface="Arial"/>
                <a:ea typeface="Arial"/>
                <a:cs typeface="Arial"/>
              </a:defRPr>
            </a:lvl5pPr>
            <a:lvl6pPr>
              <a:defRPr sz="1650" b="1">
                <a:solidFill>
                  <a:srgbClr val="3F682E"/>
                </a:solidFill>
                <a:latin typeface="Arial"/>
                <a:ea typeface="Arial"/>
                <a:cs typeface="Arial"/>
              </a:defRPr>
            </a:lvl6pPr>
            <a:lvl7pPr>
              <a:defRPr sz="1650" b="1">
                <a:solidFill>
                  <a:srgbClr val="3F682E"/>
                </a:solidFill>
                <a:latin typeface="Arial"/>
                <a:ea typeface="Arial"/>
                <a:cs typeface="Arial"/>
              </a:defRPr>
            </a:lvl7pPr>
            <a:lvl8pPr>
              <a:defRPr sz="1650" b="1">
                <a:solidFill>
                  <a:srgbClr val="3F682E"/>
                </a:solidFill>
                <a:latin typeface="Arial"/>
                <a:ea typeface="Arial"/>
                <a:cs typeface="Arial"/>
              </a:defRPr>
            </a:lvl8pPr>
            <a:lvl9pPr>
              <a:defRPr sz="1650" b="1">
                <a:solidFill>
                  <a:srgbClr val="3F682E"/>
                </a:solidFill>
                <a:latin typeface="Arial"/>
                <a:ea typeface="Arial"/>
                <a:cs typeface="Arial"/>
              </a:defRPr>
            </a:lvl9pPr>
          </a:lstStyle>
          <a:p xmlns:a="http://schemas.openxmlformats.org/drawingml/2006/main">
            <a:pPr>
              <a:defRPr sz="1650" b="1">
                <a:solidFill>
                  <a:srgbClr val="3F682E"/>
                </a:solidFill>
                <a:latin typeface="Arial"/>
                <a:ea typeface="Arial"/>
                <a:cs typeface="Arial"/>
              </a:defRPr>
            </a:pPr>
            <a:r>
              <a:rPr sz="1650" b="1">
                <a:solidFill>
                  <a:srgbClr val="3F682E"/>
                </a:solidFill>
                <a:latin typeface="Arial"/>
                <a:ea typeface="Arial"/>
                <a:cs typeface="Arial"/>
              </a:rPr>
              <a:t>Context: reviewed policies, agricultural knowledge, historical cases and expert interviews.</a:t>
            </a:r>
          </a:p>
        </p:txBody>
      </p:sp>
    </p:spTree>
    <p:extLst>
      <p:ext uri="{BB962C8B-B14F-4D97-AF65-F5344CB8AC3E}">
        <p14:creationId xmlns:p14="http://schemas.microsoft.com/office/powerpoint/2010/main" val="1935333879"/>
      </p:ext>
    </p:extLst>
  </p:cSld>
</p:sld>
</file>

<file path=ppt/slides/slide7.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82A79EEF-AC91-479B-B80A-B9AC1FF4260C}"/>
              </a:ext>
            </a:extLst>
          </p:cNvPr>
          <p:cNvPicPr>
            <a:picLocks xmlns:a="http://schemas.openxmlformats.org/drawingml/2006/main" noChangeAspect="1"/>
          </p:cNvPicPr>
          <p:nvPr/>
        </p:nvPicPr>
        <p:blipFill>
          <a:blip xmlns:r="http://schemas.openxmlformats.org/officeDocument/2006/relationships" xmlns:a="http://schemas.openxmlformats.org/drawingml/2006/main" r:embed="Rd58f0051234c4aa1"/>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7-0">
            <a:extLst xmlns:a="http://schemas.openxmlformats.org/drawingml/2006/main">
              <a:ext uri="{FF2B5EF4-FFF2-40B4-BE49-F238E27FC236}">
                <a16:creationId xmlns:a16="http://schemas.microsoft.com/office/drawing/2014/main" id="{055FF062-A15B-4C63-9453-FF56CDD26F9A}"/>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635BCFD6-F0D7-4A11-AB80-F31185456A70}"/>
              </a:ext>
            </a:extLst>
          </p:cNvPr>
          <p:cNvPicPr>
            <a:picLocks xmlns:a="http://schemas.openxmlformats.org/drawingml/2006/main" noChangeAspect="1"/>
          </p:cNvPicPr>
          <p:nvPr/>
        </p:nvPicPr>
        <p:blipFill>
          <a:blip xmlns:r="http://schemas.openxmlformats.org/officeDocument/2006/relationships" xmlns:a="http://schemas.openxmlformats.org/drawingml/2006/main" r:embed="Rae167ca7b81e4863"/>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7-1">
            <a:extLst xmlns:a="http://schemas.openxmlformats.org/drawingml/2006/main">
              <a:ext uri="{FF2B5EF4-FFF2-40B4-BE49-F238E27FC236}">
                <a16:creationId xmlns:a16="http://schemas.microsoft.com/office/drawing/2014/main" id="{6C089A33-5727-4A1C-B738-426FECE6FB9A}"/>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03 ARCHITECTURE / TECHNICAL LOGIC</a:t>
            </a:r>
          </a:p>
        </p:txBody>
      </p:sp>
      <p:sp>
        <p:nvSpPr>
          <p:cNvPr id="5" name="text-7-2">
            <a:extLst xmlns:a="http://schemas.openxmlformats.org/drawingml/2006/main">
              <a:ext uri="{FF2B5EF4-FFF2-40B4-BE49-F238E27FC236}">
                <a16:creationId xmlns:a16="http://schemas.microsoft.com/office/drawing/2014/main" id="{94D80EEB-9F57-476D-AD1B-E1732F096FFF}"/>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How evidence becomes a recommendation</a:t>
            </a:r>
          </a:p>
        </p:txBody>
      </p:sp>
      <p:sp>
        <p:nvSpPr>
          <p:cNvPr id="6" name="text-7-3">
            <a:extLst xmlns:a="http://schemas.openxmlformats.org/drawingml/2006/main">
              <a:ext uri="{FF2B5EF4-FFF2-40B4-BE49-F238E27FC236}">
                <a16:creationId xmlns:a16="http://schemas.microsoft.com/office/drawing/2014/main" id="{D5B9B240-C410-46C6-B95B-3CDA6AA53DF4}"/>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Feasibility · Originality</a:t>
            </a:r>
          </a:p>
        </p:txBody>
      </p:sp>
      <p:sp>
        <p:nvSpPr>
          <p:cNvPr id="7" name="text-7-4">
            <a:extLst xmlns:a="http://schemas.openxmlformats.org/drawingml/2006/main">
              <a:ext uri="{FF2B5EF4-FFF2-40B4-BE49-F238E27FC236}">
                <a16:creationId xmlns:a16="http://schemas.microsoft.com/office/drawing/2014/main" id="{1945753B-D812-4DFC-9331-C040A8A0ED87}"/>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07</a:t>
            </a:r>
          </a:p>
        </p:txBody>
      </p:sp>
      <p:sp>
        <p:nvSpPr>
          <p:cNvPr id="8" name="text-7-5">
            <a:extLst xmlns:a="http://schemas.openxmlformats.org/drawingml/2006/main">
              <a:ext uri="{FF2B5EF4-FFF2-40B4-BE49-F238E27FC236}">
                <a16:creationId xmlns:a16="http://schemas.microsoft.com/office/drawing/2014/main" id="{E1F797C0-3FCB-4F27-B706-0B8EB80C1B39}"/>
              </a:ext>
            </a:extLst>
          </p:cNvPr>
          <p:cNvSpPr>
            <a:spLocks xmlns:a="http://schemas.openxmlformats.org/drawingml/2006/main" noGrp="1"/>
          </p:cNvSpPr>
          <p:nvPr/>
        </p:nvSpPr>
        <p:spPr>
          <a:xfrm xmlns:a="http://schemas.openxmlformats.org/drawingml/2006/main">
            <a:off x="619125" y="257175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01</a:t>
            </a:r>
          </a:p>
        </p:txBody>
      </p:sp>
      <p:sp>
        <p:nvSpPr>
          <p:cNvPr id="9" name="text-7-6">
            <a:extLst xmlns:a="http://schemas.openxmlformats.org/drawingml/2006/main">
              <a:ext uri="{FF2B5EF4-FFF2-40B4-BE49-F238E27FC236}">
                <a16:creationId xmlns:a16="http://schemas.microsoft.com/office/drawing/2014/main" id="{3B22F4F7-17A9-4D1B-923D-35B9C8A5D7CD}"/>
              </a:ext>
            </a:extLst>
          </p:cNvPr>
          <p:cNvSpPr>
            <a:spLocks xmlns:a="http://schemas.openxmlformats.org/drawingml/2006/main" noGrp="1"/>
          </p:cNvSpPr>
          <p:nvPr/>
        </p:nvSpPr>
        <p:spPr>
          <a:xfrm xmlns:a="http://schemas.openxmlformats.org/drawingml/2006/main">
            <a:off x="1333500" y="25717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Retrieve the right context</a:t>
            </a:r>
          </a:p>
        </p:txBody>
      </p:sp>
      <p:sp>
        <p:nvSpPr>
          <p:cNvPr id="10" name="text-7-7">
            <a:extLst xmlns:a="http://schemas.openxmlformats.org/drawingml/2006/main">
              <a:ext uri="{FF2B5EF4-FFF2-40B4-BE49-F238E27FC236}">
                <a16:creationId xmlns:a16="http://schemas.microsoft.com/office/drawing/2014/main" id="{EE795D63-4A56-4886-9FD5-1D8B435BE215}"/>
              </a:ext>
            </a:extLst>
          </p:cNvPr>
          <p:cNvSpPr>
            <a:spLocks xmlns:a="http://schemas.openxmlformats.org/drawingml/2006/main" noGrp="1"/>
          </p:cNvSpPr>
          <p:nvPr/>
        </p:nvSpPr>
        <p:spPr>
          <a:xfrm xmlns:a="http://schemas.openxmlformats.org/drawingml/2006/main">
            <a:off x="5095875" y="258127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Role + scenario filter → lexical search. Show sources before drawing conclusions.</a:t>
            </a:r>
          </a:p>
        </p:txBody>
      </p:sp>
      <p:sp>
        <p:nvSpPr>
          <p:cNvPr id="11" name="text-7-8">
            <a:extLst xmlns:a="http://schemas.openxmlformats.org/drawingml/2006/main">
              <a:ext uri="{FF2B5EF4-FFF2-40B4-BE49-F238E27FC236}">
                <a16:creationId xmlns:a16="http://schemas.microsoft.com/office/drawing/2014/main" id="{A00CB637-41E2-4039-BEB3-AF5761A30C03}"/>
              </a:ext>
            </a:extLst>
          </p:cNvPr>
          <p:cNvSpPr>
            <a:spLocks xmlns:a="http://schemas.openxmlformats.org/drawingml/2006/main" noGrp="1"/>
          </p:cNvSpPr>
          <p:nvPr/>
        </p:nvSpPr>
        <p:spPr>
          <a:xfrm xmlns:a="http://schemas.openxmlformats.org/drawingml/2006/main">
            <a:off x="619125" y="361950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02</a:t>
            </a:r>
          </a:p>
        </p:txBody>
      </p:sp>
      <p:sp>
        <p:nvSpPr>
          <p:cNvPr id="12" name="text-7-9">
            <a:extLst xmlns:a="http://schemas.openxmlformats.org/drawingml/2006/main">
              <a:ext uri="{FF2B5EF4-FFF2-40B4-BE49-F238E27FC236}">
                <a16:creationId xmlns:a16="http://schemas.microsoft.com/office/drawing/2014/main" id="{566FFABF-DE05-4B77-B33A-D9FF65D73A38}"/>
              </a:ext>
            </a:extLst>
          </p:cNvPr>
          <p:cNvSpPr>
            <a:spLocks xmlns:a="http://schemas.openxmlformats.org/drawingml/2006/main" noGrp="1"/>
          </p:cNvSpPr>
          <p:nvPr/>
        </p:nvSpPr>
        <p:spPr>
          <a:xfrm xmlns:a="http://schemas.openxmlformats.org/drawingml/2006/main">
            <a:off x="1333500" y="361950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Make priorities explicit</a:t>
            </a:r>
          </a:p>
        </p:txBody>
      </p:sp>
      <p:sp>
        <p:nvSpPr>
          <p:cNvPr id="13" name="text-7-10">
            <a:extLst xmlns:a="http://schemas.openxmlformats.org/drawingml/2006/main">
              <a:ext uri="{FF2B5EF4-FFF2-40B4-BE49-F238E27FC236}">
                <a16:creationId xmlns:a16="http://schemas.microsoft.com/office/drawing/2014/main" id="{41376501-2E36-4B85-8D9F-D09D40CE67B7}"/>
              </a:ext>
            </a:extLst>
          </p:cNvPr>
          <p:cNvSpPr>
            <a:spLocks xmlns:a="http://schemas.openxmlformats.org/drawingml/2006/main" noGrp="1"/>
          </p:cNvSpPr>
          <p:nvPr/>
        </p:nvSpPr>
        <p:spPr>
          <a:xfrm xmlns:a="http://schemas.openxmlformats.org/drawingml/2006/main">
            <a:off x="5095875" y="362902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Impact, urgency, momentum and relevance. Editable weights, not probabilities.</a:t>
            </a:r>
          </a:p>
        </p:txBody>
      </p:sp>
      <p:sp>
        <p:nvSpPr>
          <p:cNvPr id="14" name="text-7-11">
            <a:extLst xmlns:a="http://schemas.openxmlformats.org/drawingml/2006/main">
              <a:ext uri="{FF2B5EF4-FFF2-40B4-BE49-F238E27FC236}">
                <a16:creationId xmlns:a16="http://schemas.microsoft.com/office/drawing/2014/main" id="{2258A987-9809-4ABE-AEAB-A1E38C85A666}"/>
              </a:ext>
            </a:extLst>
          </p:cNvPr>
          <p:cNvSpPr>
            <a:spLocks xmlns:a="http://schemas.openxmlformats.org/drawingml/2006/main" noGrp="1"/>
          </p:cNvSpPr>
          <p:nvPr/>
        </p:nvSpPr>
        <p:spPr>
          <a:xfrm xmlns:a="http://schemas.openxmlformats.org/drawingml/2006/main">
            <a:off x="619125" y="466725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03</a:t>
            </a:r>
          </a:p>
        </p:txBody>
      </p:sp>
      <p:sp>
        <p:nvSpPr>
          <p:cNvPr id="15" name="text-7-12">
            <a:extLst xmlns:a="http://schemas.openxmlformats.org/drawingml/2006/main">
              <a:ext uri="{FF2B5EF4-FFF2-40B4-BE49-F238E27FC236}">
                <a16:creationId xmlns:a16="http://schemas.microsoft.com/office/drawing/2014/main" id="{28435D3A-C8B4-4310-8B04-088B12B21831}"/>
              </a:ext>
            </a:extLst>
          </p:cNvPr>
          <p:cNvSpPr>
            <a:spLocks xmlns:a="http://schemas.openxmlformats.org/drawingml/2006/main" noGrp="1"/>
          </p:cNvSpPr>
          <p:nvPr/>
        </p:nvSpPr>
        <p:spPr>
          <a:xfrm xmlns:a="http://schemas.openxmlformats.org/drawingml/2006/main">
            <a:off x="1333500" y="46672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Explain with evidence</a:t>
            </a:r>
          </a:p>
        </p:txBody>
      </p:sp>
      <p:sp>
        <p:nvSpPr>
          <p:cNvPr id="16" name="text-7-13">
            <a:extLst xmlns:a="http://schemas.openxmlformats.org/drawingml/2006/main">
              <a:ext uri="{FF2B5EF4-FFF2-40B4-BE49-F238E27FC236}">
                <a16:creationId xmlns:a16="http://schemas.microsoft.com/office/drawing/2014/main" id="{75A2FF93-5C22-4A02-87CD-A9D22E96173F}"/>
              </a:ext>
            </a:extLst>
          </p:cNvPr>
          <p:cNvSpPr>
            <a:spLocks xmlns:a="http://schemas.openxmlformats.org/drawingml/2006/main" noGrp="1"/>
          </p:cNvSpPr>
          <p:nvPr/>
        </p:nvSpPr>
        <p:spPr>
          <a:xfrm xmlns:a="http://schemas.openxmlformats.org/drawingml/2006/main">
            <a:off x="5095875" y="467677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Source excerpts online; optional Qwen3 via Ollama. A person checks the citations.</a:t>
            </a:r>
          </a:p>
        </p:txBody>
      </p:sp>
      <p:sp>
        <p:nvSpPr>
          <p:cNvPr id="17" name="text-7-14">
            <a:extLst xmlns:a="http://schemas.openxmlformats.org/drawingml/2006/main">
              <a:ext uri="{FF2B5EF4-FFF2-40B4-BE49-F238E27FC236}">
                <a16:creationId xmlns:a16="http://schemas.microsoft.com/office/drawing/2014/main" id="{E912EF64-23E5-40F9-A644-9FE90EF1C4B6}"/>
              </a:ext>
            </a:extLst>
          </p:cNvPr>
          <p:cNvSpPr>
            <a:spLocks xmlns:a="http://schemas.openxmlformats.org/drawingml/2006/main" noGrp="1"/>
          </p:cNvSpPr>
          <p:nvPr/>
        </p:nvSpPr>
        <p:spPr>
          <a:xfrm xmlns:a="http://schemas.openxmlformats.org/drawingml/2006/main">
            <a:off x="619125" y="58674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3F682E"/>
                </a:solidFill>
                <a:latin typeface="Arial"/>
                <a:ea typeface="Arial"/>
                <a:cs typeface="Arial"/>
              </a:defRPr>
            </a:defPPr>
            <a:lvl1pPr>
              <a:defRPr sz="1725" b="1">
                <a:solidFill>
                  <a:srgbClr val="3F682E"/>
                </a:solidFill>
                <a:latin typeface="Arial"/>
                <a:ea typeface="Arial"/>
                <a:cs typeface="Arial"/>
              </a:defRPr>
            </a:lvl1pPr>
            <a:lvl2pPr>
              <a:defRPr sz="1725" b="1">
                <a:solidFill>
                  <a:srgbClr val="3F682E"/>
                </a:solidFill>
                <a:latin typeface="Arial"/>
                <a:ea typeface="Arial"/>
                <a:cs typeface="Arial"/>
              </a:defRPr>
            </a:lvl2pPr>
            <a:lvl3pPr>
              <a:defRPr sz="1725" b="1">
                <a:solidFill>
                  <a:srgbClr val="3F682E"/>
                </a:solidFill>
                <a:latin typeface="Arial"/>
                <a:ea typeface="Arial"/>
                <a:cs typeface="Arial"/>
              </a:defRPr>
            </a:lvl3pPr>
            <a:lvl4pPr>
              <a:defRPr sz="1725" b="1">
                <a:solidFill>
                  <a:srgbClr val="3F682E"/>
                </a:solidFill>
                <a:latin typeface="Arial"/>
                <a:ea typeface="Arial"/>
                <a:cs typeface="Arial"/>
              </a:defRPr>
            </a:lvl4pPr>
            <a:lvl5pPr>
              <a:defRPr sz="1725" b="1">
                <a:solidFill>
                  <a:srgbClr val="3F682E"/>
                </a:solidFill>
                <a:latin typeface="Arial"/>
                <a:ea typeface="Arial"/>
                <a:cs typeface="Arial"/>
              </a:defRPr>
            </a:lvl5pPr>
            <a:lvl6pPr>
              <a:defRPr sz="1725" b="1">
                <a:solidFill>
                  <a:srgbClr val="3F682E"/>
                </a:solidFill>
                <a:latin typeface="Arial"/>
                <a:ea typeface="Arial"/>
                <a:cs typeface="Arial"/>
              </a:defRPr>
            </a:lvl6pPr>
            <a:lvl7pPr>
              <a:defRPr sz="1725" b="1">
                <a:solidFill>
                  <a:srgbClr val="3F682E"/>
                </a:solidFill>
                <a:latin typeface="Arial"/>
                <a:ea typeface="Arial"/>
                <a:cs typeface="Arial"/>
              </a:defRPr>
            </a:lvl7pPr>
            <a:lvl8pPr>
              <a:defRPr sz="1725" b="1">
                <a:solidFill>
                  <a:srgbClr val="3F682E"/>
                </a:solidFill>
                <a:latin typeface="Arial"/>
                <a:ea typeface="Arial"/>
                <a:cs typeface="Arial"/>
              </a:defRPr>
            </a:lvl8pPr>
            <a:lvl9pPr>
              <a:defRPr sz="1725" b="1">
                <a:solidFill>
                  <a:srgbClr val="3F682E"/>
                </a:solidFill>
                <a:latin typeface="Arial"/>
                <a:ea typeface="Arial"/>
                <a:cs typeface="Arial"/>
              </a:defRPr>
            </a:lvl9pPr>
          </a:lstStyle>
          <a:p xmlns:a="http://schemas.openxmlformats.org/drawingml/2006/main">
            <a:pPr>
              <a:defRPr sz="1725" b="1">
                <a:solidFill>
                  <a:srgbClr val="3F682E"/>
                </a:solidFill>
                <a:latin typeface="Arial"/>
                <a:ea typeface="Arial"/>
                <a:cs typeface="Arial"/>
              </a:defRPr>
            </a:pPr>
            <a:r>
              <a:rPr sz="1725" b="1">
                <a:solidFill>
                  <a:srgbClr val="3F682E"/>
                </a:solidFill>
                <a:latin typeface="Arial"/>
                <a:ea typeface="Arial"/>
                <a:cs typeface="Arial"/>
              </a:rPr>
              <a:t>Risk priority = weighted average of four 1–5 ratings, scaled to 100.</a:t>
            </a:r>
          </a:p>
        </p:txBody>
      </p:sp>
      <p:sp>
        <p:nvSpPr>
          <p:cNvPr id="18" name="text-7-15">
            <a:extLst xmlns:a="http://schemas.openxmlformats.org/drawingml/2006/main">
              <a:ext uri="{FF2B5EF4-FFF2-40B4-BE49-F238E27FC236}">
                <a16:creationId xmlns:a16="http://schemas.microsoft.com/office/drawing/2014/main" id="{72EAAA0E-1B66-4768-B000-6A4291EC2B76}"/>
              </a:ext>
            </a:extLst>
          </p:cNvPr>
          <p:cNvSpPr>
            <a:spLocks xmlns:a="http://schemas.openxmlformats.org/drawingml/2006/main" noGrp="1"/>
          </p:cNvSpPr>
          <p:nvPr/>
        </p:nvSpPr>
        <p:spPr>
          <a:xfrm xmlns:a="http://schemas.openxmlformats.org/drawingml/2006/main">
            <a:off x="619125" y="6257925"/>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07160"/>
                </a:solidFill>
                <a:latin typeface="Arial"/>
                <a:ea typeface="Arial"/>
                <a:cs typeface="Arial"/>
              </a:defRPr>
            </a:defPPr>
            <a:lvl1pPr>
              <a:defRPr sz="1125" b="0">
                <a:solidFill>
                  <a:srgbClr val="607160"/>
                </a:solidFill>
                <a:latin typeface="Arial"/>
                <a:ea typeface="Arial"/>
                <a:cs typeface="Arial"/>
              </a:defRPr>
            </a:lvl1pPr>
            <a:lvl2pPr>
              <a:defRPr sz="1125" b="0">
                <a:solidFill>
                  <a:srgbClr val="607160"/>
                </a:solidFill>
                <a:latin typeface="Arial"/>
                <a:ea typeface="Arial"/>
                <a:cs typeface="Arial"/>
              </a:defRPr>
            </a:lvl2pPr>
            <a:lvl3pPr>
              <a:defRPr sz="1125" b="0">
                <a:solidFill>
                  <a:srgbClr val="607160"/>
                </a:solidFill>
                <a:latin typeface="Arial"/>
                <a:ea typeface="Arial"/>
                <a:cs typeface="Arial"/>
              </a:defRPr>
            </a:lvl3pPr>
            <a:lvl4pPr>
              <a:defRPr sz="1125" b="0">
                <a:solidFill>
                  <a:srgbClr val="607160"/>
                </a:solidFill>
                <a:latin typeface="Arial"/>
                <a:ea typeface="Arial"/>
                <a:cs typeface="Arial"/>
              </a:defRPr>
            </a:lvl4pPr>
            <a:lvl5pPr>
              <a:defRPr sz="1125" b="0">
                <a:solidFill>
                  <a:srgbClr val="607160"/>
                </a:solidFill>
                <a:latin typeface="Arial"/>
                <a:ea typeface="Arial"/>
                <a:cs typeface="Arial"/>
              </a:defRPr>
            </a:lvl5pPr>
            <a:lvl6pPr>
              <a:defRPr sz="1125" b="0">
                <a:solidFill>
                  <a:srgbClr val="607160"/>
                </a:solidFill>
                <a:latin typeface="Arial"/>
                <a:ea typeface="Arial"/>
                <a:cs typeface="Arial"/>
              </a:defRPr>
            </a:lvl6pPr>
            <a:lvl7pPr>
              <a:defRPr sz="1125" b="0">
                <a:solidFill>
                  <a:srgbClr val="607160"/>
                </a:solidFill>
                <a:latin typeface="Arial"/>
                <a:ea typeface="Arial"/>
                <a:cs typeface="Arial"/>
              </a:defRPr>
            </a:lvl7pPr>
            <a:lvl8pPr>
              <a:defRPr sz="1125" b="0">
                <a:solidFill>
                  <a:srgbClr val="607160"/>
                </a:solidFill>
                <a:latin typeface="Arial"/>
                <a:ea typeface="Arial"/>
                <a:cs typeface="Arial"/>
              </a:defRPr>
            </a:lvl8pPr>
            <a:lvl9pPr>
              <a:defRPr sz="1125" b="0">
                <a:solidFill>
                  <a:srgbClr val="607160"/>
                </a:solidFill>
                <a:latin typeface="Arial"/>
                <a:ea typeface="Arial"/>
                <a:cs typeface="Arial"/>
              </a:defRPr>
            </a:lvl9pPr>
          </a:lstStyle>
          <a:p xmlns:a="http://schemas.openxmlformats.org/drawingml/2006/main">
            <a:pPr>
              <a:defRPr sz="1125" b="0">
                <a:solidFill>
                  <a:srgbClr val="607160"/>
                </a:solidFill>
                <a:latin typeface="Arial"/>
                <a:ea typeface="Arial"/>
                <a:cs typeface="Arial"/>
              </a:defRPr>
            </a:pPr>
            <a:r>
              <a:rPr sz="1125" b="0">
                <a:solidFill>
                  <a:srgbClr val="607160"/>
                </a:solidFill>
                <a:latin typeface="Arial"/>
                <a:ea typeface="Arial"/>
                <a:cs typeface="Arial"/>
              </a:rPr>
              <a:t>Action ranking uses separate evidence / trust / speed preferences. No model retraining is required.</a:t>
            </a:r>
          </a:p>
        </p:txBody>
      </p:sp>
    </p:spTree>
    <p:extLst>
      <p:ext uri="{BB962C8B-B14F-4D97-AF65-F5344CB8AC3E}">
        <p14:creationId xmlns:p14="http://schemas.microsoft.com/office/powerpoint/2010/main" val="641682847"/>
      </p:ext>
    </p:extLst>
  </p:cSld>
</p:sld>
</file>

<file path=ppt/slides/slide8.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A0B6D72D-9F29-4160-A9D2-F861A3C7628A}"/>
              </a:ext>
            </a:extLst>
          </p:cNvPr>
          <p:cNvPicPr>
            <a:picLocks xmlns:a="http://schemas.openxmlformats.org/drawingml/2006/main" noChangeAspect="1"/>
          </p:cNvPicPr>
          <p:nvPr/>
        </p:nvPicPr>
        <p:blipFill>
          <a:blip xmlns:r="http://schemas.openxmlformats.org/officeDocument/2006/relationships" xmlns:a="http://schemas.openxmlformats.org/drawingml/2006/main" r:embed="Rd396c305849a48d0"/>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8-0">
            <a:extLst xmlns:a="http://schemas.openxmlformats.org/drawingml/2006/main">
              <a:ext uri="{FF2B5EF4-FFF2-40B4-BE49-F238E27FC236}">
                <a16:creationId xmlns:a16="http://schemas.microsoft.com/office/drawing/2014/main" id="{518B29F5-DF23-4159-803F-71A68EBBD7F9}"/>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EBD1BFBB-223A-4E50-BFF9-9C8274F759D9}"/>
              </a:ext>
            </a:extLst>
          </p:cNvPr>
          <p:cNvPicPr>
            <a:picLocks xmlns:a="http://schemas.openxmlformats.org/drawingml/2006/main" noChangeAspect="1"/>
          </p:cNvPicPr>
          <p:nvPr/>
        </p:nvPicPr>
        <p:blipFill>
          <a:blip xmlns:r="http://schemas.openxmlformats.org/officeDocument/2006/relationships" xmlns:a="http://schemas.openxmlformats.org/drawingml/2006/main" r:embed="Rec07ef1f6d3d4260"/>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8-1">
            <a:extLst xmlns:a="http://schemas.openxmlformats.org/drawingml/2006/main">
              <a:ext uri="{FF2B5EF4-FFF2-40B4-BE49-F238E27FC236}">
                <a16:creationId xmlns:a16="http://schemas.microsoft.com/office/drawing/2014/main" id="{4167A6B8-804B-4056-B0ED-40D70806EC87}"/>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03 ARCHITECTURE / IMPLEMENTATION &amp; PILOT</a:t>
            </a:r>
          </a:p>
        </p:txBody>
      </p:sp>
      <p:sp>
        <p:nvSpPr>
          <p:cNvPr id="5" name="text-8-2">
            <a:extLst xmlns:a="http://schemas.openxmlformats.org/drawingml/2006/main">
              <a:ext uri="{FF2B5EF4-FFF2-40B4-BE49-F238E27FC236}">
                <a16:creationId xmlns:a16="http://schemas.microsoft.com/office/drawing/2014/main" id="{A93ADBF8-1CF3-44B2-9584-FB18C171C661}"/>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A six-week pilot with ten Corporate Affairs colleagues</a:t>
            </a:r>
          </a:p>
        </p:txBody>
      </p:sp>
      <p:sp>
        <p:nvSpPr>
          <p:cNvPr id="6" name="text-8-3">
            <a:extLst xmlns:a="http://schemas.openxmlformats.org/drawingml/2006/main">
              <a:ext uri="{FF2B5EF4-FFF2-40B4-BE49-F238E27FC236}">
                <a16:creationId xmlns:a16="http://schemas.microsoft.com/office/drawing/2014/main" id="{64AE7D97-ED5C-4429-9198-6A1C604ECB3E}"/>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Feasibility</a:t>
            </a:r>
          </a:p>
        </p:txBody>
      </p:sp>
      <p:sp>
        <p:nvSpPr>
          <p:cNvPr id="7" name="text-8-4">
            <a:extLst xmlns:a="http://schemas.openxmlformats.org/drawingml/2006/main">
              <a:ext uri="{FF2B5EF4-FFF2-40B4-BE49-F238E27FC236}">
                <a16:creationId xmlns:a16="http://schemas.microsoft.com/office/drawing/2014/main" id="{87C8C440-A7FE-40B6-AC77-CE5AEB5387DD}"/>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08</a:t>
            </a:r>
          </a:p>
        </p:txBody>
      </p:sp>
      <p:sp>
        <p:nvSpPr>
          <p:cNvPr id="8" name="text-8-5">
            <a:extLst xmlns:a="http://schemas.openxmlformats.org/drawingml/2006/main">
              <a:ext uri="{FF2B5EF4-FFF2-40B4-BE49-F238E27FC236}">
                <a16:creationId xmlns:a16="http://schemas.microsoft.com/office/drawing/2014/main" id="{5F178DF5-E3CA-4DB5-8A48-CF6A4BCE3EC1}"/>
              </a:ext>
            </a:extLst>
          </p:cNvPr>
          <p:cNvSpPr>
            <a:spLocks xmlns:a="http://schemas.openxmlformats.org/drawingml/2006/main" noGrp="1"/>
          </p:cNvSpPr>
          <p:nvPr/>
        </p:nvSpPr>
        <p:spPr>
          <a:xfrm xmlns:a="http://schemas.openxmlformats.org/drawingml/2006/main">
            <a:off x="619125" y="2619375"/>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1–2</a:t>
            </a:r>
          </a:p>
        </p:txBody>
      </p:sp>
      <p:sp>
        <p:nvSpPr>
          <p:cNvPr id="9" name="text-8-6">
            <a:extLst xmlns:a="http://schemas.openxmlformats.org/drawingml/2006/main">
              <a:ext uri="{FF2B5EF4-FFF2-40B4-BE49-F238E27FC236}">
                <a16:creationId xmlns:a16="http://schemas.microsoft.com/office/drawing/2014/main" id="{A4DD05BF-8AAC-4E3F-98ED-47C902FFC966}"/>
              </a:ext>
            </a:extLst>
          </p:cNvPr>
          <p:cNvSpPr>
            <a:spLocks xmlns:a="http://schemas.openxmlformats.org/drawingml/2006/main" noGrp="1"/>
          </p:cNvSpPr>
          <p:nvPr/>
        </p:nvSpPr>
        <p:spPr>
          <a:xfrm xmlns:a="http://schemas.openxmlformats.org/drawingml/2006/main">
            <a:off x="1333500" y="261937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Co-design the workflow</a:t>
            </a:r>
          </a:p>
        </p:txBody>
      </p:sp>
      <p:sp>
        <p:nvSpPr>
          <p:cNvPr id="10" name="text-8-7">
            <a:extLst xmlns:a="http://schemas.openxmlformats.org/drawingml/2006/main">
              <a:ext uri="{FF2B5EF4-FFF2-40B4-BE49-F238E27FC236}">
                <a16:creationId xmlns:a16="http://schemas.microsoft.com/office/drawing/2014/main" id="{EED0DCF4-1168-40EC-937A-B2ACBB821AC2}"/>
              </a:ext>
            </a:extLst>
          </p:cNvPr>
          <p:cNvSpPr>
            <a:spLocks xmlns:a="http://schemas.openxmlformats.org/drawingml/2006/main" noGrp="1"/>
          </p:cNvSpPr>
          <p:nvPr/>
        </p:nvSpPr>
        <p:spPr>
          <a:xfrm xmlns:a="http://schemas.openxmlformats.org/drawingml/2006/main">
            <a:off x="5095875" y="2628900"/>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Two regions, two topics. Interview employees and establish the current baseline.</a:t>
            </a:r>
          </a:p>
        </p:txBody>
      </p:sp>
      <p:sp>
        <p:nvSpPr>
          <p:cNvPr id="11" name="text-8-8">
            <a:extLst xmlns:a="http://schemas.openxmlformats.org/drawingml/2006/main">
              <a:ext uri="{FF2B5EF4-FFF2-40B4-BE49-F238E27FC236}">
                <a16:creationId xmlns:a16="http://schemas.microsoft.com/office/drawing/2014/main" id="{C3762F32-AE7F-4BA8-833A-C4D372DAC1D5}"/>
              </a:ext>
            </a:extLst>
          </p:cNvPr>
          <p:cNvSpPr>
            <a:spLocks xmlns:a="http://schemas.openxmlformats.org/drawingml/2006/main" noGrp="1"/>
          </p:cNvSpPr>
          <p:nvPr/>
        </p:nvSpPr>
        <p:spPr>
          <a:xfrm xmlns:a="http://schemas.openxmlformats.org/drawingml/2006/main">
            <a:off x="619125" y="361950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3–4</a:t>
            </a:r>
          </a:p>
        </p:txBody>
      </p:sp>
      <p:sp>
        <p:nvSpPr>
          <p:cNvPr id="12" name="text-8-9">
            <a:extLst xmlns:a="http://schemas.openxmlformats.org/drawingml/2006/main">
              <a:ext uri="{FF2B5EF4-FFF2-40B4-BE49-F238E27FC236}">
                <a16:creationId xmlns:a16="http://schemas.microsoft.com/office/drawing/2014/main" id="{CDF0885D-C628-4BC3-8B16-42B23D6EE48D}"/>
              </a:ext>
            </a:extLst>
          </p:cNvPr>
          <p:cNvSpPr>
            <a:spLocks xmlns:a="http://schemas.openxmlformats.org/drawingml/2006/main" noGrp="1"/>
          </p:cNvSpPr>
          <p:nvPr/>
        </p:nvSpPr>
        <p:spPr>
          <a:xfrm xmlns:a="http://schemas.openxmlformats.org/drawingml/2006/main">
            <a:off x="1333500" y="361950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Run in shadow mode</a:t>
            </a:r>
          </a:p>
        </p:txBody>
      </p:sp>
      <p:sp>
        <p:nvSpPr>
          <p:cNvPr id="13" name="text-8-10">
            <a:extLst xmlns:a="http://schemas.openxmlformats.org/drawingml/2006/main">
              <a:ext uri="{FF2B5EF4-FFF2-40B4-BE49-F238E27FC236}">
                <a16:creationId xmlns:a16="http://schemas.microsoft.com/office/drawing/2014/main" id="{BAD3EAA2-8778-4B8A-971D-E088FCB9B55D}"/>
              </a:ext>
            </a:extLst>
          </p:cNvPr>
          <p:cNvSpPr>
            <a:spLocks xmlns:a="http://schemas.openxmlformats.org/drawingml/2006/main" noGrp="1"/>
          </p:cNvSpPr>
          <p:nvPr/>
        </p:nvSpPr>
        <p:spPr>
          <a:xfrm xmlns:a="http://schemas.openxmlformats.org/drawingml/2006/main">
            <a:off x="5095875" y="362902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Compare alerts with expert review. No autonomous publication.</a:t>
            </a:r>
          </a:p>
        </p:txBody>
      </p:sp>
      <p:sp>
        <p:nvSpPr>
          <p:cNvPr id="14" name="text-8-11">
            <a:extLst xmlns:a="http://schemas.openxmlformats.org/drawingml/2006/main">
              <a:ext uri="{FF2B5EF4-FFF2-40B4-BE49-F238E27FC236}">
                <a16:creationId xmlns:a16="http://schemas.microsoft.com/office/drawing/2014/main" id="{19C8C9C3-677E-4507-A3CF-2BF740729843}"/>
              </a:ext>
            </a:extLst>
          </p:cNvPr>
          <p:cNvSpPr>
            <a:spLocks xmlns:a="http://schemas.openxmlformats.org/drawingml/2006/main" noGrp="1"/>
          </p:cNvSpPr>
          <p:nvPr/>
        </p:nvSpPr>
        <p:spPr>
          <a:xfrm xmlns:a="http://schemas.openxmlformats.org/drawingml/2006/main">
            <a:off x="619125" y="4619625"/>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5–6</a:t>
            </a:r>
          </a:p>
        </p:txBody>
      </p:sp>
      <p:sp>
        <p:nvSpPr>
          <p:cNvPr id="15" name="text-8-12">
            <a:extLst xmlns:a="http://schemas.openxmlformats.org/drawingml/2006/main">
              <a:ext uri="{FF2B5EF4-FFF2-40B4-BE49-F238E27FC236}">
                <a16:creationId xmlns:a16="http://schemas.microsoft.com/office/drawing/2014/main" id="{F60E83DF-DE35-450B-B4F1-7954A02CC6EB}"/>
              </a:ext>
            </a:extLst>
          </p:cNvPr>
          <p:cNvSpPr>
            <a:spLocks xmlns:a="http://schemas.openxmlformats.org/drawingml/2006/main" noGrp="1"/>
          </p:cNvSpPr>
          <p:nvPr/>
        </p:nvSpPr>
        <p:spPr>
          <a:xfrm xmlns:a="http://schemas.openxmlformats.org/drawingml/2006/main">
            <a:off x="1333500" y="461962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Evaluate and decide</a:t>
            </a:r>
          </a:p>
        </p:txBody>
      </p:sp>
      <p:sp>
        <p:nvSpPr>
          <p:cNvPr id="16" name="text-8-13">
            <a:extLst xmlns:a="http://schemas.openxmlformats.org/drawingml/2006/main">
              <a:ext uri="{FF2B5EF4-FFF2-40B4-BE49-F238E27FC236}">
                <a16:creationId xmlns:a16="http://schemas.microsoft.com/office/drawing/2014/main" id="{8B53A523-9DC4-434B-9DC7-A7E13CD1DC9B}"/>
              </a:ext>
            </a:extLst>
          </p:cNvPr>
          <p:cNvSpPr>
            <a:spLocks xmlns:a="http://schemas.openxmlformats.org/drawingml/2006/main" noGrp="1"/>
          </p:cNvSpPr>
          <p:nvPr/>
        </p:nvSpPr>
        <p:spPr>
          <a:xfrm xmlns:a="http://schemas.openxmlformats.org/drawingml/2006/main">
            <a:off x="5095875" y="4629150"/>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Review usability, missed concerns and citation quality before wider adoption.</a:t>
            </a:r>
          </a:p>
        </p:txBody>
      </p:sp>
      <p:sp>
        <p:nvSpPr>
          <p:cNvPr id="17" name="text-8-14">
            <a:extLst xmlns:a="http://schemas.openxmlformats.org/drawingml/2006/main">
              <a:ext uri="{FF2B5EF4-FFF2-40B4-BE49-F238E27FC236}">
                <a16:creationId xmlns:a16="http://schemas.microsoft.com/office/drawing/2014/main" id="{8A7C0A58-0AF3-444E-AEB2-A7153F81494F}"/>
              </a:ext>
            </a:extLst>
          </p:cNvPr>
          <p:cNvSpPr>
            <a:spLocks xmlns:a="http://schemas.openxmlformats.org/drawingml/2006/main" noGrp="1"/>
          </p:cNvSpPr>
          <p:nvPr/>
        </p:nvSpPr>
        <p:spPr>
          <a:xfrm xmlns:a="http://schemas.openxmlformats.org/drawingml/2006/main">
            <a:off x="619125" y="583882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F682E"/>
                </a:solidFill>
                <a:latin typeface="Arial"/>
                <a:ea typeface="Arial"/>
                <a:cs typeface="Arial"/>
              </a:defRPr>
            </a:defPPr>
            <a:lvl1pPr>
              <a:defRPr sz="1800" b="1">
                <a:solidFill>
                  <a:srgbClr val="3F682E"/>
                </a:solidFill>
                <a:latin typeface="Arial"/>
                <a:ea typeface="Arial"/>
                <a:cs typeface="Arial"/>
              </a:defRPr>
            </a:lvl1pPr>
            <a:lvl2pPr>
              <a:defRPr sz="1800" b="1">
                <a:solidFill>
                  <a:srgbClr val="3F682E"/>
                </a:solidFill>
                <a:latin typeface="Arial"/>
                <a:ea typeface="Arial"/>
                <a:cs typeface="Arial"/>
              </a:defRPr>
            </a:lvl2pPr>
            <a:lvl3pPr>
              <a:defRPr sz="1800" b="1">
                <a:solidFill>
                  <a:srgbClr val="3F682E"/>
                </a:solidFill>
                <a:latin typeface="Arial"/>
                <a:ea typeface="Arial"/>
                <a:cs typeface="Arial"/>
              </a:defRPr>
            </a:lvl3pPr>
            <a:lvl4pPr>
              <a:defRPr sz="1800" b="1">
                <a:solidFill>
                  <a:srgbClr val="3F682E"/>
                </a:solidFill>
                <a:latin typeface="Arial"/>
                <a:ea typeface="Arial"/>
                <a:cs typeface="Arial"/>
              </a:defRPr>
            </a:lvl4pPr>
            <a:lvl5pPr>
              <a:defRPr sz="1800" b="1">
                <a:solidFill>
                  <a:srgbClr val="3F682E"/>
                </a:solidFill>
                <a:latin typeface="Arial"/>
                <a:ea typeface="Arial"/>
                <a:cs typeface="Arial"/>
              </a:defRPr>
            </a:lvl5pPr>
            <a:lvl6pPr>
              <a:defRPr sz="1800" b="1">
                <a:solidFill>
                  <a:srgbClr val="3F682E"/>
                </a:solidFill>
                <a:latin typeface="Arial"/>
                <a:ea typeface="Arial"/>
                <a:cs typeface="Arial"/>
              </a:defRPr>
            </a:lvl6pPr>
            <a:lvl7pPr>
              <a:defRPr sz="1800" b="1">
                <a:solidFill>
                  <a:srgbClr val="3F682E"/>
                </a:solidFill>
                <a:latin typeface="Arial"/>
                <a:ea typeface="Arial"/>
                <a:cs typeface="Arial"/>
              </a:defRPr>
            </a:lvl7pPr>
            <a:lvl8pPr>
              <a:defRPr sz="1800" b="1">
                <a:solidFill>
                  <a:srgbClr val="3F682E"/>
                </a:solidFill>
                <a:latin typeface="Arial"/>
                <a:ea typeface="Arial"/>
                <a:cs typeface="Arial"/>
              </a:defRPr>
            </a:lvl8pPr>
            <a:lvl9pPr>
              <a:defRPr sz="1800" b="1">
                <a:solidFill>
                  <a:srgbClr val="3F682E"/>
                </a:solidFill>
                <a:latin typeface="Arial"/>
                <a:ea typeface="Arial"/>
                <a:cs typeface="Arial"/>
              </a:defRPr>
            </a:lvl9pPr>
          </a:lstStyle>
          <a:p xmlns:a="http://schemas.openxmlformats.org/drawingml/2006/main">
            <a:pPr>
              <a:defRPr sz="1800" b="1">
                <a:solidFill>
                  <a:srgbClr val="3F682E"/>
                </a:solidFill>
                <a:latin typeface="Arial"/>
                <a:ea typeface="Arial"/>
                <a:cs typeface="Arial"/>
              </a:defRPr>
            </a:pPr>
            <a:r>
              <a:rPr sz="1800" b="1">
                <a:solidFill>
                  <a:srgbClr val="3F682E"/>
                </a:solidFill>
                <a:latin typeface="Arial"/>
                <a:ea typeface="Arial"/>
                <a:cs typeface="Arial"/>
              </a:rPr>
              <a:t>Illustrative operating budget: about CHF 3.4k/month, plus integration and setup.</a:t>
            </a:r>
          </a:p>
        </p:txBody>
      </p:sp>
      <p:sp>
        <p:nvSpPr>
          <p:cNvPr id="18" name="text-8-15">
            <a:extLst xmlns:a="http://schemas.openxmlformats.org/drawingml/2006/main">
              <a:ext uri="{FF2B5EF4-FFF2-40B4-BE49-F238E27FC236}">
                <a16:creationId xmlns:a16="http://schemas.microsoft.com/office/drawing/2014/main" id="{39CA351E-122E-46A4-B6A7-4EB46B0F28F1}"/>
              </a:ext>
            </a:extLst>
          </p:cNvPr>
          <p:cNvSpPr>
            <a:spLocks xmlns:a="http://schemas.openxmlformats.org/drawingml/2006/main" noGrp="1"/>
          </p:cNvSpPr>
          <p:nvPr/>
        </p:nvSpPr>
        <p:spPr>
          <a:xfrm xmlns:a="http://schemas.openxmlformats.org/drawingml/2006/main">
            <a:off x="619125" y="6257925"/>
            <a:ext cx="1057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a:solidFill>
                  <a:srgbClr val="607160"/>
                </a:solidFill>
                <a:latin typeface="Arial"/>
                <a:ea typeface="Arial"/>
                <a:cs typeface="Arial"/>
              </a:defRPr>
            </a:defPPr>
            <a:lvl1pPr>
              <a:defRPr sz="1050" b="0">
                <a:solidFill>
                  <a:srgbClr val="607160"/>
                </a:solidFill>
                <a:latin typeface="Arial"/>
                <a:ea typeface="Arial"/>
                <a:cs typeface="Arial"/>
              </a:defRPr>
            </a:lvl1pPr>
            <a:lvl2pPr>
              <a:defRPr sz="1050" b="0">
                <a:solidFill>
                  <a:srgbClr val="607160"/>
                </a:solidFill>
                <a:latin typeface="Arial"/>
                <a:ea typeface="Arial"/>
                <a:cs typeface="Arial"/>
              </a:defRPr>
            </a:lvl2pPr>
            <a:lvl3pPr>
              <a:defRPr sz="1050" b="0">
                <a:solidFill>
                  <a:srgbClr val="607160"/>
                </a:solidFill>
                <a:latin typeface="Arial"/>
                <a:ea typeface="Arial"/>
                <a:cs typeface="Arial"/>
              </a:defRPr>
            </a:lvl3pPr>
            <a:lvl4pPr>
              <a:defRPr sz="1050" b="0">
                <a:solidFill>
                  <a:srgbClr val="607160"/>
                </a:solidFill>
                <a:latin typeface="Arial"/>
                <a:ea typeface="Arial"/>
                <a:cs typeface="Arial"/>
              </a:defRPr>
            </a:lvl4pPr>
            <a:lvl5pPr>
              <a:defRPr sz="1050" b="0">
                <a:solidFill>
                  <a:srgbClr val="607160"/>
                </a:solidFill>
                <a:latin typeface="Arial"/>
                <a:ea typeface="Arial"/>
                <a:cs typeface="Arial"/>
              </a:defRPr>
            </a:lvl5pPr>
            <a:lvl6pPr>
              <a:defRPr sz="1050" b="0">
                <a:solidFill>
                  <a:srgbClr val="607160"/>
                </a:solidFill>
                <a:latin typeface="Arial"/>
                <a:ea typeface="Arial"/>
                <a:cs typeface="Arial"/>
              </a:defRPr>
            </a:lvl6pPr>
            <a:lvl7pPr>
              <a:defRPr sz="1050" b="0">
                <a:solidFill>
                  <a:srgbClr val="607160"/>
                </a:solidFill>
                <a:latin typeface="Arial"/>
                <a:ea typeface="Arial"/>
                <a:cs typeface="Arial"/>
              </a:defRPr>
            </a:lvl7pPr>
            <a:lvl8pPr>
              <a:defRPr sz="1050" b="0">
                <a:solidFill>
                  <a:srgbClr val="607160"/>
                </a:solidFill>
                <a:latin typeface="Arial"/>
                <a:ea typeface="Arial"/>
                <a:cs typeface="Arial"/>
              </a:defRPr>
            </a:lvl8pPr>
            <a:lvl9pPr>
              <a:defRPr sz="1050" b="0">
                <a:solidFill>
                  <a:srgbClr val="607160"/>
                </a:solidFill>
                <a:latin typeface="Arial"/>
                <a:ea typeface="Arial"/>
                <a:cs typeface="Arial"/>
              </a:defRPr>
            </a:lvl9pPr>
          </a:lstStyle>
          <a:p xmlns:a="http://schemas.openxmlformats.org/drawingml/2006/main">
            <a:pPr>
              <a:defRPr sz="1050" b="0">
                <a:solidFill>
                  <a:srgbClr val="607160"/>
                </a:solidFill>
                <a:latin typeface="Arial"/>
                <a:ea typeface="Arial"/>
                <a:cs typeface="Arial"/>
              </a:defRPr>
            </a:pPr>
            <a:r>
              <a:rPr sz="1050" b="0">
                <a:solidFill>
                  <a:srgbClr val="607160"/>
                </a:solidFill>
                <a:latin typeface="Arial"/>
                <a:ea typeface="Arial"/>
                <a:cs typeface="Arial"/>
              </a:rPr>
              <a:t>Planning assumptions, not a vendor quote. Human review and data access dominate this example.</a:t>
            </a:r>
          </a:p>
        </p:txBody>
      </p:sp>
    </p:spTree>
    <p:extLst>
      <p:ext uri="{BB962C8B-B14F-4D97-AF65-F5344CB8AC3E}">
        <p14:creationId xmlns:p14="http://schemas.microsoft.com/office/powerpoint/2010/main" val="776078069"/>
      </p:ext>
    </p:extLst>
  </p:cSld>
</p:sld>
</file>

<file path=ppt/slides/slide9.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0DB3EBC0-87FA-490E-8C41-2000224B08F9}"/>
              </a:ext>
            </a:extLst>
          </p:cNvPr>
          <p:cNvPicPr>
            <a:picLocks xmlns:a="http://schemas.openxmlformats.org/drawingml/2006/main" noChangeAspect="1"/>
          </p:cNvPicPr>
          <p:nvPr/>
        </p:nvPicPr>
        <p:blipFill>
          <a:blip xmlns:r="http://schemas.openxmlformats.org/officeDocument/2006/relationships" xmlns:a="http://schemas.openxmlformats.org/drawingml/2006/main" r:embed="R1b5c6d3412d248da"/>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9-0">
            <a:extLst xmlns:a="http://schemas.openxmlformats.org/drawingml/2006/main">
              <a:ext uri="{FF2B5EF4-FFF2-40B4-BE49-F238E27FC236}">
                <a16:creationId xmlns:a16="http://schemas.microsoft.com/office/drawing/2014/main" id="{004848B4-05AD-4583-ACD8-D58323FDF8B2}"/>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E39EAE07-7473-4E49-9A3A-20FB9A5D5DA5}"/>
              </a:ext>
            </a:extLst>
          </p:cNvPr>
          <p:cNvPicPr>
            <a:picLocks xmlns:a="http://schemas.openxmlformats.org/drawingml/2006/main" noChangeAspect="1"/>
          </p:cNvPicPr>
          <p:nvPr/>
        </p:nvPicPr>
        <p:blipFill>
          <a:blip xmlns:r="http://schemas.openxmlformats.org/officeDocument/2006/relationships" xmlns:a="http://schemas.openxmlformats.org/drawingml/2006/main" r:embed="R7cd4a7634fe14806"/>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9-1">
            <a:extLst xmlns:a="http://schemas.openxmlformats.org/drawingml/2006/main">
              <a:ext uri="{FF2B5EF4-FFF2-40B4-BE49-F238E27FC236}">
                <a16:creationId xmlns:a16="http://schemas.microsoft.com/office/drawing/2014/main" id="{DE6FBE94-850E-4EAD-9AE0-FC591FAAE338}"/>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04 HUMAN ASPECT / PEOPLE FIRST</a:t>
            </a:r>
          </a:p>
        </p:txBody>
      </p:sp>
      <p:sp>
        <p:nvSpPr>
          <p:cNvPr id="5" name="text-9-2">
            <a:extLst xmlns:a="http://schemas.openxmlformats.org/drawingml/2006/main">
              <a:ext uri="{FF2B5EF4-FFF2-40B4-BE49-F238E27FC236}">
                <a16:creationId xmlns:a16="http://schemas.microsoft.com/office/drawing/2014/main" id="{E65A25E5-29B0-41FC-96F3-BF58E65DC254}"/>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Lin needs clarity. Maya needs control.</a:t>
            </a:r>
          </a:p>
        </p:txBody>
      </p:sp>
      <p:sp>
        <p:nvSpPr>
          <p:cNvPr id="6" name="text-9-3">
            <a:extLst xmlns:a="http://schemas.openxmlformats.org/drawingml/2006/main">
              <a:ext uri="{FF2B5EF4-FFF2-40B4-BE49-F238E27FC236}">
                <a16:creationId xmlns:a16="http://schemas.microsoft.com/office/drawing/2014/main" id="{8EB68206-D18E-4328-B21D-264F5FE23982}"/>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Human-centered &amp; responsible</a:t>
            </a:r>
          </a:p>
        </p:txBody>
      </p:sp>
      <p:sp>
        <p:nvSpPr>
          <p:cNvPr id="7" name="text-9-4">
            <a:extLst xmlns:a="http://schemas.openxmlformats.org/drawingml/2006/main">
              <a:ext uri="{FF2B5EF4-FFF2-40B4-BE49-F238E27FC236}">
                <a16:creationId xmlns:a16="http://schemas.microsoft.com/office/drawing/2014/main" id="{15A9B61B-95CA-40DF-9159-61FCE5DF9653}"/>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09</a:t>
            </a:r>
          </a:p>
        </p:txBody>
      </p:sp>
      <p:sp>
        <p:nvSpPr>
          <p:cNvPr id="8" name="text-9-5">
            <a:extLst xmlns:a="http://schemas.openxmlformats.org/drawingml/2006/main">
              <a:ext uri="{FF2B5EF4-FFF2-40B4-BE49-F238E27FC236}">
                <a16:creationId xmlns:a16="http://schemas.microsoft.com/office/drawing/2014/main" id="{7244EF36-65CD-4EC6-828F-6E5F29726193}"/>
              </a:ext>
            </a:extLst>
          </p:cNvPr>
          <p:cNvSpPr>
            <a:spLocks xmlns:a="http://schemas.openxmlformats.org/drawingml/2006/main" noGrp="1"/>
          </p:cNvSpPr>
          <p:nvPr/>
        </p:nvSpPr>
        <p:spPr>
          <a:xfrm xmlns:a="http://schemas.openxmlformats.org/drawingml/2006/main">
            <a:off x="619125" y="2619375"/>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01</a:t>
            </a:r>
          </a:p>
        </p:txBody>
      </p:sp>
      <p:sp>
        <p:nvSpPr>
          <p:cNvPr id="9" name="text-9-6">
            <a:extLst xmlns:a="http://schemas.openxmlformats.org/drawingml/2006/main">
              <a:ext uri="{FF2B5EF4-FFF2-40B4-BE49-F238E27FC236}">
                <a16:creationId xmlns:a16="http://schemas.microsoft.com/office/drawing/2014/main" id="{A6626F4D-CD1A-4227-8624-04EE2F9DAB7F}"/>
              </a:ext>
            </a:extLst>
          </p:cNvPr>
          <p:cNvSpPr>
            <a:spLocks xmlns:a="http://schemas.openxmlformats.org/drawingml/2006/main" noGrp="1"/>
          </p:cNvSpPr>
          <p:nvPr/>
        </p:nvSpPr>
        <p:spPr>
          <a:xfrm xmlns:a="http://schemas.openxmlformats.org/drawingml/2006/main">
            <a:off x="1333500" y="261937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Hear the actual need</a:t>
            </a:r>
          </a:p>
        </p:txBody>
      </p:sp>
      <p:sp>
        <p:nvSpPr>
          <p:cNvPr id="10" name="text-9-7">
            <a:extLst xmlns:a="http://schemas.openxmlformats.org/drawingml/2006/main">
              <a:ext uri="{FF2B5EF4-FFF2-40B4-BE49-F238E27FC236}">
                <a16:creationId xmlns:a16="http://schemas.microsoft.com/office/drawing/2014/main" id="{58FE9499-CC65-44DE-BC71-04E430F47CF1}"/>
              </a:ext>
            </a:extLst>
          </p:cNvPr>
          <p:cNvSpPr>
            <a:spLocks xmlns:a="http://schemas.openxmlformats.org/drawingml/2006/main" noGrp="1"/>
          </p:cNvSpPr>
          <p:nvPr/>
        </p:nvSpPr>
        <p:spPr>
          <a:xfrm xmlns:a="http://schemas.openxmlformats.org/drawingml/2006/main">
            <a:off x="5095875" y="2628900"/>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Preserve the request for practical help, even when a post has low reach.</a:t>
            </a:r>
          </a:p>
        </p:txBody>
      </p:sp>
      <p:sp>
        <p:nvSpPr>
          <p:cNvPr id="11" name="text-9-8">
            <a:extLst xmlns:a="http://schemas.openxmlformats.org/drawingml/2006/main">
              <a:ext uri="{FF2B5EF4-FFF2-40B4-BE49-F238E27FC236}">
                <a16:creationId xmlns:a16="http://schemas.microsoft.com/office/drawing/2014/main" id="{2F41090A-E268-4929-9116-9E541C585535}"/>
              </a:ext>
            </a:extLst>
          </p:cNvPr>
          <p:cNvSpPr>
            <a:spLocks xmlns:a="http://schemas.openxmlformats.org/drawingml/2006/main" noGrp="1"/>
          </p:cNvSpPr>
          <p:nvPr/>
        </p:nvSpPr>
        <p:spPr>
          <a:xfrm xmlns:a="http://schemas.openxmlformats.org/drawingml/2006/main">
            <a:off x="619125" y="367665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02</a:t>
            </a:r>
          </a:p>
        </p:txBody>
      </p:sp>
      <p:sp>
        <p:nvSpPr>
          <p:cNvPr id="12" name="text-9-9">
            <a:extLst xmlns:a="http://schemas.openxmlformats.org/drawingml/2006/main">
              <a:ext uri="{FF2B5EF4-FFF2-40B4-BE49-F238E27FC236}">
                <a16:creationId xmlns:a16="http://schemas.microsoft.com/office/drawing/2014/main" id="{FDA11C6B-FAE8-465B-B3A0-4E459CE82195}"/>
              </a:ext>
            </a:extLst>
          </p:cNvPr>
          <p:cNvSpPr>
            <a:spLocks xmlns:a="http://schemas.openxmlformats.org/drawingml/2006/main" noGrp="1"/>
          </p:cNvSpPr>
          <p:nvPr/>
        </p:nvSpPr>
        <p:spPr>
          <a:xfrm xmlns:a="http://schemas.openxmlformats.org/drawingml/2006/main">
            <a:off x="1333500" y="36766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Check before responding</a:t>
            </a:r>
          </a:p>
        </p:txBody>
      </p:sp>
      <p:sp>
        <p:nvSpPr>
          <p:cNvPr id="13" name="text-9-10">
            <a:extLst xmlns:a="http://schemas.openxmlformats.org/drawingml/2006/main">
              <a:ext uri="{FF2B5EF4-FFF2-40B4-BE49-F238E27FC236}">
                <a16:creationId xmlns:a16="http://schemas.microsoft.com/office/drawing/2014/main" id="{16298CF2-DBD0-41CE-A9C9-56D833FE0A99}"/>
              </a:ext>
            </a:extLst>
          </p:cNvPr>
          <p:cNvSpPr>
            <a:spLocks xmlns:a="http://schemas.openxmlformats.org/drawingml/2006/main" noGrp="1"/>
          </p:cNvSpPr>
          <p:nvPr/>
        </p:nvSpPr>
        <p:spPr>
          <a:xfrm xmlns:a="http://schemas.openxmlformats.org/drawingml/2006/main">
            <a:off x="5095875" y="368617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Separate the shared headline from verified scope and local context.</a:t>
            </a:r>
          </a:p>
        </p:txBody>
      </p:sp>
      <p:sp>
        <p:nvSpPr>
          <p:cNvPr id="14" name="text-9-11">
            <a:extLst xmlns:a="http://schemas.openxmlformats.org/drawingml/2006/main">
              <a:ext uri="{FF2B5EF4-FFF2-40B4-BE49-F238E27FC236}">
                <a16:creationId xmlns:a16="http://schemas.microsoft.com/office/drawing/2014/main" id="{2B76D901-2156-4802-B4A8-3BE03A6DE554}"/>
              </a:ext>
            </a:extLst>
          </p:cNvPr>
          <p:cNvSpPr>
            <a:spLocks xmlns:a="http://schemas.openxmlformats.org/drawingml/2006/main" noGrp="1"/>
          </p:cNvSpPr>
          <p:nvPr/>
        </p:nvSpPr>
        <p:spPr>
          <a:xfrm xmlns:a="http://schemas.openxmlformats.org/drawingml/2006/main">
            <a:off x="619125" y="4733925"/>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03</a:t>
            </a:r>
          </a:p>
        </p:txBody>
      </p:sp>
      <p:sp>
        <p:nvSpPr>
          <p:cNvPr id="15" name="text-9-12">
            <a:extLst xmlns:a="http://schemas.openxmlformats.org/drawingml/2006/main">
              <a:ext uri="{FF2B5EF4-FFF2-40B4-BE49-F238E27FC236}">
                <a16:creationId xmlns:a16="http://schemas.microsoft.com/office/drawing/2014/main" id="{54FD8C19-4658-4891-8EDC-4D11F5991384}"/>
              </a:ext>
            </a:extLst>
          </p:cNvPr>
          <p:cNvSpPr>
            <a:spLocks xmlns:a="http://schemas.openxmlformats.org/drawingml/2006/main" noGrp="1"/>
          </p:cNvSpPr>
          <p:nvPr/>
        </p:nvSpPr>
        <p:spPr>
          <a:xfrm xmlns:a="http://schemas.openxmlformats.org/drawingml/2006/main">
            <a:off x="1333500" y="473392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Keep a human owner</a:t>
            </a:r>
          </a:p>
        </p:txBody>
      </p:sp>
      <p:sp>
        <p:nvSpPr>
          <p:cNvPr id="16" name="text-9-13">
            <a:extLst xmlns:a="http://schemas.openxmlformats.org/drawingml/2006/main">
              <a:ext uri="{FF2B5EF4-FFF2-40B4-BE49-F238E27FC236}">
                <a16:creationId xmlns:a16="http://schemas.microsoft.com/office/drawing/2014/main" id="{D629B05D-3C59-48A7-9701-398D4338D964}"/>
              </a:ext>
            </a:extLst>
          </p:cNvPr>
          <p:cNvSpPr>
            <a:spLocks xmlns:a="http://schemas.openxmlformats.org/drawingml/2006/main" noGrp="1"/>
          </p:cNvSpPr>
          <p:nvPr/>
        </p:nvSpPr>
        <p:spPr>
          <a:xfrm xmlns:a="http://schemas.openxmlformats.org/drawingml/2006/main">
            <a:off x="5095875" y="4743450"/>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Maya chooses the next step. Local specialists review technical guidance.</a:t>
            </a:r>
          </a:p>
        </p:txBody>
      </p:sp>
      <p:sp>
        <p:nvSpPr>
          <p:cNvPr id="17" name="text-9-14">
            <a:extLst xmlns:a="http://schemas.openxmlformats.org/drawingml/2006/main">
              <a:ext uri="{FF2B5EF4-FFF2-40B4-BE49-F238E27FC236}">
                <a16:creationId xmlns:a16="http://schemas.microsoft.com/office/drawing/2014/main" id="{8D858C7D-5ABA-49EA-A153-E66C2BD7BFCC}"/>
              </a:ext>
            </a:extLst>
          </p:cNvPr>
          <p:cNvSpPr>
            <a:spLocks xmlns:a="http://schemas.openxmlformats.org/drawingml/2006/main" noGrp="1"/>
          </p:cNvSpPr>
          <p:nvPr/>
        </p:nvSpPr>
        <p:spPr>
          <a:xfrm xmlns:a="http://schemas.openxmlformats.org/drawingml/2006/main">
            <a:off x="619125" y="6038850"/>
            <a:ext cx="10525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3F682E"/>
                </a:solidFill>
                <a:latin typeface="Arial"/>
                <a:ea typeface="Arial"/>
                <a:cs typeface="Arial"/>
              </a:defRPr>
            </a:defPPr>
            <a:lvl1pPr>
              <a:defRPr sz="1500" b="1">
                <a:solidFill>
                  <a:srgbClr val="3F682E"/>
                </a:solidFill>
                <a:latin typeface="Arial"/>
                <a:ea typeface="Arial"/>
                <a:cs typeface="Arial"/>
              </a:defRPr>
            </a:lvl1pPr>
            <a:lvl2pPr>
              <a:defRPr sz="1500" b="1">
                <a:solidFill>
                  <a:srgbClr val="3F682E"/>
                </a:solidFill>
                <a:latin typeface="Arial"/>
                <a:ea typeface="Arial"/>
                <a:cs typeface="Arial"/>
              </a:defRPr>
            </a:lvl2pPr>
            <a:lvl3pPr>
              <a:defRPr sz="1500" b="1">
                <a:solidFill>
                  <a:srgbClr val="3F682E"/>
                </a:solidFill>
                <a:latin typeface="Arial"/>
                <a:ea typeface="Arial"/>
                <a:cs typeface="Arial"/>
              </a:defRPr>
            </a:lvl3pPr>
            <a:lvl4pPr>
              <a:defRPr sz="1500" b="1">
                <a:solidFill>
                  <a:srgbClr val="3F682E"/>
                </a:solidFill>
                <a:latin typeface="Arial"/>
                <a:ea typeface="Arial"/>
                <a:cs typeface="Arial"/>
              </a:defRPr>
            </a:lvl4pPr>
            <a:lvl5pPr>
              <a:defRPr sz="1500" b="1">
                <a:solidFill>
                  <a:srgbClr val="3F682E"/>
                </a:solidFill>
                <a:latin typeface="Arial"/>
                <a:ea typeface="Arial"/>
                <a:cs typeface="Arial"/>
              </a:defRPr>
            </a:lvl5pPr>
            <a:lvl6pPr>
              <a:defRPr sz="1500" b="1">
                <a:solidFill>
                  <a:srgbClr val="3F682E"/>
                </a:solidFill>
                <a:latin typeface="Arial"/>
                <a:ea typeface="Arial"/>
                <a:cs typeface="Arial"/>
              </a:defRPr>
            </a:lvl6pPr>
            <a:lvl7pPr>
              <a:defRPr sz="1500" b="1">
                <a:solidFill>
                  <a:srgbClr val="3F682E"/>
                </a:solidFill>
                <a:latin typeface="Arial"/>
                <a:ea typeface="Arial"/>
                <a:cs typeface="Arial"/>
              </a:defRPr>
            </a:lvl7pPr>
            <a:lvl8pPr>
              <a:defRPr sz="1500" b="1">
                <a:solidFill>
                  <a:srgbClr val="3F682E"/>
                </a:solidFill>
                <a:latin typeface="Arial"/>
                <a:ea typeface="Arial"/>
                <a:cs typeface="Arial"/>
              </a:defRPr>
            </a:lvl8pPr>
            <a:lvl9pPr>
              <a:defRPr sz="1500" b="1">
                <a:solidFill>
                  <a:srgbClr val="3F682E"/>
                </a:solidFill>
                <a:latin typeface="Arial"/>
                <a:ea typeface="Arial"/>
                <a:cs typeface="Arial"/>
              </a:defRPr>
            </a:lvl9pPr>
          </a:lstStyle>
          <a:p xmlns:a="http://schemas.openxmlformats.org/drawingml/2006/main">
            <a:pPr>
              <a:defRPr sz="1500" b="1">
                <a:solidFill>
                  <a:srgbClr val="3F682E"/>
                </a:solidFill>
                <a:latin typeface="Arial"/>
                <a:ea typeface="Arial"/>
                <a:cs typeface="Arial"/>
              </a:defRPr>
            </a:pPr>
            <a:r>
              <a:rPr sz="1500" b="1">
                <a:solidFill>
                  <a:srgbClr val="3F682E"/>
                </a:solidFill>
                <a:latin typeface="Arial"/>
                <a:ea typeface="Arial"/>
                <a:cs typeface="Arial"/>
              </a:rPr>
              <a:t>Design goal: help people respond calmly, with clearer information and control.</a:t>
            </a:r>
          </a:p>
        </p:txBody>
      </p:sp>
    </p:spTree>
    <p:extLst>
      <p:ext uri="{BB962C8B-B14F-4D97-AF65-F5344CB8AC3E}">
        <p14:creationId xmlns:p14="http://schemas.microsoft.com/office/powerpoint/2010/main" val="1585104299"/>
      </p:ext>
    </p:extLst>
  </p:cSld>
</p:sld>
</file>

<file path=ppt/slides/slide10.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6A007520-4530-45C1-A1D0-D6B762DA9C0B}"/>
              </a:ext>
            </a:extLst>
          </p:cNvPr>
          <p:cNvPicPr>
            <a:picLocks xmlns:a="http://schemas.openxmlformats.org/drawingml/2006/main" noChangeAspect="1"/>
          </p:cNvPicPr>
          <p:nvPr/>
        </p:nvPicPr>
        <p:blipFill>
          <a:blip xmlns:r="http://schemas.openxmlformats.org/officeDocument/2006/relationships" xmlns:a="http://schemas.openxmlformats.org/drawingml/2006/main" r:embed="Rbe483f357e66409e"/>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10-0">
            <a:extLst xmlns:a="http://schemas.openxmlformats.org/drawingml/2006/main">
              <a:ext uri="{FF2B5EF4-FFF2-40B4-BE49-F238E27FC236}">
                <a16:creationId xmlns:a16="http://schemas.microsoft.com/office/drawing/2014/main" id="{CF23C8D6-1877-49ED-B216-97E5A076AF71}"/>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E45F23BF-9342-488D-9302-932E92942F57}"/>
              </a:ext>
            </a:extLst>
          </p:cNvPr>
          <p:cNvPicPr>
            <a:picLocks xmlns:a="http://schemas.openxmlformats.org/drawingml/2006/main" noChangeAspect="1"/>
          </p:cNvPicPr>
          <p:nvPr/>
        </p:nvPicPr>
        <p:blipFill>
          <a:blip xmlns:r="http://schemas.openxmlformats.org/officeDocument/2006/relationships" xmlns:a="http://schemas.openxmlformats.org/drawingml/2006/main" r:embed="Ra99fe158e7164d11"/>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0-1">
            <a:extLst xmlns:a="http://schemas.openxmlformats.org/drawingml/2006/main">
              <a:ext uri="{FF2B5EF4-FFF2-40B4-BE49-F238E27FC236}">
                <a16:creationId xmlns:a16="http://schemas.microsoft.com/office/drawing/2014/main" id="{73CC066B-82AD-4F29-8D25-901D6221FE13}"/>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04 HUMAN ASPECT / HUMAN IN THE LOOP</a:t>
            </a:r>
          </a:p>
        </p:txBody>
      </p:sp>
      <p:sp>
        <p:nvSpPr>
          <p:cNvPr id="5" name="text-10-2">
            <a:extLst xmlns:a="http://schemas.openxmlformats.org/drawingml/2006/main">
              <a:ext uri="{FF2B5EF4-FFF2-40B4-BE49-F238E27FC236}">
                <a16:creationId xmlns:a16="http://schemas.microsoft.com/office/drawing/2014/main" id="{992BA76A-5B7A-49E9-8028-1DC5E9209998}"/>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Maya can disagree. Lin’s context stays visible.</a:t>
            </a:r>
          </a:p>
        </p:txBody>
      </p:sp>
      <p:sp>
        <p:nvSpPr>
          <p:cNvPr id="6" name="text-10-3">
            <a:extLst xmlns:a="http://schemas.openxmlformats.org/drawingml/2006/main">
              <a:ext uri="{FF2B5EF4-FFF2-40B4-BE49-F238E27FC236}">
                <a16:creationId xmlns:a16="http://schemas.microsoft.com/office/drawing/2014/main" id="{E57600CE-B35D-4378-9554-2677621C8C99}"/>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Human-centered &amp; responsible</a:t>
            </a:r>
          </a:p>
        </p:txBody>
      </p:sp>
      <p:sp>
        <p:nvSpPr>
          <p:cNvPr id="7" name="text-10-4">
            <a:extLst xmlns:a="http://schemas.openxmlformats.org/drawingml/2006/main">
              <a:ext uri="{FF2B5EF4-FFF2-40B4-BE49-F238E27FC236}">
                <a16:creationId xmlns:a16="http://schemas.microsoft.com/office/drawing/2014/main" id="{4C3A0EC1-31D1-4E99-81B0-6BF1C9F01FA9}"/>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10</a:t>
            </a:r>
          </a:p>
        </p:txBody>
      </p:sp>
      <p:sp>
        <p:nvSpPr>
          <p:cNvPr id="8" name="text-10-5">
            <a:extLst xmlns:a="http://schemas.openxmlformats.org/drawingml/2006/main">
              <a:ext uri="{FF2B5EF4-FFF2-40B4-BE49-F238E27FC236}">
                <a16:creationId xmlns:a16="http://schemas.microsoft.com/office/drawing/2014/main" id="{D04C7CF9-C6F6-4782-87DF-A3C20B8B98A2}"/>
              </a:ext>
            </a:extLst>
          </p:cNvPr>
          <p:cNvSpPr>
            <a:spLocks xmlns:a="http://schemas.openxmlformats.org/drawingml/2006/main" noGrp="1"/>
          </p:cNvSpPr>
          <p:nvPr/>
        </p:nvSpPr>
        <p:spPr>
          <a:xfrm xmlns:a="http://schemas.openxmlformats.org/drawingml/2006/main">
            <a:off x="619125" y="259080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01</a:t>
            </a:r>
          </a:p>
        </p:txBody>
      </p:sp>
      <p:sp>
        <p:nvSpPr>
          <p:cNvPr id="9" name="text-10-6">
            <a:extLst xmlns:a="http://schemas.openxmlformats.org/drawingml/2006/main">
              <a:ext uri="{FF2B5EF4-FFF2-40B4-BE49-F238E27FC236}">
                <a16:creationId xmlns:a16="http://schemas.microsoft.com/office/drawing/2014/main" id="{52C0BF92-D161-4BB0-BBBE-729A9F49C48D}"/>
              </a:ext>
            </a:extLst>
          </p:cNvPr>
          <p:cNvSpPr>
            <a:spLocks xmlns:a="http://schemas.openxmlformats.org/drawingml/2006/main" noGrp="1"/>
          </p:cNvSpPr>
          <p:nvPr/>
        </p:nvSpPr>
        <p:spPr>
          <a:xfrm xmlns:a="http://schemas.openxmlformats.org/drawingml/2006/main">
            <a:off x="1333500" y="259080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Agency</a:t>
            </a:r>
          </a:p>
        </p:txBody>
      </p:sp>
      <p:sp>
        <p:nvSpPr>
          <p:cNvPr id="10" name="text-10-7">
            <a:extLst xmlns:a="http://schemas.openxmlformats.org/drawingml/2006/main">
              <a:ext uri="{FF2B5EF4-FFF2-40B4-BE49-F238E27FC236}">
                <a16:creationId xmlns:a16="http://schemas.microsoft.com/office/drawing/2014/main" id="{A2C74146-13C1-4269-B07E-1CAB2D2A8882}"/>
              </a:ext>
            </a:extLst>
          </p:cNvPr>
          <p:cNvSpPr>
            <a:spLocks xmlns:a="http://schemas.openxmlformats.org/drawingml/2006/main" noGrp="1"/>
          </p:cNvSpPr>
          <p:nvPr/>
        </p:nvSpPr>
        <p:spPr>
          <a:xfrm xmlns:a="http://schemas.openxmlformats.org/drawingml/2006/main">
            <a:off x="5095875" y="260032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Maya can edit, reject or defer. Every decision needs a reason and owner.</a:t>
            </a:r>
          </a:p>
        </p:txBody>
      </p:sp>
      <p:sp>
        <p:nvSpPr>
          <p:cNvPr id="11" name="text-10-8">
            <a:extLst xmlns:a="http://schemas.openxmlformats.org/drawingml/2006/main">
              <a:ext uri="{FF2B5EF4-FFF2-40B4-BE49-F238E27FC236}">
                <a16:creationId xmlns:a16="http://schemas.microsoft.com/office/drawing/2014/main" id="{E0D916F3-BD66-4321-94DE-7E012FA12F78}"/>
              </a:ext>
            </a:extLst>
          </p:cNvPr>
          <p:cNvSpPr>
            <a:spLocks xmlns:a="http://schemas.openxmlformats.org/drawingml/2006/main" noGrp="1"/>
          </p:cNvSpPr>
          <p:nvPr/>
        </p:nvSpPr>
        <p:spPr>
          <a:xfrm xmlns:a="http://schemas.openxmlformats.org/drawingml/2006/main">
            <a:off x="619125" y="3590925"/>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02</a:t>
            </a:r>
          </a:p>
        </p:txBody>
      </p:sp>
      <p:sp>
        <p:nvSpPr>
          <p:cNvPr id="12" name="text-10-9">
            <a:extLst xmlns:a="http://schemas.openxmlformats.org/drawingml/2006/main">
              <a:ext uri="{FF2B5EF4-FFF2-40B4-BE49-F238E27FC236}">
                <a16:creationId xmlns:a16="http://schemas.microsoft.com/office/drawing/2014/main" id="{D90E9D5F-BDF3-415E-BA64-DF8E61882B17}"/>
              </a:ext>
            </a:extLst>
          </p:cNvPr>
          <p:cNvSpPr>
            <a:spLocks xmlns:a="http://schemas.openxmlformats.org/drawingml/2006/main" noGrp="1"/>
          </p:cNvSpPr>
          <p:nvPr/>
        </p:nvSpPr>
        <p:spPr>
          <a:xfrm xmlns:a="http://schemas.openxmlformats.org/drawingml/2006/main">
            <a:off x="1333500" y="359092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Cultural meaning</a:t>
            </a:r>
          </a:p>
        </p:txBody>
      </p:sp>
      <p:sp>
        <p:nvSpPr>
          <p:cNvPr id="13" name="text-10-10">
            <a:extLst xmlns:a="http://schemas.openxmlformats.org/drawingml/2006/main">
              <a:ext uri="{FF2B5EF4-FFF2-40B4-BE49-F238E27FC236}">
                <a16:creationId xmlns:a16="http://schemas.microsoft.com/office/drawing/2014/main" id="{F1688722-A837-4E4F-A40A-D5FBD118BD33}"/>
              </a:ext>
            </a:extLst>
          </p:cNvPr>
          <p:cNvSpPr>
            <a:spLocks xmlns:a="http://schemas.openxmlformats.org/drawingml/2006/main" noGrp="1"/>
          </p:cNvSpPr>
          <p:nvPr/>
        </p:nvSpPr>
        <p:spPr>
          <a:xfrm xmlns:a="http://schemas.openxmlformats.org/drawingml/2006/main">
            <a:off x="5095875" y="3600450"/>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Read Lin’s actual question. A local colleague checks meaning and technical scope.</a:t>
            </a:r>
          </a:p>
        </p:txBody>
      </p:sp>
      <p:sp>
        <p:nvSpPr>
          <p:cNvPr id="14" name="text-10-11">
            <a:extLst xmlns:a="http://schemas.openxmlformats.org/drawingml/2006/main">
              <a:ext uri="{FF2B5EF4-FFF2-40B4-BE49-F238E27FC236}">
                <a16:creationId xmlns:a16="http://schemas.microsoft.com/office/drawing/2014/main" id="{A5C12535-F993-4406-B2DF-D263A0841E9F}"/>
              </a:ext>
            </a:extLst>
          </p:cNvPr>
          <p:cNvSpPr>
            <a:spLocks xmlns:a="http://schemas.openxmlformats.org/drawingml/2006/main" noGrp="1"/>
          </p:cNvSpPr>
          <p:nvPr/>
        </p:nvSpPr>
        <p:spPr>
          <a:xfrm xmlns:a="http://schemas.openxmlformats.org/drawingml/2006/main">
            <a:off x="619125" y="459105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03</a:t>
            </a:r>
          </a:p>
        </p:txBody>
      </p:sp>
      <p:sp>
        <p:nvSpPr>
          <p:cNvPr id="15" name="text-10-12">
            <a:extLst xmlns:a="http://schemas.openxmlformats.org/drawingml/2006/main">
              <a:ext uri="{FF2B5EF4-FFF2-40B4-BE49-F238E27FC236}">
                <a16:creationId xmlns:a16="http://schemas.microsoft.com/office/drawing/2014/main" id="{3583AA8E-6FFF-4434-A6DB-5F899C05C2EB}"/>
              </a:ext>
            </a:extLst>
          </p:cNvPr>
          <p:cNvSpPr>
            <a:spLocks xmlns:a="http://schemas.openxmlformats.org/drawingml/2006/main" noGrp="1"/>
          </p:cNvSpPr>
          <p:nvPr/>
        </p:nvSpPr>
        <p:spPr>
          <a:xfrm xmlns:a="http://schemas.openxmlformats.org/drawingml/2006/main">
            <a:off x="1333500" y="45910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Privacy and fairness</a:t>
            </a:r>
          </a:p>
        </p:txBody>
      </p:sp>
      <p:sp>
        <p:nvSpPr>
          <p:cNvPr id="16" name="text-10-13">
            <a:extLst xmlns:a="http://schemas.openxmlformats.org/drawingml/2006/main">
              <a:ext uri="{FF2B5EF4-FFF2-40B4-BE49-F238E27FC236}">
                <a16:creationId xmlns:a16="http://schemas.microsoft.com/office/drawing/2014/main" id="{E73D9B85-FE75-481B-9B21-566557825B65}"/>
              </a:ext>
            </a:extLst>
          </p:cNvPr>
          <p:cNvSpPr>
            <a:spLocks xmlns:a="http://schemas.openxmlformats.org/drawingml/2006/main" noGrp="1"/>
          </p:cNvSpPr>
          <p:nvPr/>
        </p:nvSpPr>
        <p:spPr>
          <a:xfrm xmlns:a="http://schemas.openxmlformats.org/drawingml/2006/main">
            <a:off x="5095875" y="460057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Use licensed or consented sources. Avoid profiling people. Include quieter voices.</a:t>
            </a:r>
          </a:p>
        </p:txBody>
      </p:sp>
      <p:sp>
        <p:nvSpPr>
          <p:cNvPr id="17" name="text-10-14">
            <a:extLst xmlns:a="http://schemas.openxmlformats.org/drawingml/2006/main">
              <a:ext uri="{FF2B5EF4-FFF2-40B4-BE49-F238E27FC236}">
                <a16:creationId xmlns:a16="http://schemas.microsoft.com/office/drawing/2014/main" id="{16370647-777E-4C93-9395-0C467FB507E8}"/>
              </a:ext>
            </a:extLst>
          </p:cNvPr>
          <p:cNvSpPr>
            <a:spLocks xmlns:a="http://schemas.openxmlformats.org/drawingml/2006/main" noGrp="1"/>
          </p:cNvSpPr>
          <p:nvPr/>
        </p:nvSpPr>
        <p:spPr>
          <a:xfrm xmlns:a="http://schemas.openxmlformats.org/drawingml/2006/main">
            <a:off x="619125" y="58959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3F682E"/>
                </a:solidFill>
                <a:latin typeface="Arial"/>
                <a:ea typeface="Arial"/>
                <a:cs typeface="Arial"/>
              </a:defRPr>
            </a:defPPr>
            <a:lvl1pPr>
              <a:defRPr sz="1575" b="1">
                <a:solidFill>
                  <a:srgbClr val="3F682E"/>
                </a:solidFill>
                <a:latin typeface="Arial"/>
                <a:ea typeface="Arial"/>
                <a:cs typeface="Arial"/>
              </a:defRPr>
            </a:lvl1pPr>
            <a:lvl2pPr>
              <a:defRPr sz="1575" b="1">
                <a:solidFill>
                  <a:srgbClr val="3F682E"/>
                </a:solidFill>
                <a:latin typeface="Arial"/>
                <a:ea typeface="Arial"/>
                <a:cs typeface="Arial"/>
              </a:defRPr>
            </a:lvl2pPr>
            <a:lvl3pPr>
              <a:defRPr sz="1575" b="1">
                <a:solidFill>
                  <a:srgbClr val="3F682E"/>
                </a:solidFill>
                <a:latin typeface="Arial"/>
                <a:ea typeface="Arial"/>
                <a:cs typeface="Arial"/>
              </a:defRPr>
            </a:lvl3pPr>
            <a:lvl4pPr>
              <a:defRPr sz="1575" b="1">
                <a:solidFill>
                  <a:srgbClr val="3F682E"/>
                </a:solidFill>
                <a:latin typeface="Arial"/>
                <a:ea typeface="Arial"/>
                <a:cs typeface="Arial"/>
              </a:defRPr>
            </a:lvl4pPr>
            <a:lvl5pPr>
              <a:defRPr sz="1575" b="1">
                <a:solidFill>
                  <a:srgbClr val="3F682E"/>
                </a:solidFill>
                <a:latin typeface="Arial"/>
                <a:ea typeface="Arial"/>
                <a:cs typeface="Arial"/>
              </a:defRPr>
            </a:lvl5pPr>
            <a:lvl6pPr>
              <a:defRPr sz="1575" b="1">
                <a:solidFill>
                  <a:srgbClr val="3F682E"/>
                </a:solidFill>
                <a:latin typeface="Arial"/>
                <a:ea typeface="Arial"/>
                <a:cs typeface="Arial"/>
              </a:defRPr>
            </a:lvl6pPr>
            <a:lvl7pPr>
              <a:defRPr sz="1575" b="1">
                <a:solidFill>
                  <a:srgbClr val="3F682E"/>
                </a:solidFill>
                <a:latin typeface="Arial"/>
                <a:ea typeface="Arial"/>
                <a:cs typeface="Arial"/>
              </a:defRPr>
            </a:lvl7pPr>
            <a:lvl8pPr>
              <a:defRPr sz="1575" b="1">
                <a:solidFill>
                  <a:srgbClr val="3F682E"/>
                </a:solidFill>
                <a:latin typeface="Arial"/>
                <a:ea typeface="Arial"/>
                <a:cs typeface="Arial"/>
              </a:defRPr>
            </a:lvl8pPr>
            <a:lvl9pPr>
              <a:defRPr sz="1575" b="1">
                <a:solidFill>
                  <a:srgbClr val="3F682E"/>
                </a:solidFill>
                <a:latin typeface="Arial"/>
                <a:ea typeface="Arial"/>
                <a:cs typeface="Arial"/>
              </a:defRPr>
            </a:lvl9pPr>
          </a:lstStyle>
          <a:p xmlns:a="http://schemas.openxmlformats.org/drawingml/2006/main">
            <a:pPr>
              <a:defRPr sz="1575" b="1">
                <a:solidFill>
                  <a:srgbClr val="3F682E"/>
                </a:solidFill>
                <a:latin typeface="Arial"/>
                <a:ea typeface="Arial"/>
                <a:cs typeface="Arial"/>
              </a:defRPr>
            </a:pPr>
            <a:r>
              <a:rPr sz="1575" b="1">
                <a:solidFill>
                  <a:srgbClr val="3F682E"/>
                </a:solidFill>
                <a:latin typeface="Arial"/>
                <a:ea typeface="Arial"/>
                <a:cs typeface="Arial"/>
              </a:rPr>
              <a:t>Pilot safeguards: SSO, document permissions, retention rules and an approved model environment.</a:t>
            </a:r>
          </a:p>
        </p:txBody>
      </p:sp>
    </p:spTree>
    <p:extLst>
      <p:ext uri="{BB962C8B-B14F-4D97-AF65-F5344CB8AC3E}">
        <p14:creationId xmlns:p14="http://schemas.microsoft.com/office/powerpoint/2010/main" val="1526989141"/>
      </p:ext>
    </p:extLst>
  </p:cSld>
</p:sld>
</file>

<file path=ppt/slides/slide11.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0132D534-5470-41FB-86FF-E766D2B08634}"/>
              </a:ext>
            </a:extLst>
          </p:cNvPr>
          <p:cNvPicPr>
            <a:picLocks xmlns:a="http://schemas.openxmlformats.org/drawingml/2006/main" noChangeAspect="1"/>
          </p:cNvPicPr>
          <p:nvPr/>
        </p:nvPicPr>
        <p:blipFill>
          <a:blip xmlns:r="http://schemas.openxmlformats.org/officeDocument/2006/relationships" xmlns:a="http://schemas.openxmlformats.org/drawingml/2006/main" r:embed="R50b1824ffb6d4af6"/>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11-0">
            <a:extLst xmlns:a="http://schemas.openxmlformats.org/drawingml/2006/main">
              <a:ext uri="{FF2B5EF4-FFF2-40B4-BE49-F238E27FC236}">
                <a16:creationId xmlns:a16="http://schemas.microsoft.com/office/drawing/2014/main" id="{EAC0B842-88A7-4A96-BC8D-AFDDBF02319B}"/>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DC54F25F-3CBE-4638-A519-DD652C787CD4}"/>
              </a:ext>
            </a:extLst>
          </p:cNvPr>
          <p:cNvPicPr>
            <a:picLocks xmlns:a="http://schemas.openxmlformats.org/drawingml/2006/main" noChangeAspect="1"/>
          </p:cNvPicPr>
          <p:nvPr/>
        </p:nvPicPr>
        <p:blipFill>
          <a:blip xmlns:r="http://schemas.openxmlformats.org/officeDocument/2006/relationships" xmlns:a="http://schemas.openxmlformats.org/drawingml/2006/main" r:embed="Ref4825ef6672493d"/>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1-1">
            <a:extLst xmlns:a="http://schemas.openxmlformats.org/drawingml/2006/main">
              <a:ext uri="{FF2B5EF4-FFF2-40B4-BE49-F238E27FC236}">
                <a16:creationId xmlns:a16="http://schemas.microsoft.com/office/drawing/2014/main" id="{E95FE9D3-F32C-414D-A694-5E7AC691C30B}"/>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04 HUMAN ASPECT / REVIEWED LEARNING</a:t>
            </a:r>
          </a:p>
        </p:txBody>
      </p:sp>
      <p:sp>
        <p:nvSpPr>
          <p:cNvPr id="5" name="text-11-2">
            <a:extLst xmlns:a="http://schemas.openxmlformats.org/drawingml/2006/main">
              <a:ext uri="{FF2B5EF4-FFF2-40B4-BE49-F238E27FC236}">
                <a16:creationId xmlns:a16="http://schemas.microsoft.com/office/drawing/2014/main" id="{EB2C4E8E-F74A-4427-B56C-C2F592004C22}"/>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The story continues after the decision</a:t>
            </a:r>
          </a:p>
        </p:txBody>
      </p:sp>
      <p:sp>
        <p:nvSpPr>
          <p:cNvPr id="6" name="text-11-3">
            <a:extLst xmlns:a="http://schemas.openxmlformats.org/drawingml/2006/main">
              <a:ext uri="{FF2B5EF4-FFF2-40B4-BE49-F238E27FC236}">
                <a16:creationId xmlns:a16="http://schemas.microsoft.com/office/drawing/2014/main" id="{AED77946-2424-46ED-A304-4EAB9BB7ED9C}"/>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Human-centered &amp; responsible · Originality</a:t>
            </a:r>
          </a:p>
        </p:txBody>
      </p:sp>
      <p:sp>
        <p:nvSpPr>
          <p:cNvPr id="7" name="text-11-4">
            <a:extLst xmlns:a="http://schemas.openxmlformats.org/drawingml/2006/main">
              <a:ext uri="{FF2B5EF4-FFF2-40B4-BE49-F238E27FC236}">
                <a16:creationId xmlns:a16="http://schemas.microsoft.com/office/drawing/2014/main" id="{65E8C167-C4EF-435E-85E9-3D7FC1A46B9C}"/>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11</a:t>
            </a:r>
          </a:p>
        </p:txBody>
      </p:sp>
      <p:sp>
        <p:nvSpPr>
          <p:cNvPr id="8" name="text-11-5">
            <a:extLst xmlns:a="http://schemas.openxmlformats.org/drawingml/2006/main">
              <a:ext uri="{FF2B5EF4-FFF2-40B4-BE49-F238E27FC236}">
                <a16:creationId xmlns:a16="http://schemas.microsoft.com/office/drawing/2014/main" id="{4859A8CB-248C-4686-A3DF-B507167C53F8}"/>
              </a:ext>
            </a:extLst>
          </p:cNvPr>
          <p:cNvSpPr>
            <a:spLocks xmlns:a="http://schemas.openxmlformats.org/drawingml/2006/main" noGrp="1"/>
          </p:cNvSpPr>
          <p:nvPr/>
        </p:nvSpPr>
        <p:spPr>
          <a:xfrm xmlns:a="http://schemas.openxmlformats.org/drawingml/2006/main">
            <a:off x="619125" y="2705100"/>
            <a:ext cx="233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D8BC62"/>
                </a:solidFill>
                <a:latin typeface="Poppins"/>
                <a:ea typeface="Poppins"/>
                <a:cs typeface="Poppins"/>
              </a:defRPr>
            </a:defPPr>
            <a:lvl1pPr>
              <a:defRPr sz="3750" b="1">
                <a:solidFill>
                  <a:srgbClr val="D8BC62"/>
                </a:solidFill>
                <a:latin typeface="Poppins"/>
                <a:ea typeface="Poppins"/>
                <a:cs typeface="Poppins"/>
              </a:defRPr>
            </a:lvl1pPr>
            <a:lvl2pPr>
              <a:defRPr sz="3750" b="1">
                <a:solidFill>
                  <a:srgbClr val="D8BC62"/>
                </a:solidFill>
                <a:latin typeface="Poppins"/>
                <a:ea typeface="Poppins"/>
                <a:cs typeface="Poppins"/>
              </a:defRPr>
            </a:lvl2pPr>
            <a:lvl3pPr>
              <a:defRPr sz="3750" b="1">
                <a:solidFill>
                  <a:srgbClr val="D8BC62"/>
                </a:solidFill>
                <a:latin typeface="Poppins"/>
                <a:ea typeface="Poppins"/>
                <a:cs typeface="Poppins"/>
              </a:defRPr>
            </a:lvl3pPr>
            <a:lvl4pPr>
              <a:defRPr sz="3750" b="1">
                <a:solidFill>
                  <a:srgbClr val="D8BC62"/>
                </a:solidFill>
                <a:latin typeface="Poppins"/>
                <a:ea typeface="Poppins"/>
                <a:cs typeface="Poppins"/>
              </a:defRPr>
            </a:lvl4pPr>
            <a:lvl5pPr>
              <a:defRPr sz="3750" b="1">
                <a:solidFill>
                  <a:srgbClr val="D8BC62"/>
                </a:solidFill>
                <a:latin typeface="Poppins"/>
                <a:ea typeface="Poppins"/>
                <a:cs typeface="Poppins"/>
              </a:defRPr>
            </a:lvl5pPr>
            <a:lvl6pPr>
              <a:defRPr sz="3750" b="1">
                <a:solidFill>
                  <a:srgbClr val="D8BC62"/>
                </a:solidFill>
                <a:latin typeface="Poppins"/>
                <a:ea typeface="Poppins"/>
                <a:cs typeface="Poppins"/>
              </a:defRPr>
            </a:lvl6pPr>
            <a:lvl7pPr>
              <a:defRPr sz="3750" b="1">
                <a:solidFill>
                  <a:srgbClr val="D8BC62"/>
                </a:solidFill>
                <a:latin typeface="Poppins"/>
                <a:ea typeface="Poppins"/>
                <a:cs typeface="Poppins"/>
              </a:defRPr>
            </a:lvl7pPr>
            <a:lvl8pPr>
              <a:defRPr sz="3750" b="1">
                <a:solidFill>
                  <a:srgbClr val="D8BC62"/>
                </a:solidFill>
                <a:latin typeface="Poppins"/>
                <a:ea typeface="Poppins"/>
                <a:cs typeface="Poppins"/>
              </a:defRPr>
            </a:lvl8pPr>
            <a:lvl9pPr>
              <a:defRPr sz="3750" b="1">
                <a:solidFill>
                  <a:srgbClr val="D8BC62"/>
                </a:solidFill>
                <a:latin typeface="Poppins"/>
                <a:ea typeface="Poppins"/>
                <a:cs typeface="Poppins"/>
              </a:defRPr>
            </a:lvl9pPr>
          </a:lstStyle>
          <a:p xmlns:a="http://schemas.openxmlformats.org/drawingml/2006/main">
            <a:pPr>
              <a:defRPr sz="3750" b="1">
                <a:solidFill>
                  <a:srgbClr val="D8BC62"/>
                </a:solidFill>
                <a:latin typeface="Poppins"/>
                <a:ea typeface="Poppins"/>
                <a:cs typeface="Poppins"/>
              </a:defRPr>
            </a:pPr>
            <a:r>
              <a:rPr sz="3750" b="1">
                <a:solidFill>
                  <a:srgbClr val="D8BC62"/>
                </a:solidFill>
                <a:latin typeface="Poppins"/>
                <a:ea typeface="Poppins"/>
                <a:cs typeface="Poppins"/>
              </a:rPr>
              <a:t>01</a:t>
            </a:r>
          </a:p>
        </p:txBody>
      </p:sp>
      <p:sp>
        <p:nvSpPr>
          <p:cNvPr id="9" name="text-11-6">
            <a:extLst xmlns:a="http://schemas.openxmlformats.org/drawingml/2006/main">
              <a:ext uri="{FF2B5EF4-FFF2-40B4-BE49-F238E27FC236}">
                <a16:creationId xmlns:a16="http://schemas.microsoft.com/office/drawing/2014/main" id="{145B7B19-8B51-4C2D-8E16-271E0A2C5A8E}"/>
              </a:ext>
            </a:extLst>
          </p:cNvPr>
          <p:cNvSpPr>
            <a:spLocks xmlns:a="http://schemas.openxmlformats.org/drawingml/2006/main" noGrp="1"/>
          </p:cNvSpPr>
          <p:nvPr/>
        </p:nvSpPr>
        <p:spPr>
          <a:xfrm xmlns:a="http://schemas.openxmlformats.org/drawingml/2006/main">
            <a:off x="619125" y="3581400"/>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F682E"/>
                </a:solidFill>
                <a:latin typeface="Poppins"/>
                <a:ea typeface="Poppins"/>
                <a:cs typeface="Poppins"/>
              </a:defRPr>
            </a:defPPr>
            <a:lvl1pPr>
              <a:defRPr sz="2175" b="1">
                <a:solidFill>
                  <a:srgbClr val="3F682E"/>
                </a:solidFill>
                <a:latin typeface="Poppins"/>
                <a:ea typeface="Poppins"/>
                <a:cs typeface="Poppins"/>
              </a:defRPr>
            </a:lvl1pPr>
            <a:lvl2pPr>
              <a:defRPr sz="2175" b="1">
                <a:solidFill>
                  <a:srgbClr val="3F682E"/>
                </a:solidFill>
                <a:latin typeface="Poppins"/>
                <a:ea typeface="Poppins"/>
                <a:cs typeface="Poppins"/>
              </a:defRPr>
            </a:lvl2pPr>
            <a:lvl3pPr>
              <a:defRPr sz="2175" b="1">
                <a:solidFill>
                  <a:srgbClr val="3F682E"/>
                </a:solidFill>
                <a:latin typeface="Poppins"/>
                <a:ea typeface="Poppins"/>
                <a:cs typeface="Poppins"/>
              </a:defRPr>
            </a:lvl3pPr>
            <a:lvl4pPr>
              <a:defRPr sz="2175" b="1">
                <a:solidFill>
                  <a:srgbClr val="3F682E"/>
                </a:solidFill>
                <a:latin typeface="Poppins"/>
                <a:ea typeface="Poppins"/>
                <a:cs typeface="Poppins"/>
              </a:defRPr>
            </a:lvl4pPr>
            <a:lvl5pPr>
              <a:defRPr sz="2175" b="1">
                <a:solidFill>
                  <a:srgbClr val="3F682E"/>
                </a:solidFill>
                <a:latin typeface="Poppins"/>
                <a:ea typeface="Poppins"/>
                <a:cs typeface="Poppins"/>
              </a:defRPr>
            </a:lvl5pPr>
            <a:lvl6pPr>
              <a:defRPr sz="2175" b="1">
                <a:solidFill>
                  <a:srgbClr val="3F682E"/>
                </a:solidFill>
                <a:latin typeface="Poppins"/>
                <a:ea typeface="Poppins"/>
                <a:cs typeface="Poppins"/>
              </a:defRPr>
            </a:lvl6pPr>
            <a:lvl7pPr>
              <a:defRPr sz="2175" b="1">
                <a:solidFill>
                  <a:srgbClr val="3F682E"/>
                </a:solidFill>
                <a:latin typeface="Poppins"/>
                <a:ea typeface="Poppins"/>
                <a:cs typeface="Poppins"/>
              </a:defRPr>
            </a:lvl7pPr>
            <a:lvl8pPr>
              <a:defRPr sz="2175" b="1">
                <a:solidFill>
                  <a:srgbClr val="3F682E"/>
                </a:solidFill>
                <a:latin typeface="Poppins"/>
                <a:ea typeface="Poppins"/>
                <a:cs typeface="Poppins"/>
              </a:defRPr>
            </a:lvl8pPr>
            <a:lvl9pPr>
              <a:defRPr sz="2175" b="1">
                <a:solidFill>
                  <a:srgbClr val="3F682E"/>
                </a:solidFill>
                <a:latin typeface="Poppins"/>
                <a:ea typeface="Poppins"/>
                <a:cs typeface="Poppins"/>
              </a:defRPr>
            </a:lvl9pPr>
          </a:lstStyle>
          <a:p xmlns:a="http://schemas.openxmlformats.org/drawingml/2006/main">
            <a:pPr>
              <a:defRPr sz="2175" b="1">
                <a:solidFill>
                  <a:srgbClr val="3F682E"/>
                </a:solidFill>
                <a:latin typeface="Poppins"/>
                <a:ea typeface="Poppins"/>
                <a:cs typeface="Poppins"/>
              </a:defRPr>
            </a:pPr>
            <a:r>
              <a:rPr sz="2175" b="1">
                <a:solidFill>
                  <a:srgbClr val="3F682E"/>
                </a:solidFill>
                <a:latin typeface="Poppins"/>
                <a:ea typeface="Poppins"/>
                <a:cs typeface="Poppins"/>
              </a:rPr>
              <a:t>Decision</a:t>
            </a:r>
          </a:p>
        </p:txBody>
      </p:sp>
      <p:sp>
        <p:nvSpPr>
          <p:cNvPr id="10" name="text-11-7">
            <a:extLst xmlns:a="http://schemas.openxmlformats.org/drawingml/2006/main">
              <a:ext uri="{FF2B5EF4-FFF2-40B4-BE49-F238E27FC236}">
                <a16:creationId xmlns:a16="http://schemas.microsoft.com/office/drawing/2014/main" id="{0424C024-C2CA-4323-985C-9C45D5C4023B}"/>
              </a:ext>
            </a:extLst>
          </p:cNvPr>
          <p:cNvSpPr>
            <a:spLocks xmlns:a="http://schemas.openxmlformats.org/drawingml/2006/main" noGrp="1"/>
          </p:cNvSpPr>
          <p:nvPr/>
        </p:nvSpPr>
        <p:spPr>
          <a:xfrm xmlns:a="http://schemas.openxmlformats.org/drawingml/2006/main">
            <a:off x="619125" y="4410075"/>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Maya assigns a China</a:t>
            </a:r>
          </a:p>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owner and review time.</a:t>
            </a:r>
          </a:p>
        </p:txBody>
      </p:sp>
      <p:sp>
        <p:nvSpPr>
          <p:cNvPr id="11" name="text-11-8">
            <a:extLst xmlns:a="http://schemas.openxmlformats.org/drawingml/2006/main">
              <a:ext uri="{FF2B5EF4-FFF2-40B4-BE49-F238E27FC236}">
                <a16:creationId xmlns:a16="http://schemas.microsoft.com/office/drawing/2014/main" id="{17F6C294-D11C-484C-8C65-890045CC097F}"/>
              </a:ext>
            </a:extLst>
          </p:cNvPr>
          <p:cNvSpPr>
            <a:spLocks xmlns:a="http://schemas.openxmlformats.org/drawingml/2006/main" noGrp="1"/>
          </p:cNvSpPr>
          <p:nvPr/>
        </p:nvSpPr>
        <p:spPr>
          <a:xfrm xmlns:a="http://schemas.openxmlformats.org/drawingml/2006/main">
            <a:off x="3419475" y="2705100"/>
            <a:ext cx="233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D8BC62"/>
                </a:solidFill>
                <a:latin typeface="Poppins"/>
                <a:ea typeface="Poppins"/>
                <a:cs typeface="Poppins"/>
              </a:defRPr>
            </a:defPPr>
            <a:lvl1pPr>
              <a:defRPr sz="3750" b="1">
                <a:solidFill>
                  <a:srgbClr val="D8BC62"/>
                </a:solidFill>
                <a:latin typeface="Poppins"/>
                <a:ea typeface="Poppins"/>
                <a:cs typeface="Poppins"/>
              </a:defRPr>
            </a:lvl1pPr>
            <a:lvl2pPr>
              <a:defRPr sz="3750" b="1">
                <a:solidFill>
                  <a:srgbClr val="D8BC62"/>
                </a:solidFill>
                <a:latin typeface="Poppins"/>
                <a:ea typeface="Poppins"/>
                <a:cs typeface="Poppins"/>
              </a:defRPr>
            </a:lvl2pPr>
            <a:lvl3pPr>
              <a:defRPr sz="3750" b="1">
                <a:solidFill>
                  <a:srgbClr val="D8BC62"/>
                </a:solidFill>
                <a:latin typeface="Poppins"/>
                <a:ea typeface="Poppins"/>
                <a:cs typeface="Poppins"/>
              </a:defRPr>
            </a:lvl3pPr>
            <a:lvl4pPr>
              <a:defRPr sz="3750" b="1">
                <a:solidFill>
                  <a:srgbClr val="D8BC62"/>
                </a:solidFill>
                <a:latin typeface="Poppins"/>
                <a:ea typeface="Poppins"/>
                <a:cs typeface="Poppins"/>
              </a:defRPr>
            </a:lvl4pPr>
            <a:lvl5pPr>
              <a:defRPr sz="3750" b="1">
                <a:solidFill>
                  <a:srgbClr val="D8BC62"/>
                </a:solidFill>
                <a:latin typeface="Poppins"/>
                <a:ea typeface="Poppins"/>
                <a:cs typeface="Poppins"/>
              </a:defRPr>
            </a:lvl5pPr>
            <a:lvl6pPr>
              <a:defRPr sz="3750" b="1">
                <a:solidFill>
                  <a:srgbClr val="D8BC62"/>
                </a:solidFill>
                <a:latin typeface="Poppins"/>
                <a:ea typeface="Poppins"/>
                <a:cs typeface="Poppins"/>
              </a:defRPr>
            </a:lvl6pPr>
            <a:lvl7pPr>
              <a:defRPr sz="3750" b="1">
                <a:solidFill>
                  <a:srgbClr val="D8BC62"/>
                </a:solidFill>
                <a:latin typeface="Poppins"/>
                <a:ea typeface="Poppins"/>
                <a:cs typeface="Poppins"/>
              </a:defRPr>
            </a:lvl7pPr>
            <a:lvl8pPr>
              <a:defRPr sz="3750" b="1">
                <a:solidFill>
                  <a:srgbClr val="D8BC62"/>
                </a:solidFill>
                <a:latin typeface="Poppins"/>
                <a:ea typeface="Poppins"/>
                <a:cs typeface="Poppins"/>
              </a:defRPr>
            </a:lvl8pPr>
            <a:lvl9pPr>
              <a:defRPr sz="3750" b="1">
                <a:solidFill>
                  <a:srgbClr val="D8BC62"/>
                </a:solidFill>
                <a:latin typeface="Poppins"/>
                <a:ea typeface="Poppins"/>
                <a:cs typeface="Poppins"/>
              </a:defRPr>
            </a:lvl9pPr>
          </a:lstStyle>
          <a:p xmlns:a="http://schemas.openxmlformats.org/drawingml/2006/main">
            <a:pPr>
              <a:defRPr sz="3750" b="1">
                <a:solidFill>
                  <a:srgbClr val="D8BC62"/>
                </a:solidFill>
                <a:latin typeface="Poppins"/>
                <a:ea typeface="Poppins"/>
                <a:cs typeface="Poppins"/>
              </a:defRPr>
            </a:pPr>
            <a:r>
              <a:rPr sz="3750" b="1">
                <a:solidFill>
                  <a:srgbClr val="D8BC62"/>
                </a:solidFill>
                <a:latin typeface="Poppins"/>
                <a:ea typeface="Poppins"/>
                <a:cs typeface="Poppins"/>
              </a:rPr>
              <a:t>02</a:t>
            </a:r>
          </a:p>
        </p:txBody>
      </p:sp>
      <p:sp>
        <p:nvSpPr>
          <p:cNvPr id="12" name="text-11-9">
            <a:extLst xmlns:a="http://schemas.openxmlformats.org/drawingml/2006/main">
              <a:ext uri="{FF2B5EF4-FFF2-40B4-BE49-F238E27FC236}">
                <a16:creationId xmlns:a16="http://schemas.microsoft.com/office/drawing/2014/main" id="{03918340-B303-479E-B190-907E7548F48E}"/>
              </a:ext>
            </a:extLst>
          </p:cNvPr>
          <p:cNvSpPr>
            <a:spLocks xmlns:a="http://schemas.openxmlformats.org/drawingml/2006/main" noGrp="1"/>
          </p:cNvSpPr>
          <p:nvPr/>
        </p:nvSpPr>
        <p:spPr>
          <a:xfrm xmlns:a="http://schemas.openxmlformats.org/drawingml/2006/main">
            <a:off x="3419475" y="3581400"/>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F682E"/>
                </a:solidFill>
                <a:latin typeface="Poppins"/>
                <a:ea typeface="Poppins"/>
                <a:cs typeface="Poppins"/>
              </a:defRPr>
            </a:defPPr>
            <a:lvl1pPr>
              <a:defRPr sz="2175" b="1">
                <a:solidFill>
                  <a:srgbClr val="3F682E"/>
                </a:solidFill>
                <a:latin typeface="Poppins"/>
                <a:ea typeface="Poppins"/>
                <a:cs typeface="Poppins"/>
              </a:defRPr>
            </a:lvl1pPr>
            <a:lvl2pPr>
              <a:defRPr sz="2175" b="1">
                <a:solidFill>
                  <a:srgbClr val="3F682E"/>
                </a:solidFill>
                <a:latin typeface="Poppins"/>
                <a:ea typeface="Poppins"/>
                <a:cs typeface="Poppins"/>
              </a:defRPr>
            </a:lvl2pPr>
            <a:lvl3pPr>
              <a:defRPr sz="2175" b="1">
                <a:solidFill>
                  <a:srgbClr val="3F682E"/>
                </a:solidFill>
                <a:latin typeface="Poppins"/>
                <a:ea typeface="Poppins"/>
                <a:cs typeface="Poppins"/>
              </a:defRPr>
            </a:lvl3pPr>
            <a:lvl4pPr>
              <a:defRPr sz="2175" b="1">
                <a:solidFill>
                  <a:srgbClr val="3F682E"/>
                </a:solidFill>
                <a:latin typeface="Poppins"/>
                <a:ea typeface="Poppins"/>
                <a:cs typeface="Poppins"/>
              </a:defRPr>
            </a:lvl4pPr>
            <a:lvl5pPr>
              <a:defRPr sz="2175" b="1">
                <a:solidFill>
                  <a:srgbClr val="3F682E"/>
                </a:solidFill>
                <a:latin typeface="Poppins"/>
                <a:ea typeface="Poppins"/>
                <a:cs typeface="Poppins"/>
              </a:defRPr>
            </a:lvl5pPr>
            <a:lvl6pPr>
              <a:defRPr sz="2175" b="1">
                <a:solidFill>
                  <a:srgbClr val="3F682E"/>
                </a:solidFill>
                <a:latin typeface="Poppins"/>
                <a:ea typeface="Poppins"/>
                <a:cs typeface="Poppins"/>
              </a:defRPr>
            </a:lvl6pPr>
            <a:lvl7pPr>
              <a:defRPr sz="2175" b="1">
                <a:solidFill>
                  <a:srgbClr val="3F682E"/>
                </a:solidFill>
                <a:latin typeface="Poppins"/>
                <a:ea typeface="Poppins"/>
                <a:cs typeface="Poppins"/>
              </a:defRPr>
            </a:lvl7pPr>
            <a:lvl8pPr>
              <a:defRPr sz="2175" b="1">
                <a:solidFill>
                  <a:srgbClr val="3F682E"/>
                </a:solidFill>
                <a:latin typeface="Poppins"/>
                <a:ea typeface="Poppins"/>
                <a:cs typeface="Poppins"/>
              </a:defRPr>
            </a:lvl8pPr>
            <a:lvl9pPr>
              <a:defRPr sz="2175" b="1">
                <a:solidFill>
                  <a:srgbClr val="3F682E"/>
                </a:solidFill>
                <a:latin typeface="Poppins"/>
                <a:ea typeface="Poppins"/>
                <a:cs typeface="Poppins"/>
              </a:defRPr>
            </a:lvl9pPr>
          </a:lstStyle>
          <a:p xmlns:a="http://schemas.openxmlformats.org/drawingml/2006/main">
            <a:pPr>
              <a:defRPr sz="2175" b="1">
                <a:solidFill>
                  <a:srgbClr val="3F682E"/>
                </a:solidFill>
                <a:latin typeface="Poppins"/>
                <a:ea typeface="Poppins"/>
                <a:cs typeface="Poppins"/>
              </a:defRPr>
            </a:pPr>
            <a:r>
              <a:rPr sz="2175" b="1">
                <a:solidFill>
                  <a:srgbClr val="3F682E"/>
                </a:solidFill>
                <a:latin typeface="Poppins"/>
                <a:ea typeface="Poppins"/>
                <a:cs typeface="Poppins"/>
              </a:rPr>
              <a:t>Outcome</a:t>
            </a:r>
          </a:p>
        </p:txBody>
      </p:sp>
      <p:sp>
        <p:nvSpPr>
          <p:cNvPr id="13" name="text-11-10">
            <a:extLst xmlns:a="http://schemas.openxmlformats.org/drawingml/2006/main">
              <a:ext uri="{FF2B5EF4-FFF2-40B4-BE49-F238E27FC236}">
                <a16:creationId xmlns:a16="http://schemas.microsoft.com/office/drawing/2014/main" id="{64DCF1AE-0899-467E-8349-EBE534CDF572}"/>
              </a:ext>
            </a:extLst>
          </p:cNvPr>
          <p:cNvSpPr>
            <a:spLocks xmlns:a="http://schemas.openxmlformats.org/drawingml/2006/main" noGrp="1"/>
          </p:cNvSpPr>
          <p:nvPr/>
        </p:nvSpPr>
        <p:spPr>
          <a:xfrm xmlns:a="http://schemas.openxmlformats.org/drawingml/2006/main">
            <a:off x="3419475" y="4410075"/>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The local team checks</a:t>
            </a:r>
          </a:p>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whether the reply helped.</a:t>
            </a:r>
          </a:p>
        </p:txBody>
      </p:sp>
      <p:sp>
        <p:nvSpPr>
          <p:cNvPr id="14" name="text-11-11">
            <a:extLst xmlns:a="http://schemas.openxmlformats.org/drawingml/2006/main">
              <a:ext uri="{FF2B5EF4-FFF2-40B4-BE49-F238E27FC236}">
                <a16:creationId xmlns:a16="http://schemas.microsoft.com/office/drawing/2014/main" id="{A213304F-BF84-4DC9-A213-E0692AD58B7C}"/>
              </a:ext>
            </a:extLst>
          </p:cNvPr>
          <p:cNvSpPr>
            <a:spLocks xmlns:a="http://schemas.openxmlformats.org/drawingml/2006/main" noGrp="1"/>
          </p:cNvSpPr>
          <p:nvPr/>
        </p:nvSpPr>
        <p:spPr>
          <a:xfrm xmlns:a="http://schemas.openxmlformats.org/drawingml/2006/main">
            <a:off x="6219825" y="2705100"/>
            <a:ext cx="233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D8BC62"/>
                </a:solidFill>
                <a:latin typeface="Poppins"/>
                <a:ea typeface="Poppins"/>
                <a:cs typeface="Poppins"/>
              </a:defRPr>
            </a:defPPr>
            <a:lvl1pPr>
              <a:defRPr sz="3750" b="1">
                <a:solidFill>
                  <a:srgbClr val="D8BC62"/>
                </a:solidFill>
                <a:latin typeface="Poppins"/>
                <a:ea typeface="Poppins"/>
                <a:cs typeface="Poppins"/>
              </a:defRPr>
            </a:lvl1pPr>
            <a:lvl2pPr>
              <a:defRPr sz="3750" b="1">
                <a:solidFill>
                  <a:srgbClr val="D8BC62"/>
                </a:solidFill>
                <a:latin typeface="Poppins"/>
                <a:ea typeface="Poppins"/>
                <a:cs typeface="Poppins"/>
              </a:defRPr>
            </a:lvl2pPr>
            <a:lvl3pPr>
              <a:defRPr sz="3750" b="1">
                <a:solidFill>
                  <a:srgbClr val="D8BC62"/>
                </a:solidFill>
                <a:latin typeface="Poppins"/>
                <a:ea typeface="Poppins"/>
                <a:cs typeface="Poppins"/>
              </a:defRPr>
            </a:lvl3pPr>
            <a:lvl4pPr>
              <a:defRPr sz="3750" b="1">
                <a:solidFill>
                  <a:srgbClr val="D8BC62"/>
                </a:solidFill>
                <a:latin typeface="Poppins"/>
                <a:ea typeface="Poppins"/>
                <a:cs typeface="Poppins"/>
              </a:defRPr>
            </a:lvl4pPr>
            <a:lvl5pPr>
              <a:defRPr sz="3750" b="1">
                <a:solidFill>
                  <a:srgbClr val="D8BC62"/>
                </a:solidFill>
                <a:latin typeface="Poppins"/>
                <a:ea typeface="Poppins"/>
                <a:cs typeface="Poppins"/>
              </a:defRPr>
            </a:lvl5pPr>
            <a:lvl6pPr>
              <a:defRPr sz="3750" b="1">
                <a:solidFill>
                  <a:srgbClr val="D8BC62"/>
                </a:solidFill>
                <a:latin typeface="Poppins"/>
                <a:ea typeface="Poppins"/>
                <a:cs typeface="Poppins"/>
              </a:defRPr>
            </a:lvl6pPr>
            <a:lvl7pPr>
              <a:defRPr sz="3750" b="1">
                <a:solidFill>
                  <a:srgbClr val="D8BC62"/>
                </a:solidFill>
                <a:latin typeface="Poppins"/>
                <a:ea typeface="Poppins"/>
                <a:cs typeface="Poppins"/>
              </a:defRPr>
            </a:lvl7pPr>
            <a:lvl8pPr>
              <a:defRPr sz="3750" b="1">
                <a:solidFill>
                  <a:srgbClr val="D8BC62"/>
                </a:solidFill>
                <a:latin typeface="Poppins"/>
                <a:ea typeface="Poppins"/>
                <a:cs typeface="Poppins"/>
              </a:defRPr>
            </a:lvl8pPr>
            <a:lvl9pPr>
              <a:defRPr sz="3750" b="1">
                <a:solidFill>
                  <a:srgbClr val="D8BC62"/>
                </a:solidFill>
                <a:latin typeface="Poppins"/>
                <a:ea typeface="Poppins"/>
                <a:cs typeface="Poppins"/>
              </a:defRPr>
            </a:lvl9pPr>
          </a:lstStyle>
          <a:p xmlns:a="http://schemas.openxmlformats.org/drawingml/2006/main">
            <a:pPr>
              <a:defRPr sz="3750" b="1">
                <a:solidFill>
                  <a:srgbClr val="D8BC62"/>
                </a:solidFill>
                <a:latin typeface="Poppins"/>
                <a:ea typeface="Poppins"/>
                <a:cs typeface="Poppins"/>
              </a:defRPr>
            </a:pPr>
            <a:r>
              <a:rPr sz="3750" b="1">
                <a:solidFill>
                  <a:srgbClr val="D8BC62"/>
                </a:solidFill>
                <a:latin typeface="Poppins"/>
                <a:ea typeface="Poppins"/>
                <a:cs typeface="Poppins"/>
              </a:rPr>
              <a:t>03</a:t>
            </a:r>
          </a:p>
        </p:txBody>
      </p:sp>
      <p:sp>
        <p:nvSpPr>
          <p:cNvPr id="15" name="text-11-12">
            <a:extLst xmlns:a="http://schemas.openxmlformats.org/drawingml/2006/main">
              <a:ext uri="{FF2B5EF4-FFF2-40B4-BE49-F238E27FC236}">
                <a16:creationId xmlns:a16="http://schemas.microsoft.com/office/drawing/2014/main" id="{EE3CA3AF-B093-4444-A13D-C855299B61E6}"/>
              </a:ext>
            </a:extLst>
          </p:cNvPr>
          <p:cNvSpPr>
            <a:spLocks xmlns:a="http://schemas.openxmlformats.org/drawingml/2006/main" noGrp="1"/>
          </p:cNvSpPr>
          <p:nvPr/>
        </p:nvSpPr>
        <p:spPr>
          <a:xfrm xmlns:a="http://schemas.openxmlformats.org/drawingml/2006/main">
            <a:off x="6219825" y="3581400"/>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F682E"/>
                </a:solidFill>
                <a:latin typeface="Poppins"/>
                <a:ea typeface="Poppins"/>
                <a:cs typeface="Poppins"/>
              </a:defRPr>
            </a:defPPr>
            <a:lvl1pPr>
              <a:defRPr sz="2175" b="1">
                <a:solidFill>
                  <a:srgbClr val="3F682E"/>
                </a:solidFill>
                <a:latin typeface="Poppins"/>
                <a:ea typeface="Poppins"/>
                <a:cs typeface="Poppins"/>
              </a:defRPr>
            </a:lvl1pPr>
            <a:lvl2pPr>
              <a:defRPr sz="2175" b="1">
                <a:solidFill>
                  <a:srgbClr val="3F682E"/>
                </a:solidFill>
                <a:latin typeface="Poppins"/>
                <a:ea typeface="Poppins"/>
                <a:cs typeface="Poppins"/>
              </a:defRPr>
            </a:lvl2pPr>
            <a:lvl3pPr>
              <a:defRPr sz="2175" b="1">
                <a:solidFill>
                  <a:srgbClr val="3F682E"/>
                </a:solidFill>
                <a:latin typeface="Poppins"/>
                <a:ea typeface="Poppins"/>
                <a:cs typeface="Poppins"/>
              </a:defRPr>
            </a:lvl3pPr>
            <a:lvl4pPr>
              <a:defRPr sz="2175" b="1">
                <a:solidFill>
                  <a:srgbClr val="3F682E"/>
                </a:solidFill>
                <a:latin typeface="Poppins"/>
                <a:ea typeface="Poppins"/>
                <a:cs typeface="Poppins"/>
              </a:defRPr>
            </a:lvl4pPr>
            <a:lvl5pPr>
              <a:defRPr sz="2175" b="1">
                <a:solidFill>
                  <a:srgbClr val="3F682E"/>
                </a:solidFill>
                <a:latin typeface="Poppins"/>
                <a:ea typeface="Poppins"/>
                <a:cs typeface="Poppins"/>
              </a:defRPr>
            </a:lvl5pPr>
            <a:lvl6pPr>
              <a:defRPr sz="2175" b="1">
                <a:solidFill>
                  <a:srgbClr val="3F682E"/>
                </a:solidFill>
                <a:latin typeface="Poppins"/>
                <a:ea typeface="Poppins"/>
                <a:cs typeface="Poppins"/>
              </a:defRPr>
            </a:lvl6pPr>
            <a:lvl7pPr>
              <a:defRPr sz="2175" b="1">
                <a:solidFill>
                  <a:srgbClr val="3F682E"/>
                </a:solidFill>
                <a:latin typeface="Poppins"/>
                <a:ea typeface="Poppins"/>
                <a:cs typeface="Poppins"/>
              </a:defRPr>
            </a:lvl7pPr>
            <a:lvl8pPr>
              <a:defRPr sz="2175" b="1">
                <a:solidFill>
                  <a:srgbClr val="3F682E"/>
                </a:solidFill>
                <a:latin typeface="Poppins"/>
                <a:ea typeface="Poppins"/>
                <a:cs typeface="Poppins"/>
              </a:defRPr>
            </a:lvl8pPr>
            <a:lvl9pPr>
              <a:defRPr sz="2175" b="1">
                <a:solidFill>
                  <a:srgbClr val="3F682E"/>
                </a:solidFill>
                <a:latin typeface="Poppins"/>
                <a:ea typeface="Poppins"/>
                <a:cs typeface="Poppins"/>
              </a:defRPr>
            </a:lvl9pPr>
          </a:lstStyle>
          <a:p xmlns:a="http://schemas.openxmlformats.org/drawingml/2006/main">
            <a:pPr>
              <a:defRPr sz="2175" b="1">
                <a:solidFill>
                  <a:srgbClr val="3F682E"/>
                </a:solidFill>
                <a:latin typeface="Poppins"/>
                <a:ea typeface="Poppins"/>
                <a:cs typeface="Poppins"/>
              </a:defRPr>
            </a:pPr>
            <a:r>
              <a:rPr sz="2175" b="1">
                <a:solidFill>
                  <a:srgbClr val="3F682E"/>
                </a:solidFill>
                <a:latin typeface="Poppins"/>
                <a:ea typeface="Poppins"/>
                <a:cs typeface="Poppins"/>
              </a:rPr>
              <a:t>Curator review</a:t>
            </a:r>
          </a:p>
        </p:txBody>
      </p:sp>
      <p:sp>
        <p:nvSpPr>
          <p:cNvPr id="16" name="text-11-13">
            <a:extLst xmlns:a="http://schemas.openxmlformats.org/drawingml/2006/main">
              <a:ext uri="{FF2B5EF4-FFF2-40B4-BE49-F238E27FC236}">
                <a16:creationId xmlns:a16="http://schemas.microsoft.com/office/drawing/2014/main" id="{6FF41843-3AFB-46DA-9C86-2917EDC67233}"/>
              </a:ext>
            </a:extLst>
          </p:cNvPr>
          <p:cNvSpPr>
            <a:spLocks xmlns:a="http://schemas.openxmlformats.org/drawingml/2006/main" noGrp="1"/>
          </p:cNvSpPr>
          <p:nvPr/>
        </p:nvSpPr>
        <p:spPr>
          <a:xfrm xmlns:a="http://schemas.openxmlformats.org/drawingml/2006/main">
            <a:off x="6219825" y="4410075"/>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A curator checks</a:t>
            </a:r>
          </a:p>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the observed lesson.</a:t>
            </a:r>
          </a:p>
        </p:txBody>
      </p:sp>
      <p:sp>
        <p:nvSpPr>
          <p:cNvPr id="17" name="text-11-14">
            <a:extLst xmlns:a="http://schemas.openxmlformats.org/drawingml/2006/main">
              <a:ext uri="{FF2B5EF4-FFF2-40B4-BE49-F238E27FC236}">
                <a16:creationId xmlns:a16="http://schemas.microsoft.com/office/drawing/2014/main" id="{8B33FBD9-11BE-41A8-9551-2FA69F45FC02}"/>
              </a:ext>
            </a:extLst>
          </p:cNvPr>
          <p:cNvSpPr>
            <a:spLocks xmlns:a="http://schemas.openxmlformats.org/drawingml/2006/main" noGrp="1"/>
          </p:cNvSpPr>
          <p:nvPr/>
        </p:nvSpPr>
        <p:spPr>
          <a:xfrm xmlns:a="http://schemas.openxmlformats.org/drawingml/2006/main">
            <a:off x="9020175" y="2705100"/>
            <a:ext cx="233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D8BC62"/>
                </a:solidFill>
                <a:latin typeface="Poppins"/>
                <a:ea typeface="Poppins"/>
                <a:cs typeface="Poppins"/>
              </a:defRPr>
            </a:defPPr>
            <a:lvl1pPr>
              <a:defRPr sz="3750" b="1">
                <a:solidFill>
                  <a:srgbClr val="D8BC62"/>
                </a:solidFill>
                <a:latin typeface="Poppins"/>
                <a:ea typeface="Poppins"/>
                <a:cs typeface="Poppins"/>
              </a:defRPr>
            </a:lvl1pPr>
            <a:lvl2pPr>
              <a:defRPr sz="3750" b="1">
                <a:solidFill>
                  <a:srgbClr val="D8BC62"/>
                </a:solidFill>
                <a:latin typeface="Poppins"/>
                <a:ea typeface="Poppins"/>
                <a:cs typeface="Poppins"/>
              </a:defRPr>
            </a:lvl2pPr>
            <a:lvl3pPr>
              <a:defRPr sz="3750" b="1">
                <a:solidFill>
                  <a:srgbClr val="D8BC62"/>
                </a:solidFill>
                <a:latin typeface="Poppins"/>
                <a:ea typeface="Poppins"/>
                <a:cs typeface="Poppins"/>
              </a:defRPr>
            </a:lvl3pPr>
            <a:lvl4pPr>
              <a:defRPr sz="3750" b="1">
                <a:solidFill>
                  <a:srgbClr val="D8BC62"/>
                </a:solidFill>
                <a:latin typeface="Poppins"/>
                <a:ea typeface="Poppins"/>
                <a:cs typeface="Poppins"/>
              </a:defRPr>
            </a:lvl4pPr>
            <a:lvl5pPr>
              <a:defRPr sz="3750" b="1">
                <a:solidFill>
                  <a:srgbClr val="D8BC62"/>
                </a:solidFill>
                <a:latin typeface="Poppins"/>
                <a:ea typeface="Poppins"/>
                <a:cs typeface="Poppins"/>
              </a:defRPr>
            </a:lvl5pPr>
            <a:lvl6pPr>
              <a:defRPr sz="3750" b="1">
                <a:solidFill>
                  <a:srgbClr val="D8BC62"/>
                </a:solidFill>
                <a:latin typeface="Poppins"/>
                <a:ea typeface="Poppins"/>
                <a:cs typeface="Poppins"/>
              </a:defRPr>
            </a:lvl6pPr>
            <a:lvl7pPr>
              <a:defRPr sz="3750" b="1">
                <a:solidFill>
                  <a:srgbClr val="D8BC62"/>
                </a:solidFill>
                <a:latin typeface="Poppins"/>
                <a:ea typeface="Poppins"/>
                <a:cs typeface="Poppins"/>
              </a:defRPr>
            </a:lvl7pPr>
            <a:lvl8pPr>
              <a:defRPr sz="3750" b="1">
                <a:solidFill>
                  <a:srgbClr val="D8BC62"/>
                </a:solidFill>
                <a:latin typeface="Poppins"/>
                <a:ea typeface="Poppins"/>
                <a:cs typeface="Poppins"/>
              </a:defRPr>
            </a:lvl8pPr>
            <a:lvl9pPr>
              <a:defRPr sz="3750" b="1">
                <a:solidFill>
                  <a:srgbClr val="D8BC62"/>
                </a:solidFill>
                <a:latin typeface="Poppins"/>
                <a:ea typeface="Poppins"/>
                <a:cs typeface="Poppins"/>
              </a:defRPr>
            </a:lvl9pPr>
          </a:lstStyle>
          <a:p xmlns:a="http://schemas.openxmlformats.org/drawingml/2006/main">
            <a:pPr>
              <a:defRPr sz="3750" b="1">
                <a:solidFill>
                  <a:srgbClr val="D8BC62"/>
                </a:solidFill>
                <a:latin typeface="Poppins"/>
                <a:ea typeface="Poppins"/>
                <a:cs typeface="Poppins"/>
              </a:defRPr>
            </a:pPr>
            <a:r>
              <a:rPr sz="3750" b="1">
                <a:solidFill>
                  <a:srgbClr val="D8BC62"/>
                </a:solidFill>
                <a:latin typeface="Poppins"/>
                <a:ea typeface="Poppins"/>
                <a:cs typeface="Poppins"/>
              </a:rPr>
              <a:t>04</a:t>
            </a:r>
          </a:p>
        </p:txBody>
      </p:sp>
      <p:sp>
        <p:nvSpPr>
          <p:cNvPr id="18" name="text-11-15">
            <a:extLst xmlns:a="http://schemas.openxmlformats.org/drawingml/2006/main">
              <a:ext uri="{FF2B5EF4-FFF2-40B4-BE49-F238E27FC236}">
                <a16:creationId xmlns:a16="http://schemas.microsoft.com/office/drawing/2014/main" id="{4BF6EADB-E9F5-4E9C-BE2D-E16D4CC1B724}"/>
              </a:ext>
            </a:extLst>
          </p:cNvPr>
          <p:cNvSpPr>
            <a:spLocks xmlns:a="http://schemas.openxmlformats.org/drawingml/2006/main" noGrp="1"/>
          </p:cNvSpPr>
          <p:nvPr/>
        </p:nvSpPr>
        <p:spPr>
          <a:xfrm xmlns:a="http://schemas.openxmlformats.org/drawingml/2006/main">
            <a:off x="9020175" y="3581400"/>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F682E"/>
                </a:solidFill>
                <a:latin typeface="Poppins"/>
                <a:ea typeface="Poppins"/>
                <a:cs typeface="Poppins"/>
              </a:defRPr>
            </a:defPPr>
            <a:lvl1pPr>
              <a:defRPr sz="2175" b="1">
                <a:solidFill>
                  <a:srgbClr val="3F682E"/>
                </a:solidFill>
                <a:latin typeface="Poppins"/>
                <a:ea typeface="Poppins"/>
                <a:cs typeface="Poppins"/>
              </a:defRPr>
            </a:lvl1pPr>
            <a:lvl2pPr>
              <a:defRPr sz="2175" b="1">
                <a:solidFill>
                  <a:srgbClr val="3F682E"/>
                </a:solidFill>
                <a:latin typeface="Poppins"/>
                <a:ea typeface="Poppins"/>
                <a:cs typeface="Poppins"/>
              </a:defRPr>
            </a:lvl2pPr>
            <a:lvl3pPr>
              <a:defRPr sz="2175" b="1">
                <a:solidFill>
                  <a:srgbClr val="3F682E"/>
                </a:solidFill>
                <a:latin typeface="Poppins"/>
                <a:ea typeface="Poppins"/>
                <a:cs typeface="Poppins"/>
              </a:defRPr>
            </a:lvl3pPr>
            <a:lvl4pPr>
              <a:defRPr sz="2175" b="1">
                <a:solidFill>
                  <a:srgbClr val="3F682E"/>
                </a:solidFill>
                <a:latin typeface="Poppins"/>
                <a:ea typeface="Poppins"/>
                <a:cs typeface="Poppins"/>
              </a:defRPr>
            </a:lvl4pPr>
            <a:lvl5pPr>
              <a:defRPr sz="2175" b="1">
                <a:solidFill>
                  <a:srgbClr val="3F682E"/>
                </a:solidFill>
                <a:latin typeface="Poppins"/>
                <a:ea typeface="Poppins"/>
                <a:cs typeface="Poppins"/>
              </a:defRPr>
            </a:lvl5pPr>
            <a:lvl6pPr>
              <a:defRPr sz="2175" b="1">
                <a:solidFill>
                  <a:srgbClr val="3F682E"/>
                </a:solidFill>
                <a:latin typeface="Poppins"/>
                <a:ea typeface="Poppins"/>
                <a:cs typeface="Poppins"/>
              </a:defRPr>
            </a:lvl6pPr>
            <a:lvl7pPr>
              <a:defRPr sz="2175" b="1">
                <a:solidFill>
                  <a:srgbClr val="3F682E"/>
                </a:solidFill>
                <a:latin typeface="Poppins"/>
                <a:ea typeface="Poppins"/>
                <a:cs typeface="Poppins"/>
              </a:defRPr>
            </a:lvl7pPr>
            <a:lvl8pPr>
              <a:defRPr sz="2175" b="1">
                <a:solidFill>
                  <a:srgbClr val="3F682E"/>
                </a:solidFill>
                <a:latin typeface="Poppins"/>
                <a:ea typeface="Poppins"/>
                <a:cs typeface="Poppins"/>
              </a:defRPr>
            </a:lvl8pPr>
            <a:lvl9pPr>
              <a:defRPr sz="2175" b="1">
                <a:solidFill>
                  <a:srgbClr val="3F682E"/>
                </a:solidFill>
                <a:latin typeface="Poppins"/>
                <a:ea typeface="Poppins"/>
                <a:cs typeface="Poppins"/>
              </a:defRPr>
            </a:lvl9pPr>
          </a:lstStyle>
          <a:p xmlns:a="http://schemas.openxmlformats.org/drawingml/2006/main">
            <a:pPr>
              <a:defRPr sz="2175" b="1">
                <a:solidFill>
                  <a:srgbClr val="3F682E"/>
                </a:solidFill>
                <a:latin typeface="Poppins"/>
                <a:ea typeface="Poppins"/>
                <a:cs typeface="Poppins"/>
              </a:defRPr>
            </a:pPr>
            <a:r>
              <a:rPr sz="2175" b="1">
                <a:solidFill>
                  <a:srgbClr val="3F682E"/>
                </a:solidFill>
                <a:latin typeface="Poppins"/>
                <a:ea typeface="Poppins"/>
                <a:cs typeface="Poppins"/>
              </a:rPr>
              <a:t>Knowledge update</a:t>
            </a:r>
          </a:p>
        </p:txBody>
      </p:sp>
      <p:sp>
        <p:nvSpPr>
          <p:cNvPr id="19" name="text-11-16">
            <a:extLst xmlns:a="http://schemas.openxmlformats.org/drawingml/2006/main">
              <a:ext uri="{FF2B5EF4-FFF2-40B4-BE49-F238E27FC236}">
                <a16:creationId xmlns:a16="http://schemas.microsoft.com/office/drawing/2014/main" id="{A1CABFD1-C53D-4551-8DA1-529DCAC18531}"/>
              </a:ext>
            </a:extLst>
          </p:cNvPr>
          <p:cNvSpPr>
            <a:spLocks xmlns:a="http://schemas.openxmlformats.org/drawingml/2006/main" noGrp="1"/>
          </p:cNvSpPr>
          <p:nvPr/>
        </p:nvSpPr>
        <p:spPr>
          <a:xfrm xmlns:a="http://schemas.openxmlformats.org/drawingml/2006/main">
            <a:off x="9020175" y="4410075"/>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The next team retrieves</a:t>
            </a:r>
          </a:p>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the approved lesson.</a:t>
            </a:r>
          </a:p>
        </p:txBody>
      </p:sp>
      <p:sp>
        <p:nvSpPr>
          <p:cNvPr id="20" name="text-11-17">
            <a:extLst xmlns:a="http://schemas.openxmlformats.org/drawingml/2006/main">
              <a:ext uri="{FF2B5EF4-FFF2-40B4-BE49-F238E27FC236}">
                <a16:creationId xmlns:a16="http://schemas.microsoft.com/office/drawing/2014/main" id="{FBB72F19-94FC-4EDB-BEA1-A2AC22955DCB}"/>
              </a:ext>
            </a:extLst>
          </p:cNvPr>
          <p:cNvSpPr>
            <a:spLocks xmlns:a="http://schemas.openxmlformats.org/drawingml/2006/main" noGrp="1"/>
          </p:cNvSpPr>
          <p:nvPr/>
        </p:nvSpPr>
        <p:spPr>
          <a:xfrm xmlns:a="http://schemas.openxmlformats.org/drawingml/2006/main">
            <a:off x="619125" y="58674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17334A"/>
                </a:solidFill>
                <a:latin typeface="Arial"/>
                <a:ea typeface="Arial"/>
                <a:cs typeface="Arial"/>
              </a:defRPr>
            </a:defPPr>
            <a:lvl1pPr>
              <a:defRPr sz="1575" b="1">
                <a:solidFill>
                  <a:srgbClr val="17334A"/>
                </a:solidFill>
                <a:latin typeface="Arial"/>
                <a:ea typeface="Arial"/>
                <a:cs typeface="Arial"/>
              </a:defRPr>
            </a:lvl1pPr>
            <a:lvl2pPr>
              <a:defRPr sz="1575" b="1">
                <a:solidFill>
                  <a:srgbClr val="17334A"/>
                </a:solidFill>
                <a:latin typeface="Arial"/>
                <a:ea typeface="Arial"/>
                <a:cs typeface="Arial"/>
              </a:defRPr>
            </a:lvl2pPr>
            <a:lvl3pPr>
              <a:defRPr sz="1575" b="1">
                <a:solidFill>
                  <a:srgbClr val="17334A"/>
                </a:solidFill>
                <a:latin typeface="Arial"/>
                <a:ea typeface="Arial"/>
                <a:cs typeface="Arial"/>
              </a:defRPr>
            </a:lvl3pPr>
            <a:lvl4pPr>
              <a:defRPr sz="1575" b="1">
                <a:solidFill>
                  <a:srgbClr val="17334A"/>
                </a:solidFill>
                <a:latin typeface="Arial"/>
                <a:ea typeface="Arial"/>
                <a:cs typeface="Arial"/>
              </a:defRPr>
            </a:lvl4pPr>
            <a:lvl5pPr>
              <a:defRPr sz="1575" b="1">
                <a:solidFill>
                  <a:srgbClr val="17334A"/>
                </a:solidFill>
                <a:latin typeface="Arial"/>
                <a:ea typeface="Arial"/>
                <a:cs typeface="Arial"/>
              </a:defRPr>
            </a:lvl5pPr>
            <a:lvl6pPr>
              <a:defRPr sz="1575" b="1">
                <a:solidFill>
                  <a:srgbClr val="17334A"/>
                </a:solidFill>
                <a:latin typeface="Arial"/>
                <a:ea typeface="Arial"/>
                <a:cs typeface="Arial"/>
              </a:defRPr>
            </a:lvl6pPr>
            <a:lvl7pPr>
              <a:defRPr sz="1575" b="1">
                <a:solidFill>
                  <a:srgbClr val="17334A"/>
                </a:solidFill>
                <a:latin typeface="Arial"/>
                <a:ea typeface="Arial"/>
                <a:cs typeface="Arial"/>
              </a:defRPr>
            </a:lvl7pPr>
            <a:lvl8pPr>
              <a:defRPr sz="1575" b="1">
                <a:solidFill>
                  <a:srgbClr val="17334A"/>
                </a:solidFill>
                <a:latin typeface="Arial"/>
                <a:ea typeface="Arial"/>
                <a:cs typeface="Arial"/>
              </a:defRPr>
            </a:lvl8pPr>
            <a:lvl9pPr>
              <a:defRPr sz="1575" b="1">
                <a:solidFill>
                  <a:srgbClr val="17334A"/>
                </a:solidFill>
                <a:latin typeface="Arial"/>
                <a:ea typeface="Arial"/>
                <a:cs typeface="Arial"/>
              </a:defRPr>
            </a:lvl9pPr>
          </a:lstStyle>
          <a:p xmlns:a="http://schemas.openxmlformats.org/drawingml/2006/main">
            <a:pPr>
              <a:defRPr sz="1575" b="1">
                <a:solidFill>
                  <a:srgbClr val="17334A"/>
                </a:solidFill>
                <a:latin typeface="Arial"/>
                <a:ea typeface="Arial"/>
                <a:cs typeface="Arial"/>
              </a:defRPr>
            </a:pPr>
            <a:r>
              <a:rPr sz="1575" b="1">
                <a:solidFill>
                  <a:srgbClr val="17334A"/>
                </a:solidFill>
                <a:latin typeface="Arial"/>
                <a:ea typeface="Arial"/>
                <a:cs typeface="Arial"/>
              </a:rPr>
              <a:t>Outcome follow-up is a proposed workflow. The demo records decisions and reviewed lessons locally.</a:t>
            </a:r>
          </a:p>
        </p:txBody>
      </p:sp>
    </p:spTree>
    <p:extLst>
      <p:ext uri="{BB962C8B-B14F-4D97-AF65-F5344CB8AC3E}">
        <p14:creationId xmlns:p14="http://schemas.microsoft.com/office/powerpoint/2010/main" val="953836154"/>
      </p:ext>
    </p:extLst>
  </p:cSld>
</p:sld>
</file>

<file path=ppt/slides/slide12.xml><?xml version="1.0" encoding="utf-8"?>
<p:sld xmlns:p="http://schemas.openxmlformats.org/presentationml/2006/main">
  <p:cSld>
    <p:bg>
      <p:bgPr>
        <a:solidFill xmlns:a="http://schemas.openxmlformats.org/drawingml/2006/main">
          <a:srgbClr val="17334A"/>
        </a:solidFill>
      </p:bgPr>
    </p:bg>
    <p:spTree>
      <p:nvGrpSpPr>
        <p:cNvPr id="1" name=""/>
        <p:cNvGrpSpPr/>
        <p:nvPr/>
      </p:nvGrpSpPr>
      <p:grpSpPr>
        <a:xfrm xmlns:a="http://schemas.openxmlformats.org/drawingml/2006/main"/>
      </p:grpSpPr>
      <p:sp>
        <p:nvSpPr>
          <p:cNvPr id="11" name="text-12-0">
            <a:extLst xmlns:a="http://schemas.openxmlformats.org/drawingml/2006/main">
              <a:ext uri="{FF2B5EF4-FFF2-40B4-BE49-F238E27FC236}">
                <a16:creationId xmlns:a16="http://schemas.microsoft.com/office/drawing/2014/main" id="{679A1C74-0E74-4062-8983-8E4CF091B04C}"/>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12</a:t>
            </a:r>
          </a:p>
        </p:txBody>
      </p:sp>
      <p:pic>
        <p:nvPicPr>
          <p:cNvPr id="2" name="">
            <a:extLst xmlns:a="http://schemas.openxmlformats.org/drawingml/2006/main">
              <a:ext uri="{FF2B5EF4-FFF2-40B4-BE49-F238E27FC236}">
                <a16:creationId xmlns:a16="http://schemas.microsoft.com/office/drawing/2014/main" id="{B5421A6A-7778-49F9-902C-91E4EBBB8166}"/>
              </a:ext>
            </a:extLst>
          </p:cNvPr>
          <p:cNvPicPr>
            <a:picLocks xmlns:a="http://schemas.openxmlformats.org/drawingml/2006/main" noChangeAspect="1"/>
          </p:cNvPicPr>
          <p:nvPr/>
        </p:nvPicPr>
        <p:blipFill>
          <a:blip xmlns:r="http://schemas.openxmlformats.org/officeDocument/2006/relationships" xmlns:a="http://schemas.openxmlformats.org/drawingml/2006/main" r:embed="Rce53a85e6670410f"/>
          <a:stretch xmlns:a="http://schemas.openxmlformats.org/drawingml/2006/main"/>
        </p:blipFill>
        <p:spPr>
          <a:xfrm xmlns:a="http://schemas.openxmlformats.org/drawingml/2006/main">
            <a:off x="7715250" y="0"/>
            <a:ext cx="4476750" cy="68580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43539CD2-BEE6-449E-BA73-768CEF5D0ABD}"/>
              </a:ext>
            </a:extLst>
          </p:cNvPr>
          <p:cNvPicPr>
            <a:picLocks xmlns:a="http://schemas.openxmlformats.org/drawingml/2006/main" noChangeAspect="1"/>
          </p:cNvPicPr>
          <p:nvPr/>
        </p:nvPicPr>
        <p:blipFill>
          <a:blip xmlns:r="http://schemas.openxmlformats.org/officeDocument/2006/relationships" xmlns:a="http://schemas.openxmlformats.org/drawingml/2006/main" r:embed="Rf710dcd699fd4ef8"/>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4" name="text-12-1">
            <a:extLst xmlns:a="http://schemas.openxmlformats.org/drawingml/2006/main">
              <a:ext uri="{FF2B5EF4-FFF2-40B4-BE49-F238E27FC236}">
                <a16:creationId xmlns:a16="http://schemas.microsoft.com/office/drawing/2014/main" id="{6AA9EA65-84D0-489A-A96E-E5330EB03A00}"/>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FFFFF"/>
                </a:solidFill>
                <a:latin typeface="Poppins"/>
                <a:ea typeface="Poppins"/>
                <a:cs typeface="Poppins"/>
              </a:defRPr>
            </a:defPPr>
            <a:lvl1pPr>
              <a:defRPr sz="2025" b="1">
                <a:solidFill>
                  <a:srgbClr val="FFFFFF"/>
                </a:solidFill>
                <a:latin typeface="Poppins"/>
                <a:ea typeface="Poppins"/>
                <a:cs typeface="Poppins"/>
              </a:defRPr>
            </a:lvl1pPr>
            <a:lvl2pPr>
              <a:defRPr sz="2025" b="1">
                <a:solidFill>
                  <a:srgbClr val="FFFFFF"/>
                </a:solidFill>
                <a:latin typeface="Poppins"/>
                <a:ea typeface="Poppins"/>
                <a:cs typeface="Poppins"/>
              </a:defRPr>
            </a:lvl2pPr>
            <a:lvl3pPr>
              <a:defRPr sz="2025" b="1">
                <a:solidFill>
                  <a:srgbClr val="FFFFFF"/>
                </a:solidFill>
                <a:latin typeface="Poppins"/>
                <a:ea typeface="Poppins"/>
                <a:cs typeface="Poppins"/>
              </a:defRPr>
            </a:lvl3pPr>
            <a:lvl4pPr>
              <a:defRPr sz="2025" b="1">
                <a:solidFill>
                  <a:srgbClr val="FFFFFF"/>
                </a:solidFill>
                <a:latin typeface="Poppins"/>
                <a:ea typeface="Poppins"/>
                <a:cs typeface="Poppins"/>
              </a:defRPr>
            </a:lvl4pPr>
            <a:lvl5pPr>
              <a:defRPr sz="2025" b="1">
                <a:solidFill>
                  <a:srgbClr val="FFFFFF"/>
                </a:solidFill>
                <a:latin typeface="Poppins"/>
                <a:ea typeface="Poppins"/>
                <a:cs typeface="Poppins"/>
              </a:defRPr>
            </a:lvl5pPr>
            <a:lvl6pPr>
              <a:defRPr sz="2025" b="1">
                <a:solidFill>
                  <a:srgbClr val="FFFFFF"/>
                </a:solidFill>
                <a:latin typeface="Poppins"/>
                <a:ea typeface="Poppins"/>
                <a:cs typeface="Poppins"/>
              </a:defRPr>
            </a:lvl6pPr>
            <a:lvl7pPr>
              <a:defRPr sz="2025" b="1">
                <a:solidFill>
                  <a:srgbClr val="FFFFFF"/>
                </a:solidFill>
                <a:latin typeface="Poppins"/>
                <a:ea typeface="Poppins"/>
                <a:cs typeface="Poppins"/>
              </a:defRPr>
            </a:lvl7pPr>
            <a:lvl8pPr>
              <a:defRPr sz="2025" b="1">
                <a:solidFill>
                  <a:srgbClr val="FFFFFF"/>
                </a:solidFill>
                <a:latin typeface="Poppins"/>
                <a:ea typeface="Poppins"/>
                <a:cs typeface="Poppins"/>
              </a:defRPr>
            </a:lvl8pPr>
            <a:lvl9pPr>
              <a:defRPr sz="2025" b="1">
                <a:solidFill>
                  <a:srgbClr val="FFFFFF"/>
                </a:solidFill>
                <a:latin typeface="Poppins"/>
                <a:ea typeface="Poppins"/>
                <a:cs typeface="Poppins"/>
              </a:defRPr>
            </a:lvl9pPr>
          </a:lstStyle>
          <a:p xmlns:a="http://schemas.openxmlformats.org/drawingml/2006/main">
            <a:pPr>
              <a:defRPr sz="2025" b="1">
                <a:solidFill>
                  <a:srgbClr val="FFFFFF"/>
                </a:solidFill>
                <a:latin typeface="Poppins"/>
                <a:ea typeface="Poppins"/>
                <a:cs typeface="Poppins"/>
              </a:defRPr>
            </a:pPr>
            <a:r>
              <a:rPr sz="2025" b="1">
                <a:solidFill>
                  <a:srgbClr val="FFFFFF"/>
                </a:solidFill>
                <a:latin typeface="Poppins"/>
                <a:ea typeface="Poppins"/>
                <a:cs typeface="Poppins"/>
              </a:rPr>
              <a:t>RepRadar</a:t>
            </a:r>
          </a:p>
        </p:txBody>
      </p:sp>
      <p:pic>
        <p:nvPicPr>
          <p:cNvPr id="5" name="">
            <a:extLst xmlns:a="http://schemas.openxmlformats.org/drawingml/2006/main">
              <a:ext uri="{FF2B5EF4-FFF2-40B4-BE49-F238E27FC236}">
                <a16:creationId xmlns:a16="http://schemas.microsoft.com/office/drawing/2014/main" id="{16FE94B1-B8F6-469C-99B6-10A6DB36C946}"/>
              </a:ext>
            </a:extLst>
          </p:cNvPr>
          <p:cNvPicPr>
            <a:picLocks xmlns:a="http://schemas.openxmlformats.org/drawingml/2006/main" noChangeAspect="1"/>
          </p:cNvPicPr>
          <p:nvPr/>
        </p:nvPicPr>
        <p:blipFill>
          <a:blip xmlns:r="http://schemas.openxmlformats.org/officeDocument/2006/relationships" xmlns:a="http://schemas.openxmlformats.org/drawingml/2006/main" r:embed="R0fe9964664d14392"/>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6" name="text-12-2">
            <a:extLst xmlns:a="http://schemas.openxmlformats.org/drawingml/2006/main">
              <a:ext uri="{FF2B5EF4-FFF2-40B4-BE49-F238E27FC236}">
                <a16:creationId xmlns:a16="http://schemas.microsoft.com/office/drawing/2014/main" id="{10D6F4FB-4058-454E-BC0E-D8E38FBB7DFB}"/>
              </a:ext>
            </a:extLst>
          </p:cNvPr>
          <p:cNvSpPr>
            <a:spLocks xmlns:a="http://schemas.openxmlformats.org/drawingml/2006/main" noGrp="1"/>
          </p:cNvSpPr>
          <p:nvPr/>
        </p:nvSpPr>
        <p:spPr>
          <a:xfrm xmlns:a="http://schemas.openxmlformats.org/drawingml/2006/main">
            <a:off x="619125" y="1943100"/>
            <a:ext cx="704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FFFFF"/>
                </a:solidFill>
                <a:latin typeface="Poppins"/>
                <a:ea typeface="Poppins"/>
                <a:cs typeface="Poppins"/>
              </a:defRPr>
            </a:defPPr>
            <a:lvl1pPr>
              <a:defRPr sz="3900" b="1">
                <a:solidFill>
                  <a:srgbClr val="FFFFFF"/>
                </a:solidFill>
                <a:latin typeface="Poppins"/>
                <a:ea typeface="Poppins"/>
                <a:cs typeface="Poppins"/>
              </a:defRPr>
            </a:lvl1pPr>
            <a:lvl2pPr>
              <a:defRPr sz="3900" b="1">
                <a:solidFill>
                  <a:srgbClr val="FFFFFF"/>
                </a:solidFill>
                <a:latin typeface="Poppins"/>
                <a:ea typeface="Poppins"/>
                <a:cs typeface="Poppins"/>
              </a:defRPr>
            </a:lvl2pPr>
            <a:lvl3pPr>
              <a:defRPr sz="3900" b="1">
                <a:solidFill>
                  <a:srgbClr val="FFFFFF"/>
                </a:solidFill>
                <a:latin typeface="Poppins"/>
                <a:ea typeface="Poppins"/>
                <a:cs typeface="Poppins"/>
              </a:defRPr>
            </a:lvl3pPr>
            <a:lvl4pPr>
              <a:defRPr sz="3900" b="1">
                <a:solidFill>
                  <a:srgbClr val="FFFFFF"/>
                </a:solidFill>
                <a:latin typeface="Poppins"/>
                <a:ea typeface="Poppins"/>
                <a:cs typeface="Poppins"/>
              </a:defRPr>
            </a:lvl4pPr>
            <a:lvl5pPr>
              <a:defRPr sz="3900" b="1">
                <a:solidFill>
                  <a:srgbClr val="FFFFFF"/>
                </a:solidFill>
                <a:latin typeface="Poppins"/>
                <a:ea typeface="Poppins"/>
                <a:cs typeface="Poppins"/>
              </a:defRPr>
            </a:lvl5pPr>
            <a:lvl6pPr>
              <a:defRPr sz="3900" b="1">
                <a:solidFill>
                  <a:srgbClr val="FFFFFF"/>
                </a:solidFill>
                <a:latin typeface="Poppins"/>
                <a:ea typeface="Poppins"/>
                <a:cs typeface="Poppins"/>
              </a:defRPr>
            </a:lvl6pPr>
            <a:lvl7pPr>
              <a:defRPr sz="3900" b="1">
                <a:solidFill>
                  <a:srgbClr val="FFFFFF"/>
                </a:solidFill>
                <a:latin typeface="Poppins"/>
                <a:ea typeface="Poppins"/>
                <a:cs typeface="Poppins"/>
              </a:defRPr>
            </a:lvl7pPr>
            <a:lvl8pPr>
              <a:defRPr sz="3900" b="1">
                <a:solidFill>
                  <a:srgbClr val="FFFFFF"/>
                </a:solidFill>
                <a:latin typeface="Poppins"/>
                <a:ea typeface="Poppins"/>
                <a:cs typeface="Poppins"/>
              </a:defRPr>
            </a:lvl8pPr>
            <a:lvl9pPr>
              <a:defRPr sz="3900" b="1">
                <a:solidFill>
                  <a:srgbClr val="FFFFFF"/>
                </a:solidFill>
                <a:latin typeface="Poppins"/>
                <a:ea typeface="Poppins"/>
                <a:cs typeface="Poppins"/>
              </a:defRPr>
            </a:lvl9pPr>
          </a:lstStyle>
          <a:p xmlns:a="http://schemas.openxmlformats.org/drawingml/2006/main">
            <a:pPr>
              <a:defRPr sz="3900" b="1">
                <a:solidFill>
                  <a:srgbClr val="FFFFFF"/>
                </a:solidFill>
                <a:latin typeface="Poppins"/>
                <a:ea typeface="Poppins"/>
                <a:cs typeface="Poppins"/>
              </a:defRPr>
            </a:pPr>
            <a:r>
              <a:rPr sz="3900" b="1">
                <a:solidFill>
                  <a:srgbClr val="FFFFFF"/>
                </a:solidFill>
                <a:latin typeface="Poppins"/>
                <a:ea typeface="Poppins"/>
                <a:cs typeface="Poppins"/>
              </a:rPr>
              <a:t>Back to Lin.</a:t>
            </a:r>
          </a:p>
          <a:p xmlns:a="http://schemas.openxmlformats.org/drawingml/2006/main">
            <a:pPr>
              <a:defRPr sz="3900" b="1">
                <a:solidFill>
                  <a:srgbClr val="FFFFFF"/>
                </a:solidFill>
                <a:latin typeface="Poppins"/>
                <a:ea typeface="Poppins"/>
                <a:cs typeface="Poppins"/>
              </a:defRPr>
            </a:pPr>
            <a:r>
              <a:rPr sz="3900" b="1">
                <a:solidFill>
                  <a:srgbClr val="FFFFFF"/>
                </a:solidFill>
                <a:latin typeface="Poppins"/>
                <a:ea typeface="Poppins"/>
                <a:cs typeface="Poppins"/>
              </a:rPr>
              <a:t>A clear next step.</a:t>
            </a:r>
          </a:p>
        </p:txBody>
      </p:sp>
      <p:sp>
        <p:nvSpPr>
          <p:cNvPr id="7" name="text-12-3">
            <a:extLst xmlns:a="http://schemas.openxmlformats.org/drawingml/2006/main">
              <a:ext uri="{FF2B5EF4-FFF2-40B4-BE49-F238E27FC236}">
                <a16:creationId xmlns:a16="http://schemas.microsoft.com/office/drawing/2014/main" id="{3DEFAD59-6651-4675-9CEB-A52444E5A270}"/>
              </a:ext>
            </a:extLst>
          </p:cNvPr>
          <p:cNvSpPr>
            <a:spLocks xmlns:a="http://schemas.openxmlformats.org/drawingml/2006/main" noGrp="1"/>
          </p:cNvSpPr>
          <p:nvPr/>
        </p:nvSpPr>
        <p:spPr>
          <a:xfrm xmlns:a="http://schemas.openxmlformats.org/drawingml/2006/main">
            <a:off x="647700" y="346710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DAE4D2"/>
                </a:solidFill>
                <a:latin typeface="Poppins"/>
                <a:ea typeface="Poppins"/>
                <a:cs typeface="Poppins"/>
              </a:defRPr>
            </a:defPPr>
            <a:lvl1pPr>
              <a:defRPr sz="2025" b="0">
                <a:solidFill>
                  <a:srgbClr val="DAE4D2"/>
                </a:solidFill>
                <a:latin typeface="Poppins"/>
                <a:ea typeface="Poppins"/>
                <a:cs typeface="Poppins"/>
              </a:defRPr>
            </a:lvl1pPr>
            <a:lvl2pPr>
              <a:defRPr sz="2025" b="0">
                <a:solidFill>
                  <a:srgbClr val="DAE4D2"/>
                </a:solidFill>
                <a:latin typeface="Poppins"/>
                <a:ea typeface="Poppins"/>
                <a:cs typeface="Poppins"/>
              </a:defRPr>
            </a:lvl2pPr>
            <a:lvl3pPr>
              <a:defRPr sz="2025" b="0">
                <a:solidFill>
                  <a:srgbClr val="DAE4D2"/>
                </a:solidFill>
                <a:latin typeface="Poppins"/>
                <a:ea typeface="Poppins"/>
                <a:cs typeface="Poppins"/>
              </a:defRPr>
            </a:lvl3pPr>
            <a:lvl4pPr>
              <a:defRPr sz="2025" b="0">
                <a:solidFill>
                  <a:srgbClr val="DAE4D2"/>
                </a:solidFill>
                <a:latin typeface="Poppins"/>
                <a:ea typeface="Poppins"/>
                <a:cs typeface="Poppins"/>
              </a:defRPr>
            </a:lvl4pPr>
            <a:lvl5pPr>
              <a:defRPr sz="2025" b="0">
                <a:solidFill>
                  <a:srgbClr val="DAE4D2"/>
                </a:solidFill>
                <a:latin typeface="Poppins"/>
                <a:ea typeface="Poppins"/>
                <a:cs typeface="Poppins"/>
              </a:defRPr>
            </a:lvl5pPr>
            <a:lvl6pPr>
              <a:defRPr sz="2025" b="0">
                <a:solidFill>
                  <a:srgbClr val="DAE4D2"/>
                </a:solidFill>
                <a:latin typeface="Poppins"/>
                <a:ea typeface="Poppins"/>
                <a:cs typeface="Poppins"/>
              </a:defRPr>
            </a:lvl6pPr>
            <a:lvl7pPr>
              <a:defRPr sz="2025" b="0">
                <a:solidFill>
                  <a:srgbClr val="DAE4D2"/>
                </a:solidFill>
                <a:latin typeface="Poppins"/>
                <a:ea typeface="Poppins"/>
                <a:cs typeface="Poppins"/>
              </a:defRPr>
            </a:lvl7pPr>
            <a:lvl8pPr>
              <a:defRPr sz="2025" b="0">
                <a:solidFill>
                  <a:srgbClr val="DAE4D2"/>
                </a:solidFill>
                <a:latin typeface="Poppins"/>
                <a:ea typeface="Poppins"/>
                <a:cs typeface="Poppins"/>
              </a:defRPr>
            </a:lvl8pPr>
            <a:lvl9pPr>
              <a:defRPr sz="2025" b="0">
                <a:solidFill>
                  <a:srgbClr val="DAE4D2"/>
                </a:solidFill>
                <a:latin typeface="Poppins"/>
                <a:ea typeface="Poppins"/>
                <a:cs typeface="Poppins"/>
              </a:defRPr>
            </a:lvl9pPr>
          </a:lstStyle>
          <a:p xmlns:a="http://schemas.openxmlformats.org/drawingml/2006/main">
            <a:pPr>
              <a:defRPr sz="2025" b="0">
                <a:solidFill>
                  <a:srgbClr val="DAE4D2"/>
                </a:solidFill>
                <a:latin typeface="Poppins"/>
                <a:ea typeface="Poppins"/>
                <a:cs typeface="Poppins"/>
              </a:defRPr>
            </a:pPr>
            <a:r>
              <a:rPr sz="2025" b="0">
                <a:solidFill>
                  <a:srgbClr val="DAE4D2"/>
                </a:solidFill>
                <a:latin typeface="Poppins"/>
                <a:ea typeface="Poppins"/>
                <a:cs typeface="Poppins"/>
              </a:rPr>
              <a:t>A plan to verify. A local owner.</a:t>
            </a:r>
          </a:p>
          <a:p xmlns:a="http://schemas.openxmlformats.org/drawingml/2006/main">
            <a:pPr>
              <a:defRPr sz="2025" b="0">
                <a:solidFill>
                  <a:srgbClr val="DAE4D2"/>
                </a:solidFill>
                <a:latin typeface="Poppins"/>
                <a:ea typeface="Poppins"/>
                <a:cs typeface="Poppins"/>
              </a:defRPr>
            </a:pPr>
            <a:r>
              <a:rPr sz="2025" b="0">
                <a:solidFill>
                  <a:srgbClr val="DAE4D2"/>
                </a:solidFill>
                <a:latin typeface="Poppins"/>
                <a:ea typeface="Poppins"/>
                <a:cs typeface="Poppins"/>
              </a:rPr>
              <a:t>A scheduled update, with human review.</a:t>
            </a:r>
          </a:p>
        </p:txBody>
      </p:sp>
      <p:sp>
        <p:nvSpPr>
          <p:cNvPr id="8" name="text-12-4">
            <a:extLst xmlns:a="http://schemas.openxmlformats.org/drawingml/2006/main">
              <a:ext uri="{FF2B5EF4-FFF2-40B4-BE49-F238E27FC236}">
                <a16:creationId xmlns:a16="http://schemas.microsoft.com/office/drawing/2014/main" id="{BC291E89-78A7-4AEC-9316-8DD74F6D0A7A}"/>
              </a:ext>
            </a:extLst>
          </p:cNvPr>
          <p:cNvSpPr>
            <a:spLocks xmlns:a="http://schemas.openxmlformats.org/drawingml/2006/main" noGrp="1"/>
          </p:cNvSpPr>
          <p:nvPr/>
        </p:nvSpPr>
        <p:spPr>
          <a:xfrm xmlns:a="http://schemas.openxmlformats.org/drawingml/2006/main">
            <a:off x="647700" y="4543425"/>
            <a:ext cx="571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D8BC62"/>
                </a:solidFill>
                <a:latin typeface="Poppins"/>
                <a:ea typeface="Poppins"/>
                <a:cs typeface="Poppins"/>
              </a:defRPr>
            </a:defPPr>
            <a:lvl1pPr>
              <a:defRPr sz="1875" b="1">
                <a:solidFill>
                  <a:srgbClr val="D8BC62"/>
                </a:solidFill>
                <a:latin typeface="Poppins"/>
                <a:ea typeface="Poppins"/>
                <a:cs typeface="Poppins"/>
              </a:defRPr>
            </a:lvl1pPr>
            <a:lvl2pPr>
              <a:defRPr sz="1875" b="1">
                <a:solidFill>
                  <a:srgbClr val="D8BC62"/>
                </a:solidFill>
                <a:latin typeface="Poppins"/>
                <a:ea typeface="Poppins"/>
                <a:cs typeface="Poppins"/>
              </a:defRPr>
            </a:lvl2pPr>
            <a:lvl3pPr>
              <a:defRPr sz="1875" b="1">
                <a:solidFill>
                  <a:srgbClr val="D8BC62"/>
                </a:solidFill>
                <a:latin typeface="Poppins"/>
                <a:ea typeface="Poppins"/>
                <a:cs typeface="Poppins"/>
              </a:defRPr>
            </a:lvl3pPr>
            <a:lvl4pPr>
              <a:defRPr sz="1875" b="1">
                <a:solidFill>
                  <a:srgbClr val="D8BC62"/>
                </a:solidFill>
                <a:latin typeface="Poppins"/>
                <a:ea typeface="Poppins"/>
                <a:cs typeface="Poppins"/>
              </a:defRPr>
            </a:lvl4pPr>
            <a:lvl5pPr>
              <a:defRPr sz="1875" b="1">
                <a:solidFill>
                  <a:srgbClr val="D8BC62"/>
                </a:solidFill>
                <a:latin typeface="Poppins"/>
                <a:ea typeface="Poppins"/>
                <a:cs typeface="Poppins"/>
              </a:defRPr>
            </a:lvl5pPr>
            <a:lvl6pPr>
              <a:defRPr sz="1875" b="1">
                <a:solidFill>
                  <a:srgbClr val="D8BC62"/>
                </a:solidFill>
                <a:latin typeface="Poppins"/>
                <a:ea typeface="Poppins"/>
                <a:cs typeface="Poppins"/>
              </a:defRPr>
            </a:lvl6pPr>
            <a:lvl7pPr>
              <a:defRPr sz="1875" b="1">
                <a:solidFill>
                  <a:srgbClr val="D8BC62"/>
                </a:solidFill>
                <a:latin typeface="Poppins"/>
                <a:ea typeface="Poppins"/>
                <a:cs typeface="Poppins"/>
              </a:defRPr>
            </a:lvl7pPr>
            <a:lvl8pPr>
              <a:defRPr sz="1875" b="1">
                <a:solidFill>
                  <a:srgbClr val="D8BC62"/>
                </a:solidFill>
                <a:latin typeface="Poppins"/>
                <a:ea typeface="Poppins"/>
                <a:cs typeface="Poppins"/>
              </a:defRPr>
            </a:lvl8pPr>
            <a:lvl9pPr>
              <a:defRPr sz="1875" b="1">
                <a:solidFill>
                  <a:srgbClr val="D8BC62"/>
                </a:solidFill>
                <a:latin typeface="Poppins"/>
                <a:ea typeface="Poppins"/>
                <a:cs typeface="Poppins"/>
              </a:defRPr>
            </a:lvl9pPr>
          </a:lstStyle>
          <a:p xmlns:a="http://schemas.openxmlformats.org/drawingml/2006/main">
            <a:pPr>
              <a:defRPr sz="1875" b="1">
                <a:solidFill>
                  <a:srgbClr val="D8BC62"/>
                </a:solidFill>
                <a:latin typeface="Poppins"/>
                <a:ea typeface="Poppins"/>
                <a:cs typeface="Poppins"/>
              </a:defRPr>
            </a:pPr>
            <a:r>
              <a:rPr sz="1875" b="1">
                <a:solidFill>
                  <a:srgbClr val="D8BC62"/>
                </a:solidFill>
                <a:latin typeface="Poppins"/>
                <a:ea typeface="Poppins"/>
                <a:cs typeface="Poppins"/>
              </a:rPr>
              <a:t>Our ask</a:t>
            </a:r>
          </a:p>
        </p:txBody>
      </p:sp>
      <p:sp>
        <p:nvSpPr>
          <p:cNvPr id="9" name="text-12-5">
            <a:extLst xmlns:a="http://schemas.openxmlformats.org/drawingml/2006/main">
              <a:ext uri="{FF2B5EF4-FFF2-40B4-BE49-F238E27FC236}">
                <a16:creationId xmlns:a16="http://schemas.microsoft.com/office/drawing/2014/main" id="{38C86BFF-7E4F-439C-8FAA-C662412381B3}"/>
              </a:ext>
            </a:extLst>
          </p:cNvPr>
          <p:cNvSpPr>
            <a:spLocks xmlns:a="http://schemas.openxmlformats.org/drawingml/2006/main" noGrp="1"/>
          </p:cNvSpPr>
          <p:nvPr/>
        </p:nvSpPr>
        <p:spPr>
          <a:xfrm xmlns:a="http://schemas.openxmlformats.org/drawingml/2006/main">
            <a:off x="647700" y="5038725"/>
            <a:ext cx="666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AE4D2"/>
                </a:solidFill>
                <a:latin typeface="Poppins"/>
                <a:ea typeface="Poppins"/>
                <a:cs typeface="Poppins"/>
              </a:defRPr>
            </a:defPPr>
            <a:lvl1pPr>
              <a:defRPr sz="2100" b="0">
                <a:solidFill>
                  <a:srgbClr val="DAE4D2"/>
                </a:solidFill>
                <a:latin typeface="Poppins"/>
                <a:ea typeface="Poppins"/>
                <a:cs typeface="Poppins"/>
              </a:defRPr>
            </a:lvl1pPr>
            <a:lvl2pPr>
              <a:defRPr sz="2100" b="0">
                <a:solidFill>
                  <a:srgbClr val="DAE4D2"/>
                </a:solidFill>
                <a:latin typeface="Poppins"/>
                <a:ea typeface="Poppins"/>
                <a:cs typeface="Poppins"/>
              </a:defRPr>
            </a:lvl2pPr>
            <a:lvl3pPr>
              <a:defRPr sz="2100" b="0">
                <a:solidFill>
                  <a:srgbClr val="DAE4D2"/>
                </a:solidFill>
                <a:latin typeface="Poppins"/>
                <a:ea typeface="Poppins"/>
                <a:cs typeface="Poppins"/>
              </a:defRPr>
            </a:lvl3pPr>
            <a:lvl4pPr>
              <a:defRPr sz="2100" b="0">
                <a:solidFill>
                  <a:srgbClr val="DAE4D2"/>
                </a:solidFill>
                <a:latin typeface="Poppins"/>
                <a:ea typeface="Poppins"/>
                <a:cs typeface="Poppins"/>
              </a:defRPr>
            </a:lvl4pPr>
            <a:lvl5pPr>
              <a:defRPr sz="2100" b="0">
                <a:solidFill>
                  <a:srgbClr val="DAE4D2"/>
                </a:solidFill>
                <a:latin typeface="Poppins"/>
                <a:ea typeface="Poppins"/>
                <a:cs typeface="Poppins"/>
              </a:defRPr>
            </a:lvl5pPr>
            <a:lvl6pPr>
              <a:defRPr sz="2100" b="0">
                <a:solidFill>
                  <a:srgbClr val="DAE4D2"/>
                </a:solidFill>
                <a:latin typeface="Poppins"/>
                <a:ea typeface="Poppins"/>
                <a:cs typeface="Poppins"/>
              </a:defRPr>
            </a:lvl6pPr>
            <a:lvl7pPr>
              <a:defRPr sz="2100" b="0">
                <a:solidFill>
                  <a:srgbClr val="DAE4D2"/>
                </a:solidFill>
                <a:latin typeface="Poppins"/>
                <a:ea typeface="Poppins"/>
                <a:cs typeface="Poppins"/>
              </a:defRPr>
            </a:lvl7pPr>
            <a:lvl8pPr>
              <a:defRPr sz="2100" b="0">
                <a:solidFill>
                  <a:srgbClr val="DAE4D2"/>
                </a:solidFill>
                <a:latin typeface="Poppins"/>
                <a:ea typeface="Poppins"/>
                <a:cs typeface="Poppins"/>
              </a:defRPr>
            </a:lvl8pPr>
            <a:lvl9pPr>
              <a:defRPr sz="2100" b="0">
                <a:solidFill>
                  <a:srgbClr val="DAE4D2"/>
                </a:solidFill>
                <a:latin typeface="Poppins"/>
                <a:ea typeface="Poppins"/>
                <a:cs typeface="Poppins"/>
              </a:defRPr>
            </a:lvl9pPr>
          </a:lstStyle>
          <a:p xmlns:a="http://schemas.openxmlformats.org/drawingml/2006/main">
            <a:pPr>
              <a:defRPr sz="2100" b="0">
                <a:solidFill>
                  <a:srgbClr val="DAE4D2"/>
                </a:solidFill>
                <a:latin typeface="Poppins"/>
                <a:ea typeface="Poppins"/>
                <a:cs typeface="Poppins"/>
              </a:defRPr>
            </a:pPr>
            <a:r>
              <a:rPr sz="2100" b="0">
                <a:solidFill>
                  <a:srgbClr val="DAE4D2"/>
                </a:solidFill>
                <a:latin typeface="Poppins"/>
                <a:ea typeface="Poppins"/>
                <a:cs typeface="Poppins"/>
              </a:rPr>
              <a:t>One sponsor. Ten colleagues.</a:t>
            </a:r>
          </a:p>
          <a:p xmlns:a="http://schemas.openxmlformats.org/drawingml/2006/main">
            <a:pPr>
              <a:defRPr sz="2100" b="0">
                <a:solidFill>
                  <a:srgbClr val="DAE4D2"/>
                </a:solidFill>
                <a:latin typeface="Poppins"/>
                <a:ea typeface="Poppins"/>
                <a:cs typeface="Poppins"/>
              </a:defRPr>
            </a:pPr>
            <a:r>
              <a:rPr sz="2100" b="0">
                <a:solidFill>
                  <a:srgbClr val="DAE4D2"/>
                </a:solidFill>
                <a:latin typeface="Poppins"/>
                <a:ea typeface="Poppins"/>
                <a:cs typeface="Poppins"/>
              </a:rPr>
              <a:t>Two regions. Six weeks.</a:t>
            </a:r>
          </a:p>
        </p:txBody>
      </p:sp>
      <p:sp>
        <p:nvSpPr>
          <p:cNvPr id="10" name="text-12-6">
            <a:extLst xmlns:a="http://schemas.openxmlformats.org/drawingml/2006/main">
              <a:ext uri="{FF2B5EF4-FFF2-40B4-BE49-F238E27FC236}">
                <a16:creationId xmlns:a16="http://schemas.microsoft.com/office/drawing/2014/main" id="{E50C3E55-CF4E-4B90-A787-C20EE3C54E06}"/>
              </a:ext>
            </a:extLst>
          </p:cNvPr>
          <p:cNvSpPr>
            <a:spLocks xmlns:a="http://schemas.openxmlformats.org/drawingml/2006/main" noGrp="1"/>
          </p:cNvSpPr>
          <p:nvPr/>
        </p:nvSpPr>
        <p:spPr>
          <a:xfrm xmlns:a="http://schemas.openxmlformats.org/drawingml/2006/main">
            <a:off x="647700" y="619125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CCDB0"/>
                </a:solidFill>
                <a:latin typeface="Arial"/>
                <a:ea typeface="Arial"/>
                <a:cs typeface="Arial"/>
              </a:defRPr>
            </a:defPPr>
            <a:lvl1pPr>
              <a:defRPr sz="1350" b="0">
                <a:solidFill>
                  <a:srgbClr val="BCCDB0"/>
                </a:solidFill>
                <a:latin typeface="Arial"/>
                <a:ea typeface="Arial"/>
                <a:cs typeface="Arial"/>
              </a:defRPr>
            </a:lvl1pPr>
            <a:lvl2pPr>
              <a:defRPr sz="1350" b="0">
                <a:solidFill>
                  <a:srgbClr val="BCCDB0"/>
                </a:solidFill>
                <a:latin typeface="Arial"/>
                <a:ea typeface="Arial"/>
                <a:cs typeface="Arial"/>
              </a:defRPr>
            </a:lvl2pPr>
            <a:lvl3pPr>
              <a:defRPr sz="1350" b="0">
                <a:solidFill>
                  <a:srgbClr val="BCCDB0"/>
                </a:solidFill>
                <a:latin typeface="Arial"/>
                <a:ea typeface="Arial"/>
                <a:cs typeface="Arial"/>
              </a:defRPr>
            </a:lvl3pPr>
            <a:lvl4pPr>
              <a:defRPr sz="1350" b="0">
                <a:solidFill>
                  <a:srgbClr val="BCCDB0"/>
                </a:solidFill>
                <a:latin typeface="Arial"/>
                <a:ea typeface="Arial"/>
                <a:cs typeface="Arial"/>
              </a:defRPr>
            </a:lvl4pPr>
            <a:lvl5pPr>
              <a:defRPr sz="1350" b="0">
                <a:solidFill>
                  <a:srgbClr val="BCCDB0"/>
                </a:solidFill>
                <a:latin typeface="Arial"/>
                <a:ea typeface="Arial"/>
                <a:cs typeface="Arial"/>
              </a:defRPr>
            </a:lvl5pPr>
            <a:lvl6pPr>
              <a:defRPr sz="1350" b="0">
                <a:solidFill>
                  <a:srgbClr val="BCCDB0"/>
                </a:solidFill>
                <a:latin typeface="Arial"/>
                <a:ea typeface="Arial"/>
                <a:cs typeface="Arial"/>
              </a:defRPr>
            </a:lvl6pPr>
            <a:lvl7pPr>
              <a:defRPr sz="1350" b="0">
                <a:solidFill>
                  <a:srgbClr val="BCCDB0"/>
                </a:solidFill>
                <a:latin typeface="Arial"/>
                <a:ea typeface="Arial"/>
                <a:cs typeface="Arial"/>
              </a:defRPr>
            </a:lvl7pPr>
            <a:lvl8pPr>
              <a:defRPr sz="1350" b="0">
                <a:solidFill>
                  <a:srgbClr val="BCCDB0"/>
                </a:solidFill>
                <a:latin typeface="Arial"/>
                <a:ea typeface="Arial"/>
                <a:cs typeface="Arial"/>
              </a:defRPr>
            </a:lvl8pPr>
            <a:lvl9pPr>
              <a:defRPr sz="1350" b="0">
                <a:solidFill>
                  <a:srgbClr val="BCCDB0"/>
                </a:solidFill>
                <a:latin typeface="Arial"/>
                <a:ea typeface="Arial"/>
                <a:cs typeface="Arial"/>
              </a:defRPr>
            </a:lvl9pPr>
          </a:lstStyle>
          <a:p xmlns:a="http://schemas.openxmlformats.org/drawingml/2006/main">
            <a:pPr>
              <a:defRPr sz="1350" b="0">
                <a:solidFill>
                  <a:srgbClr val="BCCDB0"/>
                </a:solidFill>
                <a:latin typeface="Arial"/>
                <a:ea typeface="Arial"/>
                <a:cs typeface="Arial"/>
              </a:defRPr>
            </a:pPr>
            <a:r>
              <a:rPr sz="1350" b="0">
                <a:solidFill>
                  <a:srgbClr val="BCCDB0"/>
                </a:solidFill>
                <a:latin typeface="Arial"/>
                <a:ea typeface="Arial"/>
                <a:cs typeface="Arial"/>
              </a:rPr>
              <a:t>Listen closely. Decide confidently.</a:t>
            </a:r>
          </a:p>
        </p:txBody>
      </p:sp>
    </p:spTree>
    <p:extLst>
      <p:ext uri="{BB962C8B-B14F-4D97-AF65-F5344CB8AC3E}">
        <p14:creationId xmlns:p14="http://schemas.microsoft.com/office/powerpoint/2010/main" val="808892327"/>
      </p:ext>
    </p:extLst>
  </p:cSld>
</p:sld>
</file>

<file path=ppt/slides/slide13.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7478B8E-A067-424A-975B-9FB74BB5EAAA}"/>
              </a:ext>
            </a:extLst>
          </p:cNvPr>
          <p:cNvPicPr>
            <a:picLocks xmlns:a="http://schemas.openxmlformats.org/drawingml/2006/main" noChangeAspect="1"/>
          </p:cNvPicPr>
          <p:nvPr/>
        </p:nvPicPr>
        <p:blipFill>
          <a:blip xmlns:r="http://schemas.openxmlformats.org/officeDocument/2006/relationships" xmlns:a="http://schemas.openxmlformats.org/drawingml/2006/main" r:embed="Rbf2971b2a5974336"/>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13-0">
            <a:extLst xmlns:a="http://schemas.openxmlformats.org/drawingml/2006/main">
              <a:ext uri="{FF2B5EF4-FFF2-40B4-BE49-F238E27FC236}">
                <a16:creationId xmlns:a16="http://schemas.microsoft.com/office/drawing/2014/main" id="{C23A2B2B-248A-48B7-A287-23B3A4DF4132}"/>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2BFF3B6B-7B47-4F82-8AB8-6491DCCFFA2C}"/>
              </a:ext>
            </a:extLst>
          </p:cNvPr>
          <p:cNvPicPr>
            <a:picLocks xmlns:a="http://schemas.openxmlformats.org/drawingml/2006/main" noChangeAspect="1"/>
          </p:cNvPicPr>
          <p:nvPr/>
        </p:nvPicPr>
        <p:blipFill>
          <a:blip xmlns:r="http://schemas.openxmlformats.org/officeDocument/2006/relationships" xmlns:a="http://schemas.openxmlformats.org/drawingml/2006/main" r:embed="R6b0e20b8e60a4ad7"/>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3-1">
            <a:extLst xmlns:a="http://schemas.openxmlformats.org/drawingml/2006/main">
              <a:ext uri="{FF2B5EF4-FFF2-40B4-BE49-F238E27FC236}">
                <a16:creationId xmlns:a16="http://schemas.microsoft.com/office/drawing/2014/main" id="{A29A3FF1-B4F0-4D10-9A59-3C0FEC1DA9E5}"/>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APPENDIX / COST MODEL</a:t>
            </a:r>
          </a:p>
        </p:txBody>
      </p:sp>
      <p:sp>
        <p:nvSpPr>
          <p:cNvPr id="5" name="text-13-2">
            <a:extLst xmlns:a="http://schemas.openxmlformats.org/drawingml/2006/main">
              <a:ext uri="{FF2B5EF4-FFF2-40B4-BE49-F238E27FC236}">
                <a16:creationId xmlns:a16="http://schemas.microsoft.com/office/drawing/2014/main" id="{7AFCA15B-C145-4A45-A0CA-58F8D58B1638}"/>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Pilot economics: assumptions you can change</a:t>
            </a:r>
          </a:p>
        </p:txBody>
      </p:sp>
      <p:sp>
        <p:nvSpPr>
          <p:cNvPr id="6" name="text-13-3">
            <a:extLst xmlns:a="http://schemas.openxmlformats.org/drawingml/2006/main">
              <a:ext uri="{FF2B5EF4-FFF2-40B4-BE49-F238E27FC236}">
                <a16:creationId xmlns:a16="http://schemas.microsoft.com/office/drawing/2014/main" id="{4648327F-555F-4F69-9AE2-36674704BD04}"/>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Feasibility</a:t>
            </a:r>
          </a:p>
        </p:txBody>
      </p:sp>
      <p:sp>
        <p:nvSpPr>
          <p:cNvPr id="7" name="text-13-4">
            <a:extLst xmlns:a="http://schemas.openxmlformats.org/drawingml/2006/main">
              <a:ext uri="{FF2B5EF4-FFF2-40B4-BE49-F238E27FC236}">
                <a16:creationId xmlns:a16="http://schemas.microsoft.com/office/drawing/2014/main" id="{3367C796-CA7C-4CCE-824F-E04337591142}"/>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13</a:t>
            </a:r>
          </a:p>
        </p:txBody>
      </p:sp>
      <p:graphicFrame>
        <p:nvGraphicFramePr>
          <p:cNvPr id="8" name="">
            <a:extLst xmlns:a="http://schemas.openxmlformats.org/drawingml/2006/main">
              <a:ext uri="{FF2B5EF4-FFF2-40B4-BE49-F238E27FC236}">
                <a16:creationId xmlns:a16="http://schemas.microsoft.com/office/drawing/2014/main" id="{FD3A46F1-F2FA-4F00-8AE5-0BB6F342BAAD}"/>
              </a:ext>
            </a:extLst>
          </p:cNvPr>
          <p:cNvGraphicFramePr/>
          <p:nvPr/>
        </p:nvGraphicFramePr>
        <p:xfrm>
          <a:off xmlns:a="http://schemas.openxmlformats.org/drawingml/2006/main" x="619125" y="2552700"/>
          <a:ext xmlns:a="http://schemas.openxmlformats.org/drawingml/2006/main" cx="10953750" cy="3238500"/>
        </p:xfrm>
        <a:graphic xmlns:a="http://schemas.openxmlformats.org/drawingml/2006/main">
          <a:graphicData uri="http://schemas.openxmlformats.org/drawingml/2006/table">
            <a:tbl>
              <a:tblPr/>
              <a:tblGrid>
                <a:gridCol w="2476500"/>
                <a:gridCol w="6191250"/>
                <a:gridCol w="2286000"/>
              </a:tblGrid>
              <a:tr h="539750">
                <a:tc>
                  <a:txBody>
                    <a:bodyPr lIns="133350" tIns="104775" rIns="114300" bIns="76200"/>
                    <a:lstStyle/>
                    <a:p>
                      <a:r>
                        <a:rPr sz="1500" b="1">
                          <a:solidFill>
                            <a:srgbClr val="FFFFFF"/>
                          </a:solidFill>
                          <a:latin typeface="Arial"/>
                          <a:ea typeface="Arial"/>
                          <a:cs typeface="Arial"/>
                        </a:rPr>
                        <a:t>Monthly item</a:t>
                      </a:r>
                    </a:p>
                  </a:txBody>
                  <a:tcPr marL="91440" marR="91440" marT="45720" marB="45720" anchor="ctr">
                    <a:lnL w="5715">
                      <a:solidFill>
                        <a:srgbClr val="DFE7D7"/>
                      </a:solidFill>
                      <a:prstDash val="solid"/>
                    </a:lnL>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104775" rIns="114300" bIns="76200"/>
                    <a:lstStyle/>
                    <a:p>
                      <a:r>
                        <a:rPr sz="1500" b="1">
                          <a:solidFill>
                            <a:srgbClr val="FFFFFF"/>
                          </a:solidFill>
                          <a:latin typeface="Arial"/>
                          <a:ea typeface="Arial"/>
                          <a:cs typeface="Arial"/>
                        </a:rPr>
                        <a:t>Assumption</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104775" rIns="114300" bIns="76200"/>
                    <a:lstStyle/>
                    <a:p>
                      <a:r>
                        <a:rPr sz="1500" b="1">
                          <a:solidFill>
                            <a:srgbClr val="FFFFFF"/>
                          </a:solidFill>
                          <a:latin typeface="Arial"/>
                          <a:ea typeface="Arial"/>
                          <a:cs typeface="Arial"/>
                        </a:rPr>
                        <a:t>CHF / month</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r>
              <a:tr h="539750">
                <a:tc>
                  <a:txBody>
                    <a:bodyPr lIns="133350" tIns="104775" rIns="114300" bIns="76200"/>
                    <a:lstStyle/>
                    <a:p>
                      <a:r>
                        <a:rPr sz="1500" b="1">
                          <a:solidFill>
                            <a:srgbClr val="17334A"/>
                          </a:solidFill>
                          <a:latin typeface="Arial"/>
                          <a:ea typeface="Arial"/>
                          <a:cs typeface="Arial"/>
                        </a:rPr>
                        <a:t>Model inference</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2,200 requests × 8k input / 1k output tokens</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79.20</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39750">
                <a:tc>
                  <a:txBody>
                    <a:bodyPr lIns="133350" tIns="104775" rIns="114300" bIns="76200"/>
                    <a:lstStyle/>
                    <a:p>
                      <a:r>
                        <a:rPr sz="1500" b="1">
                          <a:solidFill>
                            <a:srgbClr val="17334A"/>
                          </a:solidFill>
                          <a:latin typeface="Arial"/>
                          <a:ea typeface="Arial"/>
                          <a:cs typeface="Arial"/>
                        </a:rPr>
                        <a:t>Application hosting</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Illustrative allowance</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300.00</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539750">
                <a:tc>
                  <a:txBody>
                    <a:bodyPr lIns="133350" tIns="104775" rIns="114300" bIns="76200"/>
                    <a:lstStyle/>
                    <a:p>
                      <a:r>
                        <a:rPr sz="1500" b="1">
                          <a:solidFill>
                            <a:srgbClr val="17334A"/>
                          </a:solidFill>
                          <a:latin typeface="Arial"/>
                          <a:ea typeface="Arial"/>
                          <a:cs typeface="Arial"/>
                        </a:rPr>
                        <a:t>Data access</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Illustrative licensed-source allowance</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1,000.00</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39750">
                <a:tc>
                  <a:txBody>
                    <a:bodyPr lIns="133350" tIns="104775" rIns="114300" bIns="76200"/>
                    <a:lstStyle/>
                    <a:p>
                      <a:r>
                        <a:rPr sz="1500" b="1">
                          <a:solidFill>
                            <a:srgbClr val="17334A"/>
                          </a:solidFill>
                          <a:latin typeface="Arial"/>
                          <a:ea typeface="Arial"/>
                          <a:cs typeface="Arial"/>
                        </a:rPr>
                        <a:t>Human review</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20 hours × CHF 100/hour</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2,000.00</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539750">
                <a:tc>
                  <a:txBody>
                    <a:bodyPr lIns="133350" tIns="104775" rIns="114300" bIns="76200"/>
                    <a:lstStyle/>
                    <a:p>
                      <a:r>
                        <a:rPr sz="1500" b="1">
                          <a:solidFill>
                            <a:srgbClr val="17334A"/>
                          </a:solidFill>
                          <a:latin typeface="Arial"/>
                          <a:ea typeface="Arial"/>
                          <a:cs typeface="Arial"/>
                        </a:rPr>
                        <a:t>Operating total</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Excludes setup, legal work and local-model hardware</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3,379.20</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bl>
          </a:graphicData>
        </a:graphic>
      </p:graphicFrame>
      <p:sp>
        <p:nvSpPr>
          <p:cNvPr id="9" name="text-13-5">
            <a:extLst xmlns:a="http://schemas.openxmlformats.org/drawingml/2006/main">
              <a:ext uri="{FF2B5EF4-FFF2-40B4-BE49-F238E27FC236}">
                <a16:creationId xmlns:a16="http://schemas.microsoft.com/office/drawing/2014/main" id="{397FFFA0-99B9-4390-9DBA-FEED838B24CD}"/>
              </a:ext>
            </a:extLst>
          </p:cNvPr>
          <p:cNvSpPr>
            <a:spLocks xmlns:a="http://schemas.openxmlformats.org/drawingml/2006/main" noGrp="1"/>
          </p:cNvSpPr>
          <p:nvPr/>
        </p:nvSpPr>
        <p:spPr>
          <a:xfrm xmlns:a="http://schemas.openxmlformats.org/drawingml/2006/main">
            <a:off x="619125" y="5991225"/>
            <a:ext cx="1071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607160"/>
                </a:solidFill>
                <a:latin typeface="Arial"/>
                <a:ea typeface="Arial"/>
                <a:cs typeface="Arial"/>
              </a:defRPr>
            </a:defPPr>
            <a:lvl1pPr>
              <a:defRPr sz="1425" b="0">
                <a:solidFill>
                  <a:srgbClr val="607160"/>
                </a:solidFill>
                <a:latin typeface="Arial"/>
                <a:ea typeface="Arial"/>
                <a:cs typeface="Arial"/>
              </a:defRPr>
            </a:lvl1pPr>
            <a:lvl2pPr>
              <a:defRPr sz="1425" b="0">
                <a:solidFill>
                  <a:srgbClr val="607160"/>
                </a:solidFill>
                <a:latin typeface="Arial"/>
                <a:ea typeface="Arial"/>
                <a:cs typeface="Arial"/>
              </a:defRPr>
            </a:lvl2pPr>
            <a:lvl3pPr>
              <a:defRPr sz="1425" b="0">
                <a:solidFill>
                  <a:srgbClr val="607160"/>
                </a:solidFill>
                <a:latin typeface="Arial"/>
                <a:ea typeface="Arial"/>
                <a:cs typeface="Arial"/>
              </a:defRPr>
            </a:lvl3pPr>
            <a:lvl4pPr>
              <a:defRPr sz="1425" b="0">
                <a:solidFill>
                  <a:srgbClr val="607160"/>
                </a:solidFill>
                <a:latin typeface="Arial"/>
                <a:ea typeface="Arial"/>
                <a:cs typeface="Arial"/>
              </a:defRPr>
            </a:lvl4pPr>
            <a:lvl5pPr>
              <a:defRPr sz="1425" b="0">
                <a:solidFill>
                  <a:srgbClr val="607160"/>
                </a:solidFill>
                <a:latin typeface="Arial"/>
                <a:ea typeface="Arial"/>
                <a:cs typeface="Arial"/>
              </a:defRPr>
            </a:lvl5pPr>
            <a:lvl6pPr>
              <a:defRPr sz="1425" b="0">
                <a:solidFill>
                  <a:srgbClr val="607160"/>
                </a:solidFill>
                <a:latin typeface="Arial"/>
                <a:ea typeface="Arial"/>
                <a:cs typeface="Arial"/>
              </a:defRPr>
            </a:lvl6pPr>
            <a:lvl7pPr>
              <a:defRPr sz="1425" b="0">
                <a:solidFill>
                  <a:srgbClr val="607160"/>
                </a:solidFill>
                <a:latin typeface="Arial"/>
                <a:ea typeface="Arial"/>
                <a:cs typeface="Arial"/>
              </a:defRPr>
            </a:lvl7pPr>
            <a:lvl8pPr>
              <a:defRPr sz="1425" b="0">
                <a:solidFill>
                  <a:srgbClr val="607160"/>
                </a:solidFill>
                <a:latin typeface="Arial"/>
                <a:ea typeface="Arial"/>
                <a:cs typeface="Arial"/>
              </a:defRPr>
            </a:lvl8pPr>
            <a:lvl9pPr>
              <a:defRPr sz="1425" b="0">
                <a:solidFill>
                  <a:srgbClr val="607160"/>
                </a:solidFill>
                <a:latin typeface="Arial"/>
                <a:ea typeface="Arial"/>
                <a:cs typeface="Arial"/>
              </a:defRPr>
            </a:lvl9pPr>
          </a:lstStyle>
          <a:p xmlns:a="http://schemas.openxmlformats.org/drawingml/2006/main">
            <a:pPr>
              <a:defRPr sz="1425" b="0">
                <a:solidFill>
                  <a:srgbClr val="607160"/>
                </a:solidFill>
                <a:latin typeface="Arial"/>
                <a:ea typeface="Arial"/>
                <a:cs typeface="Arial"/>
              </a:defRPr>
            </a:pPr>
            <a:r>
              <a:rPr sz="1425" b="0">
                <a:solidFill>
                  <a:srgbClr val="607160"/>
                </a:solidFill>
                <a:latin typeface="Arial"/>
                <a:ea typeface="Arial"/>
                <a:cs typeface="Arial"/>
              </a:rPr>
              <a:t>Token rate assumptions: CHF 3/M input and CHF 12/M output. These are hypothetical rates.</a:t>
            </a:r>
          </a:p>
        </p:txBody>
      </p:sp>
    </p:spTree>
    <p:extLst>
      <p:ext uri="{BB962C8B-B14F-4D97-AF65-F5344CB8AC3E}">
        <p14:creationId xmlns:p14="http://schemas.microsoft.com/office/powerpoint/2010/main" val="1608593325"/>
      </p:ext>
    </p:extLst>
  </p:cSld>
</p:sld>
</file>

<file path=ppt/slides/slide14.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741D9A3-56C6-488F-89C1-8AB521F8B2A3}"/>
              </a:ext>
            </a:extLst>
          </p:cNvPr>
          <p:cNvPicPr>
            <a:picLocks xmlns:a="http://schemas.openxmlformats.org/drawingml/2006/main" noChangeAspect="1"/>
          </p:cNvPicPr>
          <p:nvPr/>
        </p:nvPicPr>
        <p:blipFill>
          <a:blip xmlns:r="http://schemas.openxmlformats.org/officeDocument/2006/relationships" xmlns:a="http://schemas.openxmlformats.org/drawingml/2006/main" r:embed="Rcc719bda34914417"/>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14-0">
            <a:extLst xmlns:a="http://schemas.openxmlformats.org/drawingml/2006/main">
              <a:ext uri="{FF2B5EF4-FFF2-40B4-BE49-F238E27FC236}">
                <a16:creationId xmlns:a16="http://schemas.microsoft.com/office/drawing/2014/main" id="{566CB6BA-CC27-4E98-93DF-D5CD17EDAA91}"/>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B0C4861D-3DD6-4887-8103-68DD31C1AFDF}"/>
              </a:ext>
            </a:extLst>
          </p:cNvPr>
          <p:cNvPicPr>
            <a:picLocks xmlns:a="http://schemas.openxmlformats.org/drawingml/2006/main" noChangeAspect="1"/>
          </p:cNvPicPr>
          <p:nvPr/>
        </p:nvPicPr>
        <p:blipFill>
          <a:blip xmlns:r="http://schemas.openxmlformats.org/officeDocument/2006/relationships" xmlns:a="http://schemas.openxmlformats.org/drawingml/2006/main" r:embed="R2dda26d95c2243dc"/>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4-1">
            <a:extLst xmlns:a="http://schemas.openxmlformats.org/drawingml/2006/main">
              <a:ext uri="{FF2B5EF4-FFF2-40B4-BE49-F238E27FC236}">
                <a16:creationId xmlns:a16="http://schemas.microsoft.com/office/drawing/2014/main" id="{FC49B3CA-AEC7-4D0C-B9A7-6D906FE07441}"/>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APPENDIX / OFFLINE FALLBACK</a:t>
            </a:r>
          </a:p>
        </p:txBody>
      </p:sp>
      <p:sp>
        <p:nvSpPr>
          <p:cNvPr id="5" name="text-14-2">
            <a:extLst xmlns:a="http://schemas.openxmlformats.org/drawingml/2006/main">
              <a:ext uri="{FF2B5EF4-FFF2-40B4-BE49-F238E27FC236}">
                <a16:creationId xmlns:a16="http://schemas.microsoft.com/office/drawing/2014/main" id="{F5B1C253-B382-4456-85E5-C86D1200CBD4}"/>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Demo backup: Maya’s response plan for Lin</a:t>
            </a:r>
          </a:p>
        </p:txBody>
      </p:sp>
      <p:sp>
        <p:nvSpPr>
          <p:cNvPr id="6" name="text-14-3">
            <a:extLst xmlns:a="http://schemas.openxmlformats.org/drawingml/2006/main">
              <a:ext uri="{FF2B5EF4-FFF2-40B4-BE49-F238E27FC236}">
                <a16:creationId xmlns:a16="http://schemas.microsoft.com/office/drawing/2014/main" id="{4E5ACB31-DB8A-4672-8E29-8997955F35CE}"/>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Pitch &amp; Q&amp;A</a:t>
            </a:r>
          </a:p>
        </p:txBody>
      </p:sp>
      <p:sp>
        <p:nvSpPr>
          <p:cNvPr id="7" name="text-14-4">
            <a:extLst xmlns:a="http://schemas.openxmlformats.org/drawingml/2006/main">
              <a:ext uri="{FF2B5EF4-FFF2-40B4-BE49-F238E27FC236}">
                <a16:creationId xmlns:a16="http://schemas.microsoft.com/office/drawing/2014/main" id="{F4B55E48-83CE-4134-A2FC-A0791B86F9CA}"/>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14</a:t>
            </a:r>
          </a:p>
        </p:txBody>
      </p:sp>
      <p:pic>
        <p:nvPicPr>
          <p:cNvPr id="8" name="">
            <a:extLst xmlns:a="http://schemas.openxmlformats.org/drawingml/2006/main">
              <a:ext uri="{FF2B5EF4-FFF2-40B4-BE49-F238E27FC236}">
                <a16:creationId xmlns:a16="http://schemas.microsoft.com/office/drawing/2014/main" id="{0C68C4E5-5C99-4299-A8AD-396588ABBF56}"/>
              </a:ext>
            </a:extLst>
          </p:cNvPr>
          <p:cNvPicPr>
            <a:picLocks xmlns:a="http://schemas.openxmlformats.org/drawingml/2006/main" noChangeAspect="1"/>
          </p:cNvPicPr>
          <p:nvPr/>
        </p:nvPicPr>
        <p:blipFill>
          <a:blip xmlns:r="http://schemas.openxmlformats.org/officeDocument/2006/relationships" xmlns:a="http://schemas.openxmlformats.org/drawingml/2006/main" r:embed="Re45bf9f3aa8f42b7"/>
          <a:stretch xmlns:a="http://schemas.openxmlformats.org/drawingml/2006/main"/>
        </p:blipFill>
        <p:spPr>
          <a:xfrm xmlns:a="http://schemas.openxmlformats.org/drawingml/2006/main">
            <a:off x="1352740" y="2533650"/>
            <a:ext cx="5266944" cy="36576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8C227A72-F58A-4246-A1E4-46161A2D3F4F}"/>
              </a:ext>
            </a:extLst>
          </p:cNvPr>
          <p:cNvPicPr>
            <a:picLocks xmlns:a="http://schemas.openxmlformats.org/drawingml/2006/main" noChangeAspect="1"/>
          </p:cNvPicPr>
          <p:nvPr/>
        </p:nvPicPr>
        <p:blipFill>
          <a:blip xmlns:r="http://schemas.openxmlformats.org/officeDocument/2006/relationships" xmlns:a="http://schemas.openxmlformats.org/drawingml/2006/main" r:embed="R9a7b0763f8164e42"/>
          <a:stretch xmlns:a="http://schemas.openxmlformats.org/drawingml/2006/main"/>
        </p:blipFill>
        <p:spPr>
          <a:xfrm xmlns:a="http://schemas.openxmlformats.org/drawingml/2006/main">
            <a:off x="7938969" y="2533650"/>
            <a:ext cx="3343512" cy="3657600"/>
          </a:xfrm>
          <a:prstGeom xmlns:a="http://schemas.openxmlformats.org/drawingml/2006/main" prst="rect">
            <a:avLst/>
          </a:prstGeom>
        </p:spPr>
      </p:pic>
    </p:spTree>
    <p:extLst>
      <p:ext uri="{BB962C8B-B14F-4D97-AF65-F5344CB8AC3E}">
        <p14:creationId xmlns:p14="http://schemas.microsoft.com/office/powerpoint/2010/main" val="1660447769"/>
      </p:ext>
    </p:extLst>
  </p:cSld>
</p:sld>
</file>

<file path=ppt/slides/slide15.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E30398DF-28D6-47F8-A218-453211AE244C}"/>
              </a:ext>
            </a:extLst>
          </p:cNvPr>
          <p:cNvPicPr>
            <a:picLocks xmlns:a="http://schemas.openxmlformats.org/drawingml/2006/main" noChangeAspect="1"/>
          </p:cNvPicPr>
          <p:nvPr/>
        </p:nvPicPr>
        <p:blipFill>
          <a:blip xmlns:r="http://schemas.openxmlformats.org/officeDocument/2006/relationships" xmlns:a="http://schemas.openxmlformats.org/drawingml/2006/main" r:embed="R989f49f66ea6406a"/>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15-0">
            <a:extLst xmlns:a="http://schemas.openxmlformats.org/drawingml/2006/main">
              <a:ext uri="{FF2B5EF4-FFF2-40B4-BE49-F238E27FC236}">
                <a16:creationId xmlns:a16="http://schemas.microsoft.com/office/drawing/2014/main" id="{B25567DB-B58A-4619-8D8F-AE7B36032638}"/>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029C466A-DDAE-4947-8543-7BD59C0B7800}"/>
              </a:ext>
            </a:extLst>
          </p:cNvPr>
          <p:cNvPicPr>
            <a:picLocks xmlns:a="http://schemas.openxmlformats.org/drawingml/2006/main" noChangeAspect="1"/>
          </p:cNvPicPr>
          <p:nvPr/>
        </p:nvPicPr>
        <p:blipFill>
          <a:blip xmlns:r="http://schemas.openxmlformats.org/officeDocument/2006/relationships" xmlns:a="http://schemas.openxmlformats.org/drawingml/2006/main" r:embed="R1c9c3f8a75154729"/>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5-1">
            <a:extLst xmlns:a="http://schemas.openxmlformats.org/drawingml/2006/main">
              <a:ext uri="{FF2B5EF4-FFF2-40B4-BE49-F238E27FC236}">
                <a16:creationId xmlns:a16="http://schemas.microsoft.com/office/drawing/2014/main" id="{2C09A8A6-A443-4530-B69C-25379E385FAB}"/>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APPENDIX / Q&amp;A</a:t>
            </a:r>
          </a:p>
        </p:txBody>
      </p:sp>
      <p:sp>
        <p:nvSpPr>
          <p:cNvPr id="5" name="text-15-2">
            <a:extLst xmlns:a="http://schemas.openxmlformats.org/drawingml/2006/main">
              <a:ext uri="{FF2B5EF4-FFF2-40B4-BE49-F238E27FC236}">
                <a16:creationId xmlns:a16="http://schemas.microsoft.com/office/drawing/2014/main" id="{22AFCB68-1FC4-470D-83D2-59C955BB83CF}"/>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Questions we expect</a:t>
            </a:r>
          </a:p>
        </p:txBody>
      </p:sp>
      <p:sp>
        <p:nvSpPr>
          <p:cNvPr id="6" name="text-15-3">
            <a:extLst xmlns:a="http://schemas.openxmlformats.org/drawingml/2006/main">
              <a:ext uri="{FF2B5EF4-FFF2-40B4-BE49-F238E27FC236}">
                <a16:creationId xmlns:a16="http://schemas.microsoft.com/office/drawing/2014/main" id="{C6DA113B-4C9B-4227-9A19-8B214EC506BB}"/>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Pitch &amp; Q&amp;A</a:t>
            </a:r>
          </a:p>
        </p:txBody>
      </p:sp>
      <p:sp>
        <p:nvSpPr>
          <p:cNvPr id="7" name="text-15-4">
            <a:extLst xmlns:a="http://schemas.openxmlformats.org/drawingml/2006/main">
              <a:ext uri="{FF2B5EF4-FFF2-40B4-BE49-F238E27FC236}">
                <a16:creationId xmlns:a16="http://schemas.microsoft.com/office/drawing/2014/main" id="{83D57976-C4D6-4DDC-B430-274FE1C883D8}"/>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15</a:t>
            </a:r>
          </a:p>
        </p:txBody>
      </p:sp>
      <p:sp>
        <p:nvSpPr>
          <p:cNvPr id="8" name="text-15-5">
            <a:extLst xmlns:a="http://schemas.openxmlformats.org/drawingml/2006/main">
              <a:ext uri="{FF2B5EF4-FFF2-40B4-BE49-F238E27FC236}">
                <a16:creationId xmlns:a16="http://schemas.microsoft.com/office/drawing/2014/main" id="{4EDD94D1-5D1A-449C-981A-4AE78533DE15}"/>
              </a:ext>
            </a:extLst>
          </p:cNvPr>
          <p:cNvSpPr>
            <a:spLocks xmlns:a="http://schemas.openxmlformats.org/drawingml/2006/main" noGrp="1"/>
          </p:cNvSpPr>
          <p:nvPr/>
        </p:nvSpPr>
        <p:spPr>
          <a:xfrm xmlns:a="http://schemas.openxmlformats.org/drawingml/2006/main">
            <a:off x="619125" y="260985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Q</a:t>
            </a:r>
          </a:p>
        </p:txBody>
      </p:sp>
      <p:sp>
        <p:nvSpPr>
          <p:cNvPr id="9" name="text-15-6">
            <a:extLst xmlns:a="http://schemas.openxmlformats.org/drawingml/2006/main">
              <a:ext uri="{FF2B5EF4-FFF2-40B4-BE49-F238E27FC236}">
                <a16:creationId xmlns:a16="http://schemas.microsoft.com/office/drawing/2014/main" id="{DE57FDFA-C328-4D10-839E-64E1216C444A}"/>
              </a:ext>
            </a:extLst>
          </p:cNvPr>
          <p:cNvSpPr>
            <a:spLocks xmlns:a="http://schemas.openxmlformats.org/drawingml/2006/main" noGrp="1"/>
          </p:cNvSpPr>
          <p:nvPr/>
        </p:nvSpPr>
        <p:spPr>
          <a:xfrm xmlns:a="http://schemas.openxmlformats.org/drawingml/2006/main">
            <a:off x="1333500" y="26098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Does it predict controversy?</a:t>
            </a:r>
          </a:p>
        </p:txBody>
      </p:sp>
      <p:sp>
        <p:nvSpPr>
          <p:cNvPr id="10" name="text-15-7">
            <a:extLst xmlns:a="http://schemas.openxmlformats.org/drawingml/2006/main">
              <a:ext uri="{FF2B5EF4-FFF2-40B4-BE49-F238E27FC236}">
                <a16:creationId xmlns:a16="http://schemas.microsoft.com/office/drawing/2014/main" id="{09F604BE-0F06-4893-8C17-13536BA2DB3D}"/>
              </a:ext>
            </a:extLst>
          </p:cNvPr>
          <p:cNvSpPr>
            <a:spLocks xmlns:a="http://schemas.openxmlformats.org/drawingml/2006/main" noGrp="1"/>
          </p:cNvSpPr>
          <p:nvPr/>
        </p:nvSpPr>
        <p:spPr>
          <a:xfrm xmlns:a="http://schemas.openxmlformats.org/drawingml/2006/main">
            <a:off x="5095875" y="261937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It prioritizes early signals. Validated probability forecasts need labelled history.</a:t>
            </a:r>
          </a:p>
        </p:txBody>
      </p:sp>
      <p:sp>
        <p:nvSpPr>
          <p:cNvPr id="11" name="text-15-8">
            <a:extLst xmlns:a="http://schemas.openxmlformats.org/drawingml/2006/main">
              <a:ext uri="{FF2B5EF4-FFF2-40B4-BE49-F238E27FC236}">
                <a16:creationId xmlns:a16="http://schemas.microsoft.com/office/drawing/2014/main" id="{AED8CD9B-05BF-45D4-A857-3E24EC4E8C7E}"/>
              </a:ext>
            </a:extLst>
          </p:cNvPr>
          <p:cNvSpPr>
            <a:spLocks xmlns:a="http://schemas.openxmlformats.org/drawingml/2006/main" noGrp="1"/>
          </p:cNvSpPr>
          <p:nvPr/>
        </p:nvSpPr>
        <p:spPr>
          <a:xfrm xmlns:a="http://schemas.openxmlformats.org/drawingml/2006/main">
            <a:off x="619125" y="3648075"/>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Q</a:t>
            </a:r>
          </a:p>
        </p:txBody>
      </p:sp>
      <p:sp>
        <p:nvSpPr>
          <p:cNvPr id="12" name="text-15-9">
            <a:extLst xmlns:a="http://schemas.openxmlformats.org/drawingml/2006/main">
              <a:ext uri="{FF2B5EF4-FFF2-40B4-BE49-F238E27FC236}">
                <a16:creationId xmlns:a16="http://schemas.microsoft.com/office/drawing/2014/main" id="{D89E1FE9-C465-42B0-9D8E-E289ADC82EBB}"/>
              </a:ext>
            </a:extLst>
          </p:cNvPr>
          <p:cNvSpPr>
            <a:spLocks xmlns:a="http://schemas.openxmlformats.org/drawingml/2006/main" noGrp="1"/>
          </p:cNvSpPr>
          <p:nvPr/>
        </p:nvSpPr>
        <p:spPr>
          <a:xfrm xmlns:a="http://schemas.openxmlformats.org/drawingml/2006/main">
            <a:off x="1333500" y="3648075"/>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Why not use a generic chatbot?</a:t>
            </a:r>
          </a:p>
        </p:txBody>
      </p:sp>
      <p:sp>
        <p:nvSpPr>
          <p:cNvPr id="13" name="text-15-10">
            <a:extLst xmlns:a="http://schemas.openxmlformats.org/drawingml/2006/main">
              <a:ext uri="{FF2B5EF4-FFF2-40B4-BE49-F238E27FC236}">
                <a16:creationId xmlns:a16="http://schemas.microsoft.com/office/drawing/2014/main" id="{09CAC50C-CCFB-45D1-AF51-AF81DB265A7C}"/>
              </a:ext>
            </a:extLst>
          </p:cNvPr>
          <p:cNvSpPr>
            <a:spLocks xmlns:a="http://schemas.openxmlformats.org/drawingml/2006/main" noGrp="1"/>
          </p:cNvSpPr>
          <p:nvPr/>
        </p:nvSpPr>
        <p:spPr>
          <a:xfrm xmlns:a="http://schemas.openxmlformats.org/drawingml/2006/main">
            <a:off x="5095875" y="3657600"/>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Role-filtered sources, original language and a recorded decision give the work structure.</a:t>
            </a:r>
          </a:p>
        </p:txBody>
      </p:sp>
      <p:sp>
        <p:nvSpPr>
          <p:cNvPr id="14" name="text-15-11">
            <a:extLst xmlns:a="http://schemas.openxmlformats.org/drawingml/2006/main">
              <a:ext uri="{FF2B5EF4-FFF2-40B4-BE49-F238E27FC236}">
                <a16:creationId xmlns:a16="http://schemas.microsoft.com/office/drawing/2014/main" id="{4C2FD9FD-7D11-4CC1-A05B-208192690162}"/>
              </a:ext>
            </a:extLst>
          </p:cNvPr>
          <p:cNvSpPr>
            <a:spLocks xmlns:a="http://schemas.openxmlformats.org/drawingml/2006/main" noGrp="1"/>
          </p:cNvSpPr>
          <p:nvPr/>
        </p:nvSpPr>
        <p:spPr>
          <a:xfrm xmlns:a="http://schemas.openxmlformats.org/drawingml/2006/main">
            <a:off x="619125" y="4686300"/>
            <a:ext cx="52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Q</a:t>
            </a:r>
          </a:p>
        </p:txBody>
      </p:sp>
      <p:sp>
        <p:nvSpPr>
          <p:cNvPr id="15" name="text-15-12">
            <a:extLst xmlns:a="http://schemas.openxmlformats.org/drawingml/2006/main">
              <a:ext uri="{FF2B5EF4-FFF2-40B4-BE49-F238E27FC236}">
                <a16:creationId xmlns:a16="http://schemas.microsoft.com/office/drawing/2014/main" id="{361DBA9E-6B84-46F2-BE0D-4BDA1A569CD5}"/>
              </a:ext>
            </a:extLst>
          </p:cNvPr>
          <p:cNvSpPr>
            <a:spLocks xmlns:a="http://schemas.openxmlformats.org/drawingml/2006/main" noGrp="1"/>
          </p:cNvSpPr>
          <p:nvPr/>
        </p:nvSpPr>
        <p:spPr>
          <a:xfrm xmlns:a="http://schemas.openxmlformats.org/drawingml/2006/main">
            <a:off x="1333500" y="468630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7334A"/>
                </a:solidFill>
                <a:latin typeface="Poppins"/>
                <a:ea typeface="Poppins"/>
                <a:cs typeface="Poppins"/>
              </a:defRPr>
            </a:defPPr>
            <a:lvl1pPr>
              <a:defRPr sz="1950" b="1">
                <a:solidFill>
                  <a:srgbClr val="17334A"/>
                </a:solidFill>
                <a:latin typeface="Poppins"/>
                <a:ea typeface="Poppins"/>
                <a:cs typeface="Poppins"/>
              </a:defRPr>
            </a:lvl1pPr>
            <a:lvl2pPr>
              <a:defRPr sz="1950" b="1">
                <a:solidFill>
                  <a:srgbClr val="17334A"/>
                </a:solidFill>
                <a:latin typeface="Poppins"/>
                <a:ea typeface="Poppins"/>
                <a:cs typeface="Poppins"/>
              </a:defRPr>
            </a:lvl2pPr>
            <a:lvl3pPr>
              <a:defRPr sz="1950" b="1">
                <a:solidFill>
                  <a:srgbClr val="17334A"/>
                </a:solidFill>
                <a:latin typeface="Poppins"/>
                <a:ea typeface="Poppins"/>
                <a:cs typeface="Poppins"/>
              </a:defRPr>
            </a:lvl3pPr>
            <a:lvl4pPr>
              <a:defRPr sz="1950" b="1">
                <a:solidFill>
                  <a:srgbClr val="17334A"/>
                </a:solidFill>
                <a:latin typeface="Poppins"/>
                <a:ea typeface="Poppins"/>
                <a:cs typeface="Poppins"/>
              </a:defRPr>
            </a:lvl4pPr>
            <a:lvl5pPr>
              <a:defRPr sz="1950" b="1">
                <a:solidFill>
                  <a:srgbClr val="17334A"/>
                </a:solidFill>
                <a:latin typeface="Poppins"/>
                <a:ea typeface="Poppins"/>
                <a:cs typeface="Poppins"/>
              </a:defRPr>
            </a:lvl5pPr>
            <a:lvl6pPr>
              <a:defRPr sz="1950" b="1">
                <a:solidFill>
                  <a:srgbClr val="17334A"/>
                </a:solidFill>
                <a:latin typeface="Poppins"/>
                <a:ea typeface="Poppins"/>
                <a:cs typeface="Poppins"/>
              </a:defRPr>
            </a:lvl6pPr>
            <a:lvl7pPr>
              <a:defRPr sz="1950" b="1">
                <a:solidFill>
                  <a:srgbClr val="17334A"/>
                </a:solidFill>
                <a:latin typeface="Poppins"/>
                <a:ea typeface="Poppins"/>
                <a:cs typeface="Poppins"/>
              </a:defRPr>
            </a:lvl7pPr>
            <a:lvl8pPr>
              <a:defRPr sz="1950" b="1">
                <a:solidFill>
                  <a:srgbClr val="17334A"/>
                </a:solidFill>
                <a:latin typeface="Poppins"/>
                <a:ea typeface="Poppins"/>
                <a:cs typeface="Poppins"/>
              </a:defRPr>
            </a:lvl8pPr>
            <a:lvl9pPr>
              <a:defRPr sz="1950" b="1">
                <a:solidFill>
                  <a:srgbClr val="17334A"/>
                </a:solidFill>
                <a:latin typeface="Poppins"/>
                <a:ea typeface="Poppins"/>
                <a:cs typeface="Poppins"/>
              </a:defRPr>
            </a:lvl9pPr>
          </a:lstStyle>
          <a:p xmlns:a="http://schemas.openxmlformats.org/drawingml/2006/main">
            <a:pPr>
              <a:defRPr sz="1950" b="1">
                <a:solidFill>
                  <a:srgbClr val="17334A"/>
                </a:solidFill>
                <a:latin typeface="Poppins"/>
                <a:ea typeface="Poppins"/>
                <a:cs typeface="Poppins"/>
              </a:defRPr>
            </a:pPr>
            <a:r>
              <a:rPr sz="1950" b="1">
                <a:solidFill>
                  <a:srgbClr val="17334A"/>
                </a:solidFill>
                <a:latin typeface="Poppins"/>
                <a:ea typeface="Poppins"/>
                <a:cs typeface="Poppins"/>
              </a:rPr>
              <a:t>Is it ready for internal data?</a:t>
            </a:r>
          </a:p>
        </p:txBody>
      </p:sp>
      <p:sp>
        <p:nvSpPr>
          <p:cNvPr id="16" name="text-15-13">
            <a:extLst xmlns:a="http://schemas.openxmlformats.org/drawingml/2006/main">
              <a:ext uri="{FF2B5EF4-FFF2-40B4-BE49-F238E27FC236}">
                <a16:creationId xmlns:a16="http://schemas.microsoft.com/office/drawing/2014/main" id="{8FDB1181-82AE-43D2-8BFA-DA92D90E3986}"/>
              </a:ext>
            </a:extLst>
          </p:cNvPr>
          <p:cNvSpPr>
            <a:spLocks xmlns:a="http://schemas.openxmlformats.org/drawingml/2006/main" noGrp="1"/>
          </p:cNvSpPr>
          <p:nvPr/>
        </p:nvSpPr>
        <p:spPr>
          <a:xfrm xmlns:a="http://schemas.openxmlformats.org/drawingml/2006/main">
            <a:off x="5095875" y="4695825"/>
            <a:ext cx="609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607160"/>
                </a:solidFill>
                <a:latin typeface="Arial"/>
                <a:ea typeface="Arial"/>
                <a:cs typeface="Arial"/>
              </a:defRPr>
            </a:defPPr>
            <a:lvl1pPr>
              <a:defRPr sz="1725" b="0">
                <a:solidFill>
                  <a:srgbClr val="607160"/>
                </a:solidFill>
                <a:latin typeface="Arial"/>
                <a:ea typeface="Arial"/>
                <a:cs typeface="Arial"/>
              </a:defRPr>
            </a:lvl1pPr>
            <a:lvl2pPr>
              <a:defRPr sz="1725" b="0">
                <a:solidFill>
                  <a:srgbClr val="607160"/>
                </a:solidFill>
                <a:latin typeface="Arial"/>
                <a:ea typeface="Arial"/>
                <a:cs typeface="Arial"/>
              </a:defRPr>
            </a:lvl2pPr>
            <a:lvl3pPr>
              <a:defRPr sz="1725" b="0">
                <a:solidFill>
                  <a:srgbClr val="607160"/>
                </a:solidFill>
                <a:latin typeface="Arial"/>
                <a:ea typeface="Arial"/>
                <a:cs typeface="Arial"/>
              </a:defRPr>
            </a:lvl3pPr>
            <a:lvl4pPr>
              <a:defRPr sz="1725" b="0">
                <a:solidFill>
                  <a:srgbClr val="607160"/>
                </a:solidFill>
                <a:latin typeface="Arial"/>
                <a:ea typeface="Arial"/>
                <a:cs typeface="Arial"/>
              </a:defRPr>
            </a:lvl4pPr>
            <a:lvl5pPr>
              <a:defRPr sz="1725" b="0">
                <a:solidFill>
                  <a:srgbClr val="607160"/>
                </a:solidFill>
                <a:latin typeface="Arial"/>
                <a:ea typeface="Arial"/>
                <a:cs typeface="Arial"/>
              </a:defRPr>
            </a:lvl5pPr>
            <a:lvl6pPr>
              <a:defRPr sz="1725" b="0">
                <a:solidFill>
                  <a:srgbClr val="607160"/>
                </a:solidFill>
                <a:latin typeface="Arial"/>
                <a:ea typeface="Arial"/>
                <a:cs typeface="Arial"/>
              </a:defRPr>
            </a:lvl6pPr>
            <a:lvl7pPr>
              <a:defRPr sz="1725" b="0">
                <a:solidFill>
                  <a:srgbClr val="607160"/>
                </a:solidFill>
                <a:latin typeface="Arial"/>
                <a:ea typeface="Arial"/>
                <a:cs typeface="Arial"/>
              </a:defRPr>
            </a:lvl7pPr>
            <a:lvl8pPr>
              <a:defRPr sz="1725" b="0">
                <a:solidFill>
                  <a:srgbClr val="607160"/>
                </a:solidFill>
                <a:latin typeface="Arial"/>
                <a:ea typeface="Arial"/>
                <a:cs typeface="Arial"/>
              </a:defRPr>
            </a:lvl8pPr>
            <a:lvl9pPr>
              <a:defRPr sz="1725" b="0">
                <a:solidFill>
                  <a:srgbClr val="607160"/>
                </a:solidFill>
                <a:latin typeface="Arial"/>
                <a:ea typeface="Arial"/>
                <a:cs typeface="Arial"/>
              </a:defRPr>
            </a:lvl9pPr>
          </a:lstStyle>
          <a:p xmlns:a="http://schemas.openxmlformats.org/drawingml/2006/main">
            <a:pPr>
              <a:defRPr sz="1725" b="0">
                <a:solidFill>
                  <a:srgbClr val="607160"/>
                </a:solidFill>
                <a:latin typeface="Arial"/>
                <a:ea typeface="Arial"/>
                <a:cs typeface="Arial"/>
              </a:defRPr>
            </a:pPr>
            <a:r>
              <a:rPr sz="1725" b="0">
                <a:solidFill>
                  <a:srgbClr val="607160"/>
                </a:solidFill>
                <a:latin typeface="Arial"/>
                <a:ea typeface="Arial"/>
                <a:cs typeface="Arial"/>
              </a:rPr>
              <a:t>The demo uses synthetic data. Identity, permissions and approved hosting come first.</a:t>
            </a:r>
          </a:p>
        </p:txBody>
      </p:sp>
      <p:sp>
        <p:nvSpPr>
          <p:cNvPr id="17" name="text-15-14">
            <a:extLst xmlns:a="http://schemas.openxmlformats.org/drawingml/2006/main">
              <a:ext uri="{FF2B5EF4-FFF2-40B4-BE49-F238E27FC236}">
                <a16:creationId xmlns:a16="http://schemas.microsoft.com/office/drawing/2014/main" id="{3F84AC3A-EEF5-458A-BB2F-717DA7FF4975}"/>
              </a:ext>
            </a:extLst>
          </p:cNvPr>
          <p:cNvSpPr>
            <a:spLocks xmlns:a="http://schemas.openxmlformats.org/drawingml/2006/main" noGrp="1"/>
          </p:cNvSpPr>
          <p:nvPr/>
        </p:nvSpPr>
        <p:spPr>
          <a:xfrm xmlns:a="http://schemas.openxmlformats.org/drawingml/2006/main">
            <a:off x="619125" y="595312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3F682E"/>
                </a:solidFill>
                <a:latin typeface="Arial"/>
                <a:ea typeface="Arial"/>
                <a:cs typeface="Arial"/>
              </a:defRPr>
            </a:defPPr>
            <a:lvl1pPr>
              <a:defRPr sz="1575" b="1">
                <a:solidFill>
                  <a:srgbClr val="3F682E"/>
                </a:solidFill>
                <a:latin typeface="Arial"/>
                <a:ea typeface="Arial"/>
                <a:cs typeface="Arial"/>
              </a:defRPr>
            </a:lvl1pPr>
            <a:lvl2pPr>
              <a:defRPr sz="1575" b="1">
                <a:solidFill>
                  <a:srgbClr val="3F682E"/>
                </a:solidFill>
                <a:latin typeface="Arial"/>
                <a:ea typeface="Arial"/>
                <a:cs typeface="Arial"/>
              </a:defRPr>
            </a:lvl2pPr>
            <a:lvl3pPr>
              <a:defRPr sz="1575" b="1">
                <a:solidFill>
                  <a:srgbClr val="3F682E"/>
                </a:solidFill>
                <a:latin typeface="Arial"/>
                <a:ea typeface="Arial"/>
                <a:cs typeface="Arial"/>
              </a:defRPr>
            </a:lvl3pPr>
            <a:lvl4pPr>
              <a:defRPr sz="1575" b="1">
                <a:solidFill>
                  <a:srgbClr val="3F682E"/>
                </a:solidFill>
                <a:latin typeface="Arial"/>
                <a:ea typeface="Arial"/>
                <a:cs typeface="Arial"/>
              </a:defRPr>
            </a:lvl4pPr>
            <a:lvl5pPr>
              <a:defRPr sz="1575" b="1">
                <a:solidFill>
                  <a:srgbClr val="3F682E"/>
                </a:solidFill>
                <a:latin typeface="Arial"/>
                <a:ea typeface="Arial"/>
                <a:cs typeface="Arial"/>
              </a:defRPr>
            </a:lvl5pPr>
            <a:lvl6pPr>
              <a:defRPr sz="1575" b="1">
                <a:solidFill>
                  <a:srgbClr val="3F682E"/>
                </a:solidFill>
                <a:latin typeface="Arial"/>
                <a:ea typeface="Arial"/>
                <a:cs typeface="Arial"/>
              </a:defRPr>
            </a:lvl6pPr>
            <a:lvl7pPr>
              <a:defRPr sz="1575" b="1">
                <a:solidFill>
                  <a:srgbClr val="3F682E"/>
                </a:solidFill>
                <a:latin typeface="Arial"/>
                <a:ea typeface="Arial"/>
                <a:cs typeface="Arial"/>
              </a:defRPr>
            </a:lvl7pPr>
            <a:lvl8pPr>
              <a:defRPr sz="1575" b="1">
                <a:solidFill>
                  <a:srgbClr val="3F682E"/>
                </a:solidFill>
                <a:latin typeface="Arial"/>
                <a:ea typeface="Arial"/>
                <a:cs typeface="Arial"/>
              </a:defRPr>
            </a:lvl8pPr>
            <a:lvl9pPr>
              <a:defRPr sz="1575" b="1">
                <a:solidFill>
                  <a:srgbClr val="3F682E"/>
                </a:solidFill>
                <a:latin typeface="Arial"/>
                <a:ea typeface="Arial"/>
                <a:cs typeface="Arial"/>
              </a:defRPr>
            </a:lvl9pPr>
          </a:lstStyle>
          <a:p xmlns:a="http://schemas.openxmlformats.org/drawingml/2006/main">
            <a:pPr>
              <a:defRPr sz="1575" b="1">
                <a:solidFill>
                  <a:srgbClr val="3F682E"/>
                </a:solidFill>
                <a:latin typeface="Arial"/>
                <a:ea typeface="Arial"/>
                <a:cs typeface="Arial"/>
              </a:defRPr>
            </a:pPr>
            <a:r>
              <a:rPr sz="1575" b="1">
                <a:solidFill>
                  <a:srgbClr val="3F682E"/>
                </a:solidFill>
                <a:latin typeface="Arial"/>
                <a:ea typeface="Arial"/>
                <a:cs typeface="Arial"/>
              </a:rPr>
              <a:t>Next validation: local users, source coverage, false alarms, missed concerns and employee trust.</a:t>
            </a:r>
          </a:p>
        </p:txBody>
      </p:sp>
    </p:spTree>
    <p:extLst>
      <p:ext uri="{BB962C8B-B14F-4D97-AF65-F5344CB8AC3E}">
        <p14:creationId xmlns:p14="http://schemas.microsoft.com/office/powerpoint/2010/main" val="363251025"/>
      </p:ext>
    </p:extLst>
  </p:cSld>
</p:sld>
</file>

<file path=ppt/slides/slide16.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967A593-52B5-4903-8490-4C34217F95CB}"/>
              </a:ext>
            </a:extLst>
          </p:cNvPr>
          <p:cNvPicPr>
            <a:picLocks xmlns:a="http://schemas.openxmlformats.org/drawingml/2006/main" noChangeAspect="1"/>
          </p:cNvPicPr>
          <p:nvPr/>
        </p:nvPicPr>
        <p:blipFill>
          <a:blip xmlns:r="http://schemas.openxmlformats.org/officeDocument/2006/relationships" xmlns:a="http://schemas.openxmlformats.org/drawingml/2006/main" r:embed="Ree6ba23c581a4f55"/>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16-0">
            <a:extLst xmlns:a="http://schemas.openxmlformats.org/drawingml/2006/main">
              <a:ext uri="{FF2B5EF4-FFF2-40B4-BE49-F238E27FC236}">
                <a16:creationId xmlns:a16="http://schemas.microsoft.com/office/drawing/2014/main" id="{BD1DF2A9-9165-42FD-8C79-65535F01CEBE}"/>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2EF39762-C2ED-41B6-AEC5-AE52C625224F}"/>
              </a:ext>
            </a:extLst>
          </p:cNvPr>
          <p:cNvPicPr>
            <a:picLocks xmlns:a="http://schemas.openxmlformats.org/drawingml/2006/main" noChangeAspect="1"/>
          </p:cNvPicPr>
          <p:nvPr/>
        </p:nvPicPr>
        <p:blipFill>
          <a:blip xmlns:r="http://schemas.openxmlformats.org/officeDocument/2006/relationships" xmlns:a="http://schemas.openxmlformats.org/drawingml/2006/main" r:embed="Rfc806c4a1a874cff"/>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6-1">
            <a:extLst xmlns:a="http://schemas.openxmlformats.org/drawingml/2006/main">
              <a:ext uri="{FF2B5EF4-FFF2-40B4-BE49-F238E27FC236}">
                <a16:creationId xmlns:a16="http://schemas.microsoft.com/office/drawing/2014/main" id="{CBF998C3-79F4-428F-8F76-25A676388F0B}"/>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APPENDIX / FUNCTIONALITY &amp; CRITERIA</a:t>
            </a:r>
          </a:p>
        </p:txBody>
      </p:sp>
      <p:sp>
        <p:nvSpPr>
          <p:cNvPr id="5" name="text-16-2">
            <a:extLst xmlns:a="http://schemas.openxmlformats.org/drawingml/2006/main">
              <a:ext uri="{FF2B5EF4-FFF2-40B4-BE49-F238E27FC236}">
                <a16:creationId xmlns:a16="http://schemas.microsoft.com/office/drawing/2014/main" id="{4BC57C38-CF6C-499B-BDD7-FFF075992A07}"/>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Demo coverage: understand the concern</a:t>
            </a:r>
          </a:p>
        </p:txBody>
      </p:sp>
      <p:sp>
        <p:nvSpPr>
          <p:cNvPr id="6" name="text-16-3">
            <a:extLst xmlns:a="http://schemas.openxmlformats.org/drawingml/2006/main">
              <a:ext uri="{FF2B5EF4-FFF2-40B4-BE49-F238E27FC236}">
                <a16:creationId xmlns:a16="http://schemas.microsoft.com/office/drawing/2014/main" id="{91547C43-A81F-415D-9C03-30B89094CA74}"/>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Problem–solution fit · Human-centered &amp; responsible</a:t>
            </a:r>
          </a:p>
        </p:txBody>
      </p:sp>
      <p:sp>
        <p:nvSpPr>
          <p:cNvPr id="7" name="text-16-4">
            <a:extLst xmlns:a="http://schemas.openxmlformats.org/drawingml/2006/main">
              <a:ext uri="{FF2B5EF4-FFF2-40B4-BE49-F238E27FC236}">
                <a16:creationId xmlns:a16="http://schemas.microsoft.com/office/drawing/2014/main" id="{67D2C026-AAA2-4A87-B9BA-E4705EC99369}"/>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16</a:t>
            </a:r>
          </a:p>
        </p:txBody>
      </p:sp>
      <p:graphicFrame>
        <p:nvGraphicFramePr>
          <p:cNvPr id="8" name="">
            <a:extLst xmlns:a="http://schemas.openxmlformats.org/drawingml/2006/main">
              <a:ext uri="{FF2B5EF4-FFF2-40B4-BE49-F238E27FC236}">
                <a16:creationId xmlns:a16="http://schemas.microsoft.com/office/drawing/2014/main" id="{185AFA2A-1776-45BD-BB6A-63C7378D0E37}"/>
              </a:ext>
            </a:extLst>
          </p:cNvPr>
          <p:cNvGraphicFramePr/>
          <p:nvPr/>
        </p:nvGraphicFramePr>
        <p:xfrm>
          <a:off xmlns:a="http://schemas.openxmlformats.org/drawingml/2006/main" x="619125" y="2533650"/>
          <a:ext xmlns:a="http://schemas.openxmlformats.org/drawingml/2006/main" cx="10953750" cy="3505200"/>
        </p:xfrm>
        <a:graphic xmlns:a="http://schemas.openxmlformats.org/drawingml/2006/main">
          <a:graphicData uri="http://schemas.openxmlformats.org/drawingml/2006/table">
            <a:tbl>
              <a:tblPr/>
              <a:tblGrid>
                <a:gridCol w="2809875"/>
                <a:gridCol w="5429250"/>
                <a:gridCol w="2714625"/>
              </a:tblGrid>
              <a:tr h="584200">
                <a:tc>
                  <a:txBody>
                    <a:bodyPr lIns="133350" tIns="66675" rIns="114300" bIns="47625"/>
                    <a:lstStyle/>
                    <a:p>
                      <a:r>
                        <a:rPr sz="1275" b="1">
                          <a:solidFill>
                            <a:srgbClr val="FFFFFF"/>
                          </a:solidFill>
                          <a:latin typeface="Arial"/>
                          <a:ea typeface="Arial"/>
                          <a:cs typeface="Arial"/>
                        </a:rPr>
                        <a:t>What the employee can do</a:t>
                      </a:r>
                    </a:p>
                  </a:txBody>
                  <a:tcPr marL="91440" marR="91440" marT="45720" marB="45720" anchor="ctr">
                    <a:lnL w="5715">
                      <a:solidFill>
                        <a:srgbClr val="DFE7D7"/>
                      </a:solidFill>
                      <a:prstDash val="solid"/>
                    </a:lnL>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66675" rIns="114300" bIns="47625"/>
                    <a:lstStyle/>
                    <a:p>
                      <a:r>
                        <a:rPr sz="1275" b="1">
                          <a:solidFill>
                            <a:srgbClr val="FFFFFF"/>
                          </a:solidFill>
                          <a:latin typeface="Arial"/>
                          <a:ea typeface="Arial"/>
                          <a:cs typeface="Arial"/>
                        </a:rPr>
                        <a:t>Why it matters</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66675" rIns="114300" bIns="47625"/>
                    <a:lstStyle/>
                    <a:p>
                      <a:r>
                        <a:rPr sz="1275" b="1">
                          <a:solidFill>
                            <a:srgbClr val="FFFFFF"/>
                          </a:solidFill>
                          <a:latin typeface="Arial"/>
                          <a:ea typeface="Arial"/>
                          <a:cs typeface="Arial"/>
                        </a:rPr>
                        <a:t>Evaluation criterion</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r>
              <a:tr h="584200">
                <a:tc>
                  <a:txBody>
                    <a:bodyPr lIns="133350" tIns="66675" rIns="114300" bIns="47625"/>
                    <a:lstStyle/>
                    <a:p>
                      <a:r>
                        <a:rPr sz="1275" b="1">
                          <a:solidFill>
                            <a:srgbClr val="17334A"/>
                          </a:solidFill>
                          <a:latin typeface="Arial"/>
                          <a:ea typeface="Arial"/>
                          <a:cs typeface="Arial"/>
                        </a:rPr>
                        <a:t>Scan the dashboard</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Overview plus sentiment, languages, risk drivers and source / review charts</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Fit · Human-centered</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84200">
                <a:tc>
                  <a:txBody>
                    <a:bodyPr lIns="133350" tIns="66675" rIns="114300" bIns="47625"/>
                    <a:lstStyle/>
                    <a:p>
                      <a:r>
                        <a:rPr sz="1275" b="1">
                          <a:solidFill>
                            <a:srgbClr val="17334A"/>
                          </a:solidFill>
                          <a:latin typeface="Arial"/>
                          <a:ea typeface="Arial"/>
                          <a:cs typeface="Arial"/>
                        </a:rPr>
                        <a:t>Filter and inspect signals</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Search, group / language filters, original text, translation and review notes</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Fit · Human-centered</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584200">
                <a:tc>
                  <a:txBody>
                    <a:bodyPr lIns="133350" tIns="66675" rIns="114300" bIns="47625"/>
                    <a:lstStyle/>
                    <a:p>
                      <a:r>
                        <a:rPr sz="1275" b="1">
                          <a:solidFill>
                            <a:srgbClr val="17334A"/>
                          </a:solidFill>
                          <a:latin typeface="Arial"/>
                          <a:ea typeface="Arial"/>
                          <a:cs typeface="Arial"/>
                        </a:rPr>
                        <a:t>Inspect risk and uncertainty</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Visible factors, editable weights, evidence gaps and a simulated new signal</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Originality · Human-centered</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84200">
                <a:tc>
                  <a:txBody>
                    <a:bodyPr lIns="133350" tIns="66675" rIns="114300" bIns="47625"/>
                    <a:lstStyle/>
                    <a:p>
                      <a:r>
                        <a:rPr sz="1275" b="1">
                          <a:solidFill>
                            <a:srgbClr val="17334A"/>
                          </a:solidFill>
                          <a:latin typeface="Arial"/>
                          <a:ea typeface="Arial"/>
                          <a:cs typeface="Arial"/>
                        </a:rPr>
                        <a:t>Inspect role-specific knowledge</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Document IDs, versions, owners and role / scenario filtering</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Fit · Feasibility</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584200">
                <a:tc>
                  <a:txBody>
                    <a:bodyPr lIns="133350" tIns="66675" rIns="114300" bIns="47625"/>
                    <a:lstStyle/>
                    <a:p>
                      <a:r>
                        <a:rPr sz="1275" b="1">
                          <a:solidFill>
                            <a:srgbClr val="17334A"/>
                          </a:solidFill>
                          <a:latin typeface="Arial"/>
                          <a:ea typeface="Arial"/>
                          <a:cs typeface="Arial"/>
                        </a:rPr>
                        <a:t>Ask RepRadar in EN / ZH</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Source excerpts online; local Qwen3 option, chat context and source links</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Originality · Feasibility</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bl>
          </a:graphicData>
        </a:graphic>
      </p:graphicFrame>
      <p:sp>
        <p:nvSpPr>
          <p:cNvPr id="9" name="text-16-5">
            <a:extLst xmlns:a="http://schemas.openxmlformats.org/drawingml/2006/main">
              <a:ext uri="{FF2B5EF4-FFF2-40B4-BE49-F238E27FC236}">
                <a16:creationId xmlns:a16="http://schemas.microsoft.com/office/drawing/2014/main" id="{D1CBFC0F-C4B9-46A0-8054-7041533DF940}"/>
              </a:ext>
            </a:extLst>
          </p:cNvPr>
          <p:cNvSpPr>
            <a:spLocks xmlns:a="http://schemas.openxmlformats.org/drawingml/2006/main" noGrp="1"/>
          </p:cNvSpPr>
          <p:nvPr/>
        </p:nvSpPr>
        <p:spPr>
          <a:xfrm xmlns:a="http://schemas.openxmlformats.org/drawingml/2006/main">
            <a:off x="619125" y="61817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607160"/>
                </a:solidFill>
                <a:latin typeface="Arial"/>
                <a:ea typeface="Arial"/>
                <a:cs typeface="Arial"/>
              </a:defRPr>
            </a:defPPr>
            <a:lvl1pPr>
              <a:defRPr sz="1200" b="0">
                <a:solidFill>
                  <a:srgbClr val="607160"/>
                </a:solidFill>
                <a:latin typeface="Arial"/>
                <a:ea typeface="Arial"/>
                <a:cs typeface="Arial"/>
              </a:defRPr>
            </a:lvl1pPr>
            <a:lvl2pPr>
              <a:defRPr sz="1200" b="0">
                <a:solidFill>
                  <a:srgbClr val="607160"/>
                </a:solidFill>
                <a:latin typeface="Arial"/>
                <a:ea typeface="Arial"/>
                <a:cs typeface="Arial"/>
              </a:defRPr>
            </a:lvl2pPr>
            <a:lvl3pPr>
              <a:defRPr sz="1200" b="0">
                <a:solidFill>
                  <a:srgbClr val="607160"/>
                </a:solidFill>
                <a:latin typeface="Arial"/>
                <a:ea typeface="Arial"/>
                <a:cs typeface="Arial"/>
              </a:defRPr>
            </a:lvl3pPr>
            <a:lvl4pPr>
              <a:defRPr sz="1200" b="0">
                <a:solidFill>
                  <a:srgbClr val="607160"/>
                </a:solidFill>
                <a:latin typeface="Arial"/>
                <a:ea typeface="Arial"/>
                <a:cs typeface="Arial"/>
              </a:defRPr>
            </a:lvl4pPr>
            <a:lvl5pPr>
              <a:defRPr sz="1200" b="0">
                <a:solidFill>
                  <a:srgbClr val="607160"/>
                </a:solidFill>
                <a:latin typeface="Arial"/>
                <a:ea typeface="Arial"/>
                <a:cs typeface="Arial"/>
              </a:defRPr>
            </a:lvl5pPr>
            <a:lvl6pPr>
              <a:defRPr sz="1200" b="0">
                <a:solidFill>
                  <a:srgbClr val="607160"/>
                </a:solidFill>
                <a:latin typeface="Arial"/>
                <a:ea typeface="Arial"/>
                <a:cs typeface="Arial"/>
              </a:defRPr>
            </a:lvl6pPr>
            <a:lvl7pPr>
              <a:defRPr sz="1200" b="0">
                <a:solidFill>
                  <a:srgbClr val="607160"/>
                </a:solidFill>
                <a:latin typeface="Arial"/>
                <a:ea typeface="Arial"/>
                <a:cs typeface="Arial"/>
              </a:defRPr>
            </a:lvl7pPr>
            <a:lvl8pPr>
              <a:defRPr sz="1200" b="0">
                <a:solidFill>
                  <a:srgbClr val="607160"/>
                </a:solidFill>
                <a:latin typeface="Arial"/>
                <a:ea typeface="Arial"/>
                <a:cs typeface="Arial"/>
              </a:defRPr>
            </a:lvl8pPr>
            <a:lvl9pPr>
              <a:defRPr sz="1200" b="0">
                <a:solidFill>
                  <a:srgbClr val="607160"/>
                </a:solidFill>
                <a:latin typeface="Arial"/>
                <a:ea typeface="Arial"/>
                <a:cs typeface="Arial"/>
              </a:defRPr>
            </a:lvl9pPr>
          </a:lstStyle>
          <a:p xmlns:a="http://schemas.openxmlformats.org/drawingml/2006/main">
            <a:pPr>
              <a:defRPr sz="1200" b="0">
                <a:solidFill>
                  <a:srgbClr val="607160"/>
                </a:solidFill>
                <a:latin typeface="Arial"/>
                <a:ea typeface="Arial"/>
                <a:cs typeface="Arial"/>
              </a:defRPr>
            </a:pPr>
            <a:r>
              <a:rPr sz="1200" b="0">
                <a:solidFill>
                  <a:srgbClr val="607160"/>
                </a:solidFill>
                <a:latin typeface="Arial"/>
                <a:ea typeface="Arial"/>
                <a:cs typeface="Arial"/>
              </a:rPr>
              <a:t>Sentiment, translations and agent perspectives are authored demo examples; live ingestion is a pilot step.</a:t>
            </a:r>
          </a:p>
        </p:txBody>
      </p:sp>
    </p:spTree>
    <p:extLst>
      <p:ext uri="{BB962C8B-B14F-4D97-AF65-F5344CB8AC3E}">
        <p14:creationId xmlns:p14="http://schemas.microsoft.com/office/powerpoint/2010/main" val="1032808853"/>
      </p:ext>
    </p:extLst>
  </p:cSld>
</p:sld>
</file>

<file path=ppt/slides/slide17.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41CA428-CD35-4EFA-B607-1BB4F8FDF9AA}"/>
              </a:ext>
            </a:extLst>
          </p:cNvPr>
          <p:cNvPicPr>
            <a:picLocks xmlns:a="http://schemas.openxmlformats.org/drawingml/2006/main" noChangeAspect="1"/>
          </p:cNvPicPr>
          <p:nvPr/>
        </p:nvPicPr>
        <p:blipFill>
          <a:blip xmlns:r="http://schemas.openxmlformats.org/officeDocument/2006/relationships" xmlns:a="http://schemas.openxmlformats.org/drawingml/2006/main" r:embed="R82ab0ddecffe412a"/>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17-0">
            <a:extLst xmlns:a="http://schemas.openxmlformats.org/drawingml/2006/main">
              <a:ext uri="{FF2B5EF4-FFF2-40B4-BE49-F238E27FC236}">
                <a16:creationId xmlns:a16="http://schemas.microsoft.com/office/drawing/2014/main" id="{CE2E5885-C867-4572-BEB4-1477499D327D}"/>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B0D8207A-5D9F-45D2-9ABC-E72DDE15A535}"/>
              </a:ext>
            </a:extLst>
          </p:cNvPr>
          <p:cNvPicPr>
            <a:picLocks xmlns:a="http://schemas.openxmlformats.org/drawingml/2006/main" noChangeAspect="1"/>
          </p:cNvPicPr>
          <p:nvPr/>
        </p:nvPicPr>
        <p:blipFill>
          <a:blip xmlns:r="http://schemas.openxmlformats.org/officeDocument/2006/relationships" xmlns:a="http://schemas.openxmlformats.org/drawingml/2006/main" r:embed="R65938758872d47f2"/>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7-1">
            <a:extLst xmlns:a="http://schemas.openxmlformats.org/drawingml/2006/main">
              <a:ext uri="{FF2B5EF4-FFF2-40B4-BE49-F238E27FC236}">
                <a16:creationId xmlns:a16="http://schemas.microsoft.com/office/drawing/2014/main" id="{F4B80400-FD3D-4637-A772-6A3C5522D48A}"/>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APPENDIX / FUNCTIONALITY &amp; CRITERIA</a:t>
            </a:r>
          </a:p>
        </p:txBody>
      </p:sp>
      <p:sp>
        <p:nvSpPr>
          <p:cNvPr id="5" name="text-17-2">
            <a:extLst xmlns:a="http://schemas.openxmlformats.org/drawingml/2006/main">
              <a:ext uri="{FF2B5EF4-FFF2-40B4-BE49-F238E27FC236}">
                <a16:creationId xmlns:a16="http://schemas.microsoft.com/office/drawing/2014/main" id="{E260A360-B676-4581-AC5B-24DBBF7CEA83}"/>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Demo coverage: decide, coordinate and learn</a:t>
            </a:r>
          </a:p>
        </p:txBody>
      </p:sp>
      <p:sp>
        <p:nvSpPr>
          <p:cNvPr id="6" name="text-17-3">
            <a:extLst xmlns:a="http://schemas.openxmlformats.org/drawingml/2006/main">
              <a:ext uri="{FF2B5EF4-FFF2-40B4-BE49-F238E27FC236}">
                <a16:creationId xmlns:a16="http://schemas.microsoft.com/office/drawing/2014/main" id="{F4F9F216-8161-4757-84DD-CB1CFF19D69A}"/>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Human-centered &amp; responsible · Feasibility</a:t>
            </a:r>
          </a:p>
        </p:txBody>
      </p:sp>
      <p:sp>
        <p:nvSpPr>
          <p:cNvPr id="7" name="text-17-4">
            <a:extLst xmlns:a="http://schemas.openxmlformats.org/drawingml/2006/main">
              <a:ext uri="{FF2B5EF4-FFF2-40B4-BE49-F238E27FC236}">
                <a16:creationId xmlns:a16="http://schemas.microsoft.com/office/drawing/2014/main" id="{F323DA58-61A1-4751-954D-3AAD7D7E8E6A}"/>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17</a:t>
            </a:r>
          </a:p>
        </p:txBody>
      </p:sp>
      <p:graphicFrame>
        <p:nvGraphicFramePr>
          <p:cNvPr id="8" name="">
            <a:extLst xmlns:a="http://schemas.openxmlformats.org/drawingml/2006/main">
              <a:ext uri="{FF2B5EF4-FFF2-40B4-BE49-F238E27FC236}">
                <a16:creationId xmlns:a16="http://schemas.microsoft.com/office/drawing/2014/main" id="{E4DDD3E9-7689-411D-AFF6-B63499C093BA}"/>
              </a:ext>
            </a:extLst>
          </p:cNvPr>
          <p:cNvGraphicFramePr/>
          <p:nvPr/>
        </p:nvGraphicFramePr>
        <p:xfrm>
          <a:off xmlns:a="http://schemas.openxmlformats.org/drawingml/2006/main" x="619125" y="2533650"/>
          <a:ext xmlns:a="http://schemas.openxmlformats.org/drawingml/2006/main" cx="10953750" cy="3638550"/>
        </p:xfrm>
        <a:graphic xmlns:a="http://schemas.openxmlformats.org/drawingml/2006/main">
          <a:graphicData uri="http://schemas.openxmlformats.org/drawingml/2006/table">
            <a:tbl>
              <a:tblPr/>
              <a:tblGrid>
                <a:gridCol w="2809875"/>
                <a:gridCol w="5429250"/>
                <a:gridCol w="2714625"/>
              </a:tblGrid>
              <a:tr h="519793">
                <a:tc>
                  <a:txBody>
                    <a:bodyPr lIns="133350" tIns="66675" rIns="114300" bIns="47625"/>
                    <a:lstStyle/>
                    <a:p>
                      <a:r>
                        <a:rPr sz="1275" b="1">
                          <a:solidFill>
                            <a:srgbClr val="FFFFFF"/>
                          </a:solidFill>
                          <a:latin typeface="Arial"/>
                          <a:ea typeface="Arial"/>
                          <a:cs typeface="Arial"/>
                        </a:rPr>
                        <a:t>What the employee can do</a:t>
                      </a:r>
                    </a:p>
                  </a:txBody>
                  <a:tcPr marL="91440" marR="91440" marT="45720" marB="45720" anchor="ctr">
                    <a:lnL w="5715">
                      <a:solidFill>
                        <a:srgbClr val="DFE7D7"/>
                      </a:solidFill>
                      <a:prstDash val="solid"/>
                    </a:lnL>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66675" rIns="114300" bIns="47625"/>
                    <a:lstStyle/>
                    <a:p>
                      <a:r>
                        <a:rPr sz="1275" b="1">
                          <a:solidFill>
                            <a:srgbClr val="FFFFFF"/>
                          </a:solidFill>
                          <a:latin typeface="Arial"/>
                          <a:ea typeface="Arial"/>
                          <a:cs typeface="Arial"/>
                        </a:rPr>
                        <a:t>Why it matters</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66675" rIns="114300" bIns="47625"/>
                    <a:lstStyle/>
                    <a:p>
                      <a:r>
                        <a:rPr sz="1275" b="1">
                          <a:solidFill>
                            <a:srgbClr val="FFFFFF"/>
                          </a:solidFill>
                          <a:latin typeface="Arial"/>
                          <a:ea typeface="Arial"/>
                          <a:cs typeface="Arial"/>
                        </a:rPr>
                        <a:t>Evaluation criterion</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r>
              <a:tr h="519793">
                <a:tc>
                  <a:txBody>
                    <a:bodyPr lIns="133350" tIns="66675" rIns="114300" bIns="47625"/>
                    <a:lstStyle/>
                    <a:p>
                      <a:r>
                        <a:rPr sz="1275" b="1">
                          <a:solidFill>
                            <a:srgbClr val="17334A"/>
                          </a:solidFill>
                          <a:latin typeface="Arial"/>
                          <a:ea typeface="Arial"/>
                          <a:cs typeface="Arial"/>
                        </a:rPr>
                        <a:t>Compare three next steps</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Change evidence, trust and speed preferences; inspect the ranking</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Originality · Human-centered</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19793">
                <a:tc>
                  <a:txBody>
                    <a:bodyPr lIns="133350" tIns="66675" rIns="114300" bIns="47625"/>
                    <a:lstStyle/>
                    <a:p>
                      <a:r>
                        <a:rPr sz="1275" b="1">
                          <a:solidFill>
                            <a:srgbClr val="17334A"/>
                          </a:solidFill>
                          <a:latin typeface="Arial"/>
                          <a:ea typeface="Arial"/>
                          <a:cs typeface="Arial"/>
                        </a:rPr>
                        <a:t>Edit, approve, reject or defer</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Own the action, record a rationale and acknowledge evidence limits</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Fit · Human-centered</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519793">
                <a:tc>
                  <a:txBody>
                    <a:bodyPr lIns="133350" tIns="66675" rIns="114300" bIns="47625"/>
                    <a:lstStyle/>
                    <a:p>
                      <a:r>
                        <a:rPr sz="1275" b="1">
                          <a:solidFill>
                            <a:srgbClr val="17334A"/>
                          </a:solidFill>
                          <a:latin typeface="Arial"/>
                          <a:ea typeface="Arial"/>
                          <a:cs typeface="Arial"/>
                        </a:rPr>
                        <a:t>Prepare a team handoff</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Editable Outlook compose link, copied brief or reviewed ERP CSV</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Fit · Feasibility</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19793">
                <a:tc>
                  <a:txBody>
                    <a:bodyPr lIns="133350" tIns="66675" rIns="114300" bIns="47625"/>
                    <a:lstStyle/>
                    <a:p>
                      <a:r>
                        <a:rPr sz="1275" b="1">
                          <a:solidFill>
                            <a:srgbClr val="17334A"/>
                          </a:solidFill>
                          <a:latin typeface="Arial"/>
                          <a:ea typeface="Arial"/>
                          <a:cs typeface="Arial"/>
                        </a:rPr>
                        <a:t>Keep an accountable record</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Decision log, export and browser-local persistence</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Feasibility · Human-centered</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519793">
                <a:tc>
                  <a:txBody>
                    <a:bodyPr lIns="133350" tIns="66675" rIns="114300" bIns="47625"/>
                    <a:lstStyle/>
                    <a:p>
                      <a:r>
                        <a:rPr sz="1275" b="1">
                          <a:solidFill>
                            <a:srgbClr val="17334A"/>
                          </a:solidFill>
                          <a:latin typeface="Arial"/>
                          <a:ea typeface="Arial"/>
                          <a:cs typeface="Arial"/>
                        </a:rPr>
                        <a:t>Review outcomes and lessons</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Capture feedback; curator approval before role-specific reuse</a:t>
                      </a:r>
                    </a:p>
                  </a:txBody>
                  <a:tcPr marL="91440" marR="91440" marT="45720" marB="45720" anchor="ctr">
                    <a:lnR w="5715">
                      <a:solidFill>
                        <a:srgbClr val="DFE7D7"/>
                      </a:solidFill>
                      <a:prstDash val="solid"/>
                    </a:lnR>
                    <a:lnB w="5715">
                      <a:solidFill>
                        <a:srgbClr val="DFE7D7"/>
                      </a:solidFill>
                      <a:prstDash val="solid"/>
                    </a:lnB>
                    <a:solidFill>
                      <a:srgbClr val="FFFFFF"/>
                    </a:solidFill>
                  </a:tcPr>
                </a:tc>
                <a:tc>
                  <a:txBody>
                    <a:bodyPr lIns="133350" tIns="66675" rIns="114300" bIns="47625"/>
                    <a:lstStyle/>
                    <a:p>
                      <a:r>
                        <a:rPr sz="1275" b="0">
                          <a:solidFill>
                            <a:srgbClr val="607160"/>
                          </a:solidFill>
                          <a:latin typeface="Arial"/>
                          <a:ea typeface="Arial"/>
                          <a:cs typeface="Arial"/>
                        </a:rPr>
                        <a:t>Originality · Human-centered</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19793">
                <a:tc>
                  <a:txBody>
                    <a:bodyPr lIns="133350" tIns="66675" rIns="114300" bIns="47625"/>
                    <a:lstStyle/>
                    <a:p>
                      <a:r>
                        <a:rPr sz="1275" b="1">
                          <a:solidFill>
                            <a:srgbClr val="17334A"/>
                          </a:solidFill>
                          <a:latin typeface="Arial"/>
                          <a:ea typeface="Arial"/>
                          <a:cs typeface="Arial"/>
                        </a:rPr>
                        <a:t>Rehearse and recover</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Guided walkthrough, reset, source fallback and deck screenshots</a:t>
                      </a:r>
                    </a:p>
                  </a:txBody>
                  <a:tcPr marL="91440" marR="91440" marT="45720" marB="45720" anchor="ctr">
                    <a:lnR w="5715">
                      <a:solidFill>
                        <a:srgbClr val="DFE7D7"/>
                      </a:solidFill>
                      <a:prstDash val="solid"/>
                    </a:lnR>
                    <a:lnB w="5715">
                      <a:solidFill>
                        <a:srgbClr val="DFE7D7"/>
                      </a:solidFill>
                      <a:prstDash val="solid"/>
                    </a:lnB>
                    <a:solidFill>
                      <a:srgbClr val="F1F5EB"/>
                    </a:solidFill>
                  </a:tcPr>
                </a:tc>
                <a:tc>
                  <a:txBody>
                    <a:bodyPr lIns="133350" tIns="66675" rIns="114300" bIns="47625"/>
                    <a:lstStyle/>
                    <a:p>
                      <a:r>
                        <a:rPr sz="1275" b="0">
                          <a:solidFill>
                            <a:srgbClr val="607160"/>
                          </a:solidFill>
                          <a:latin typeface="Arial"/>
                          <a:ea typeface="Arial"/>
                          <a:cs typeface="Arial"/>
                        </a:rPr>
                        <a:t>Feasibility · Pitch &amp; Q&amp;A</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bl>
          </a:graphicData>
        </a:graphic>
      </p:graphicFrame>
      <p:sp>
        <p:nvSpPr>
          <p:cNvPr id="9" name="text-17-5">
            <a:extLst xmlns:a="http://schemas.openxmlformats.org/drawingml/2006/main">
              <a:ext uri="{FF2B5EF4-FFF2-40B4-BE49-F238E27FC236}">
                <a16:creationId xmlns:a16="http://schemas.microsoft.com/office/drawing/2014/main" id="{2AAAA355-9064-4DCB-A0A1-6FBA583CA1BC}"/>
              </a:ext>
            </a:extLst>
          </p:cNvPr>
          <p:cNvSpPr>
            <a:spLocks xmlns:a="http://schemas.openxmlformats.org/drawingml/2006/main" noGrp="1"/>
          </p:cNvSpPr>
          <p:nvPr/>
        </p:nvSpPr>
        <p:spPr>
          <a:xfrm xmlns:a="http://schemas.openxmlformats.org/drawingml/2006/main">
            <a:off x="619125" y="6381750"/>
            <a:ext cx="1047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607160"/>
                </a:solidFill>
                <a:latin typeface="Arial"/>
                <a:ea typeface="Arial"/>
                <a:cs typeface="Arial"/>
              </a:defRPr>
            </a:defPPr>
            <a:lvl1pPr>
              <a:defRPr sz="1125" b="0">
                <a:solidFill>
                  <a:srgbClr val="607160"/>
                </a:solidFill>
                <a:latin typeface="Arial"/>
                <a:ea typeface="Arial"/>
                <a:cs typeface="Arial"/>
              </a:defRPr>
            </a:lvl1pPr>
            <a:lvl2pPr>
              <a:defRPr sz="1125" b="0">
                <a:solidFill>
                  <a:srgbClr val="607160"/>
                </a:solidFill>
                <a:latin typeface="Arial"/>
                <a:ea typeface="Arial"/>
                <a:cs typeface="Arial"/>
              </a:defRPr>
            </a:lvl2pPr>
            <a:lvl3pPr>
              <a:defRPr sz="1125" b="0">
                <a:solidFill>
                  <a:srgbClr val="607160"/>
                </a:solidFill>
                <a:latin typeface="Arial"/>
                <a:ea typeface="Arial"/>
                <a:cs typeface="Arial"/>
              </a:defRPr>
            </a:lvl3pPr>
            <a:lvl4pPr>
              <a:defRPr sz="1125" b="0">
                <a:solidFill>
                  <a:srgbClr val="607160"/>
                </a:solidFill>
                <a:latin typeface="Arial"/>
                <a:ea typeface="Arial"/>
                <a:cs typeface="Arial"/>
              </a:defRPr>
            </a:lvl4pPr>
            <a:lvl5pPr>
              <a:defRPr sz="1125" b="0">
                <a:solidFill>
                  <a:srgbClr val="607160"/>
                </a:solidFill>
                <a:latin typeface="Arial"/>
                <a:ea typeface="Arial"/>
                <a:cs typeface="Arial"/>
              </a:defRPr>
            </a:lvl5pPr>
            <a:lvl6pPr>
              <a:defRPr sz="1125" b="0">
                <a:solidFill>
                  <a:srgbClr val="607160"/>
                </a:solidFill>
                <a:latin typeface="Arial"/>
                <a:ea typeface="Arial"/>
                <a:cs typeface="Arial"/>
              </a:defRPr>
            </a:lvl6pPr>
            <a:lvl7pPr>
              <a:defRPr sz="1125" b="0">
                <a:solidFill>
                  <a:srgbClr val="607160"/>
                </a:solidFill>
                <a:latin typeface="Arial"/>
                <a:ea typeface="Arial"/>
                <a:cs typeface="Arial"/>
              </a:defRPr>
            </a:lvl7pPr>
            <a:lvl8pPr>
              <a:defRPr sz="1125" b="0">
                <a:solidFill>
                  <a:srgbClr val="607160"/>
                </a:solidFill>
                <a:latin typeface="Arial"/>
                <a:ea typeface="Arial"/>
                <a:cs typeface="Arial"/>
              </a:defRPr>
            </a:lvl8pPr>
            <a:lvl9pPr>
              <a:defRPr sz="1125" b="0">
                <a:solidFill>
                  <a:srgbClr val="607160"/>
                </a:solidFill>
                <a:latin typeface="Arial"/>
                <a:ea typeface="Arial"/>
                <a:cs typeface="Arial"/>
              </a:defRPr>
            </a:lvl9pPr>
          </a:lstStyle>
          <a:p xmlns:a="http://schemas.openxmlformats.org/drawingml/2006/main">
            <a:pPr>
              <a:defRPr sz="1125" b="0">
                <a:solidFill>
                  <a:srgbClr val="607160"/>
                </a:solidFill>
                <a:latin typeface="Arial"/>
                <a:ea typeface="Arial"/>
                <a:cs typeface="Arial"/>
              </a:defRPr>
            </a:pPr>
            <a:r>
              <a:rPr sz="1125" b="0">
                <a:solidFill>
                  <a:srgbClr val="607160"/>
                </a:solidFill>
                <a:latin typeface="Arial"/>
                <a:ea typeface="Arial"/>
                <a:cs typeface="Arial"/>
              </a:rPr>
              <a:t>Outlook: human sends. ERP: CSV export. Learning: curated retrieval, not model retraining.</a:t>
            </a:r>
          </a:p>
        </p:txBody>
      </p:sp>
    </p:spTree>
    <p:extLst>
      <p:ext uri="{BB962C8B-B14F-4D97-AF65-F5344CB8AC3E}">
        <p14:creationId xmlns:p14="http://schemas.microsoft.com/office/powerpoint/2010/main" val="812146992"/>
      </p:ext>
    </p:extLst>
  </p:cSld>
</p:sld>
</file>

<file path=ppt/slides/slide18.xml><?xml version="1.0" encoding="utf-8"?>
<p:sld xmlns:p="http://schemas.openxmlformats.org/presentationml/2006/main">
  <p:cSld>
    <p:bg>
      <p:bgPr>
        <a:solidFill xmlns:a="http://schemas.openxmlformats.org/drawingml/2006/main">
          <a:srgbClr val="F9FAF5"/>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B88DA47-0162-4089-B8C5-5283B0100205}"/>
              </a:ext>
            </a:extLst>
          </p:cNvPr>
          <p:cNvPicPr>
            <a:picLocks xmlns:a="http://schemas.openxmlformats.org/drawingml/2006/main" noChangeAspect="1"/>
          </p:cNvPicPr>
          <p:nvPr/>
        </p:nvPicPr>
        <p:blipFill>
          <a:blip xmlns:r="http://schemas.openxmlformats.org/officeDocument/2006/relationships" xmlns:a="http://schemas.openxmlformats.org/drawingml/2006/main" r:embed="R3957585baf1c4bfa"/>
          <a:stretch xmlns:a="http://schemas.openxmlformats.org/drawingml/2006/main"/>
        </p:blipFill>
        <p:spPr>
          <a:xfrm xmlns:a="http://schemas.openxmlformats.org/drawingml/2006/main">
            <a:off x="619125" y="266700"/>
            <a:ext cx="342900" cy="342900"/>
          </a:xfrm>
          <a:prstGeom xmlns:a="http://schemas.openxmlformats.org/drawingml/2006/main" prst="rect">
            <a:avLst/>
          </a:prstGeom>
        </p:spPr>
      </p:pic>
      <p:sp>
        <p:nvSpPr>
          <p:cNvPr id="2" name="text-18-0">
            <a:extLst xmlns:a="http://schemas.openxmlformats.org/drawingml/2006/main">
              <a:ext uri="{FF2B5EF4-FFF2-40B4-BE49-F238E27FC236}">
                <a16:creationId xmlns:a16="http://schemas.microsoft.com/office/drawing/2014/main" id="{7C2BB0C0-7CCC-4AB2-9CEA-6AB0F2D28FAF}"/>
              </a:ext>
            </a:extLst>
          </p:cNvPr>
          <p:cNvSpPr>
            <a:spLocks xmlns:a="http://schemas.openxmlformats.org/drawingml/2006/main" noGrp="1"/>
          </p:cNvSpPr>
          <p:nvPr/>
        </p:nvSpPr>
        <p:spPr>
          <a:xfrm xmlns:a="http://schemas.openxmlformats.org/drawingml/2006/main">
            <a:off x="1085850" y="257175"/>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3F682E"/>
                </a:solidFill>
                <a:latin typeface="Poppins"/>
                <a:ea typeface="Poppins"/>
                <a:cs typeface="Poppins"/>
              </a:defRPr>
            </a:defPPr>
            <a:lvl1pPr>
              <a:defRPr sz="2025" b="1">
                <a:solidFill>
                  <a:srgbClr val="3F682E"/>
                </a:solidFill>
                <a:latin typeface="Poppins"/>
                <a:ea typeface="Poppins"/>
                <a:cs typeface="Poppins"/>
              </a:defRPr>
            </a:lvl1pPr>
            <a:lvl2pPr>
              <a:defRPr sz="2025" b="1">
                <a:solidFill>
                  <a:srgbClr val="3F682E"/>
                </a:solidFill>
                <a:latin typeface="Poppins"/>
                <a:ea typeface="Poppins"/>
                <a:cs typeface="Poppins"/>
              </a:defRPr>
            </a:lvl2pPr>
            <a:lvl3pPr>
              <a:defRPr sz="2025" b="1">
                <a:solidFill>
                  <a:srgbClr val="3F682E"/>
                </a:solidFill>
                <a:latin typeface="Poppins"/>
                <a:ea typeface="Poppins"/>
                <a:cs typeface="Poppins"/>
              </a:defRPr>
            </a:lvl3pPr>
            <a:lvl4pPr>
              <a:defRPr sz="2025" b="1">
                <a:solidFill>
                  <a:srgbClr val="3F682E"/>
                </a:solidFill>
                <a:latin typeface="Poppins"/>
                <a:ea typeface="Poppins"/>
                <a:cs typeface="Poppins"/>
              </a:defRPr>
            </a:lvl4pPr>
            <a:lvl5pPr>
              <a:defRPr sz="2025" b="1">
                <a:solidFill>
                  <a:srgbClr val="3F682E"/>
                </a:solidFill>
                <a:latin typeface="Poppins"/>
                <a:ea typeface="Poppins"/>
                <a:cs typeface="Poppins"/>
              </a:defRPr>
            </a:lvl5pPr>
            <a:lvl6pPr>
              <a:defRPr sz="2025" b="1">
                <a:solidFill>
                  <a:srgbClr val="3F682E"/>
                </a:solidFill>
                <a:latin typeface="Poppins"/>
                <a:ea typeface="Poppins"/>
                <a:cs typeface="Poppins"/>
              </a:defRPr>
            </a:lvl6pPr>
            <a:lvl7pPr>
              <a:defRPr sz="2025" b="1">
                <a:solidFill>
                  <a:srgbClr val="3F682E"/>
                </a:solidFill>
                <a:latin typeface="Poppins"/>
                <a:ea typeface="Poppins"/>
                <a:cs typeface="Poppins"/>
              </a:defRPr>
            </a:lvl7pPr>
            <a:lvl8pPr>
              <a:defRPr sz="2025" b="1">
                <a:solidFill>
                  <a:srgbClr val="3F682E"/>
                </a:solidFill>
                <a:latin typeface="Poppins"/>
                <a:ea typeface="Poppins"/>
                <a:cs typeface="Poppins"/>
              </a:defRPr>
            </a:lvl8pPr>
            <a:lvl9pPr>
              <a:defRPr sz="2025" b="1">
                <a:solidFill>
                  <a:srgbClr val="3F682E"/>
                </a:solidFill>
                <a:latin typeface="Poppins"/>
                <a:ea typeface="Poppins"/>
                <a:cs typeface="Poppins"/>
              </a:defRPr>
            </a:lvl9pPr>
          </a:lstStyle>
          <a:p xmlns:a="http://schemas.openxmlformats.org/drawingml/2006/main">
            <a:pPr>
              <a:defRPr sz="2025" b="1">
                <a:solidFill>
                  <a:srgbClr val="3F682E"/>
                </a:solidFill>
                <a:latin typeface="Poppins"/>
                <a:ea typeface="Poppins"/>
                <a:cs typeface="Poppins"/>
              </a:defRPr>
            </a:pPr>
            <a:r>
              <a:rPr sz="2025" b="1">
                <a:solidFill>
                  <a:srgbClr val="3F682E"/>
                </a:solidFill>
                <a:latin typeface="Poppins"/>
                <a:ea typeface="Poppins"/>
                <a:cs typeface="Poppins"/>
              </a:rPr>
              <a:t>RepRadar</a:t>
            </a:r>
          </a:p>
        </p:txBody>
      </p:sp>
      <p:pic>
        <p:nvPicPr>
          <p:cNvPr id="3" name="">
            <a:extLst xmlns:a="http://schemas.openxmlformats.org/drawingml/2006/main">
              <a:ext uri="{FF2B5EF4-FFF2-40B4-BE49-F238E27FC236}">
                <a16:creationId xmlns:a16="http://schemas.microsoft.com/office/drawing/2014/main" id="{4F2C406B-B5E3-449B-8388-F9946EA47EFC}"/>
              </a:ext>
            </a:extLst>
          </p:cNvPr>
          <p:cNvPicPr>
            <a:picLocks xmlns:a="http://schemas.openxmlformats.org/drawingml/2006/main" noChangeAspect="1"/>
          </p:cNvPicPr>
          <p:nvPr/>
        </p:nvPicPr>
        <p:blipFill>
          <a:blip xmlns:r="http://schemas.openxmlformats.org/officeDocument/2006/relationships" xmlns:a="http://schemas.openxmlformats.org/drawingml/2006/main" r:embed="R72a4e56a66d24556"/>
          <a:stretch xmlns:a="http://schemas.openxmlformats.org/drawingml/2006/main"/>
        </p:blipFill>
        <p:spPr>
          <a:xfrm xmlns:a="http://schemas.openxmlformats.org/drawingml/2006/main">
            <a:off x="9829800" y="231236"/>
            <a:ext cx="1714500" cy="528127"/>
          </a:xfrm>
          <a:prstGeom xmlns:a="http://schemas.openxmlformats.org/drawingml/2006/main" prst="rect">
            <a:avLst/>
          </a:prstGeom>
        </p:spPr>
      </p:pic>
      <p:sp>
        <p:nvSpPr>
          <p:cNvPr id="4" name="text-18-1">
            <a:extLst xmlns:a="http://schemas.openxmlformats.org/drawingml/2006/main">
              <a:ext uri="{FF2B5EF4-FFF2-40B4-BE49-F238E27FC236}">
                <a16:creationId xmlns:a16="http://schemas.microsoft.com/office/drawing/2014/main" id="{195EAFC7-7FCD-475F-A744-C16AB6A8470A}"/>
              </a:ext>
            </a:extLst>
          </p:cNvPr>
          <p:cNvSpPr>
            <a:spLocks xmlns:a="http://schemas.openxmlformats.org/drawingml/2006/main" noGrp="1"/>
          </p:cNvSpPr>
          <p:nvPr/>
        </p:nvSpPr>
        <p:spPr>
          <a:xfrm xmlns:a="http://schemas.openxmlformats.org/drawingml/2006/main">
            <a:off x="619125" y="10191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1">
                <a:solidFill>
                  <a:srgbClr val="607160"/>
                </a:solidFill>
                <a:latin typeface="Arial"/>
                <a:ea typeface="Arial"/>
                <a:cs typeface="Arial"/>
              </a:defRPr>
            </a:defPPr>
            <a:lvl1pPr>
              <a:defRPr sz="900" b="1">
                <a:solidFill>
                  <a:srgbClr val="607160"/>
                </a:solidFill>
                <a:latin typeface="Arial"/>
                <a:ea typeface="Arial"/>
                <a:cs typeface="Arial"/>
              </a:defRPr>
            </a:lvl1pPr>
            <a:lvl2pPr>
              <a:defRPr sz="900" b="1">
                <a:solidFill>
                  <a:srgbClr val="607160"/>
                </a:solidFill>
                <a:latin typeface="Arial"/>
                <a:ea typeface="Arial"/>
                <a:cs typeface="Arial"/>
              </a:defRPr>
            </a:lvl2pPr>
            <a:lvl3pPr>
              <a:defRPr sz="900" b="1">
                <a:solidFill>
                  <a:srgbClr val="607160"/>
                </a:solidFill>
                <a:latin typeface="Arial"/>
                <a:ea typeface="Arial"/>
                <a:cs typeface="Arial"/>
              </a:defRPr>
            </a:lvl3pPr>
            <a:lvl4pPr>
              <a:defRPr sz="900" b="1">
                <a:solidFill>
                  <a:srgbClr val="607160"/>
                </a:solidFill>
                <a:latin typeface="Arial"/>
                <a:ea typeface="Arial"/>
                <a:cs typeface="Arial"/>
              </a:defRPr>
            </a:lvl4pPr>
            <a:lvl5pPr>
              <a:defRPr sz="900" b="1">
                <a:solidFill>
                  <a:srgbClr val="607160"/>
                </a:solidFill>
                <a:latin typeface="Arial"/>
                <a:ea typeface="Arial"/>
                <a:cs typeface="Arial"/>
              </a:defRPr>
            </a:lvl5pPr>
            <a:lvl6pPr>
              <a:defRPr sz="900" b="1">
                <a:solidFill>
                  <a:srgbClr val="607160"/>
                </a:solidFill>
                <a:latin typeface="Arial"/>
                <a:ea typeface="Arial"/>
                <a:cs typeface="Arial"/>
              </a:defRPr>
            </a:lvl6pPr>
            <a:lvl7pPr>
              <a:defRPr sz="900" b="1">
                <a:solidFill>
                  <a:srgbClr val="607160"/>
                </a:solidFill>
                <a:latin typeface="Arial"/>
                <a:ea typeface="Arial"/>
                <a:cs typeface="Arial"/>
              </a:defRPr>
            </a:lvl7pPr>
            <a:lvl8pPr>
              <a:defRPr sz="900" b="1">
                <a:solidFill>
                  <a:srgbClr val="607160"/>
                </a:solidFill>
                <a:latin typeface="Arial"/>
                <a:ea typeface="Arial"/>
                <a:cs typeface="Arial"/>
              </a:defRPr>
            </a:lvl8pPr>
            <a:lvl9pPr>
              <a:defRPr sz="900" b="1">
                <a:solidFill>
                  <a:srgbClr val="607160"/>
                </a:solidFill>
                <a:latin typeface="Arial"/>
                <a:ea typeface="Arial"/>
                <a:cs typeface="Arial"/>
              </a:defRPr>
            </a:lvl9pPr>
          </a:lstStyle>
          <a:p xmlns:a="http://schemas.openxmlformats.org/drawingml/2006/main">
            <a:pPr>
              <a:defRPr sz="900" b="1">
                <a:solidFill>
                  <a:srgbClr val="607160"/>
                </a:solidFill>
                <a:latin typeface="Arial"/>
                <a:ea typeface="Arial"/>
                <a:cs typeface="Arial"/>
              </a:defRPr>
            </a:pPr>
            <a:r>
              <a:rPr sz="900" b="1">
                <a:solidFill>
                  <a:srgbClr val="607160"/>
                </a:solidFill>
                <a:latin typeface="Arial"/>
                <a:ea typeface="Arial"/>
                <a:cs typeface="Arial"/>
              </a:rPr>
              <a:t>APPENDIX / EVALUATION CRITERIA</a:t>
            </a:r>
          </a:p>
        </p:txBody>
      </p:sp>
      <p:sp>
        <p:nvSpPr>
          <p:cNvPr id="5" name="text-18-2">
            <a:extLst xmlns:a="http://schemas.openxmlformats.org/drawingml/2006/main">
              <a:ext uri="{FF2B5EF4-FFF2-40B4-BE49-F238E27FC236}">
                <a16:creationId xmlns:a16="http://schemas.microsoft.com/office/drawing/2014/main" id="{577D2282-36F7-4458-88B0-E06FD54C7800}"/>
              </a:ext>
            </a:extLst>
          </p:cNvPr>
          <p:cNvSpPr>
            <a:spLocks xmlns:a="http://schemas.openxmlformats.org/drawingml/2006/main" noGrp="1"/>
          </p:cNvSpPr>
          <p:nvPr/>
        </p:nvSpPr>
        <p:spPr>
          <a:xfrm xmlns:a="http://schemas.openxmlformats.org/drawingml/2006/main">
            <a:off x="600075" y="1343025"/>
            <a:ext cx="10572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75" b="1">
                <a:solidFill>
                  <a:srgbClr val="17334A"/>
                </a:solidFill>
                <a:latin typeface="Poppins"/>
                <a:ea typeface="Poppins"/>
                <a:cs typeface="Poppins"/>
              </a:defRPr>
            </a:defPPr>
            <a:lvl1pPr>
              <a:defRPr sz="3075" b="1">
                <a:solidFill>
                  <a:srgbClr val="17334A"/>
                </a:solidFill>
                <a:latin typeface="Poppins"/>
                <a:ea typeface="Poppins"/>
                <a:cs typeface="Poppins"/>
              </a:defRPr>
            </a:lvl1pPr>
            <a:lvl2pPr>
              <a:defRPr sz="3075" b="1">
                <a:solidFill>
                  <a:srgbClr val="17334A"/>
                </a:solidFill>
                <a:latin typeface="Poppins"/>
                <a:ea typeface="Poppins"/>
                <a:cs typeface="Poppins"/>
              </a:defRPr>
            </a:lvl2pPr>
            <a:lvl3pPr>
              <a:defRPr sz="3075" b="1">
                <a:solidFill>
                  <a:srgbClr val="17334A"/>
                </a:solidFill>
                <a:latin typeface="Poppins"/>
                <a:ea typeface="Poppins"/>
                <a:cs typeface="Poppins"/>
              </a:defRPr>
            </a:lvl3pPr>
            <a:lvl4pPr>
              <a:defRPr sz="3075" b="1">
                <a:solidFill>
                  <a:srgbClr val="17334A"/>
                </a:solidFill>
                <a:latin typeface="Poppins"/>
                <a:ea typeface="Poppins"/>
                <a:cs typeface="Poppins"/>
              </a:defRPr>
            </a:lvl4pPr>
            <a:lvl5pPr>
              <a:defRPr sz="3075" b="1">
                <a:solidFill>
                  <a:srgbClr val="17334A"/>
                </a:solidFill>
                <a:latin typeface="Poppins"/>
                <a:ea typeface="Poppins"/>
                <a:cs typeface="Poppins"/>
              </a:defRPr>
            </a:lvl5pPr>
            <a:lvl6pPr>
              <a:defRPr sz="3075" b="1">
                <a:solidFill>
                  <a:srgbClr val="17334A"/>
                </a:solidFill>
                <a:latin typeface="Poppins"/>
                <a:ea typeface="Poppins"/>
                <a:cs typeface="Poppins"/>
              </a:defRPr>
            </a:lvl6pPr>
            <a:lvl7pPr>
              <a:defRPr sz="3075" b="1">
                <a:solidFill>
                  <a:srgbClr val="17334A"/>
                </a:solidFill>
                <a:latin typeface="Poppins"/>
                <a:ea typeface="Poppins"/>
                <a:cs typeface="Poppins"/>
              </a:defRPr>
            </a:lvl7pPr>
            <a:lvl8pPr>
              <a:defRPr sz="3075" b="1">
                <a:solidFill>
                  <a:srgbClr val="17334A"/>
                </a:solidFill>
                <a:latin typeface="Poppins"/>
                <a:ea typeface="Poppins"/>
                <a:cs typeface="Poppins"/>
              </a:defRPr>
            </a:lvl8pPr>
            <a:lvl9pPr>
              <a:defRPr sz="3075" b="1">
                <a:solidFill>
                  <a:srgbClr val="17334A"/>
                </a:solidFill>
                <a:latin typeface="Poppins"/>
                <a:ea typeface="Poppins"/>
                <a:cs typeface="Poppins"/>
              </a:defRPr>
            </a:lvl9pPr>
          </a:lstStyle>
          <a:p xmlns:a="http://schemas.openxmlformats.org/drawingml/2006/main">
            <a:pPr>
              <a:defRPr sz="3075" b="1">
                <a:solidFill>
                  <a:srgbClr val="17334A"/>
                </a:solidFill>
                <a:latin typeface="Poppins"/>
                <a:ea typeface="Poppins"/>
                <a:cs typeface="Poppins"/>
              </a:defRPr>
            </a:pPr>
            <a:r>
              <a:rPr sz="3075" b="1">
                <a:solidFill>
                  <a:srgbClr val="17334A"/>
                </a:solidFill>
                <a:latin typeface="Poppins"/>
                <a:ea typeface="Poppins"/>
                <a:cs typeface="Poppins"/>
              </a:rPr>
              <a:t>One complete story demonstrates the five criteria</a:t>
            </a:r>
          </a:p>
        </p:txBody>
      </p:sp>
      <p:sp>
        <p:nvSpPr>
          <p:cNvPr id="6" name="text-18-3">
            <a:extLst xmlns:a="http://schemas.openxmlformats.org/drawingml/2006/main">
              <a:ext uri="{FF2B5EF4-FFF2-40B4-BE49-F238E27FC236}">
                <a16:creationId xmlns:a16="http://schemas.microsoft.com/office/drawing/2014/main" id="{EA816CF1-F773-49DD-A568-C9F166294339}"/>
              </a:ext>
            </a:extLst>
          </p:cNvPr>
          <p:cNvSpPr>
            <a:spLocks xmlns:a="http://schemas.openxmlformats.org/drawingml/2006/main" noGrp="1"/>
          </p:cNvSpPr>
          <p:nvPr/>
        </p:nvSpPr>
        <p:spPr>
          <a:xfrm xmlns:a="http://schemas.openxmlformats.org/drawingml/2006/main">
            <a:off x="619125" y="6610350"/>
            <a:ext cx="104775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825" b="0">
                <a:solidFill>
                  <a:srgbClr val="60755A"/>
                </a:solidFill>
                <a:latin typeface="Arial"/>
                <a:ea typeface="Arial"/>
                <a:cs typeface="Arial"/>
              </a:defRPr>
            </a:defPPr>
            <a:lvl1pPr>
              <a:defRPr sz="825" b="0">
                <a:solidFill>
                  <a:srgbClr val="60755A"/>
                </a:solidFill>
                <a:latin typeface="Arial"/>
                <a:ea typeface="Arial"/>
                <a:cs typeface="Arial"/>
              </a:defRPr>
            </a:lvl1pPr>
            <a:lvl2pPr>
              <a:defRPr sz="825" b="0">
                <a:solidFill>
                  <a:srgbClr val="60755A"/>
                </a:solidFill>
                <a:latin typeface="Arial"/>
                <a:ea typeface="Arial"/>
                <a:cs typeface="Arial"/>
              </a:defRPr>
            </a:lvl2pPr>
            <a:lvl3pPr>
              <a:defRPr sz="825" b="0">
                <a:solidFill>
                  <a:srgbClr val="60755A"/>
                </a:solidFill>
                <a:latin typeface="Arial"/>
                <a:ea typeface="Arial"/>
                <a:cs typeface="Arial"/>
              </a:defRPr>
            </a:lvl3pPr>
            <a:lvl4pPr>
              <a:defRPr sz="825" b="0">
                <a:solidFill>
                  <a:srgbClr val="60755A"/>
                </a:solidFill>
                <a:latin typeface="Arial"/>
                <a:ea typeface="Arial"/>
                <a:cs typeface="Arial"/>
              </a:defRPr>
            </a:lvl4pPr>
            <a:lvl5pPr>
              <a:defRPr sz="825" b="0">
                <a:solidFill>
                  <a:srgbClr val="60755A"/>
                </a:solidFill>
                <a:latin typeface="Arial"/>
                <a:ea typeface="Arial"/>
                <a:cs typeface="Arial"/>
              </a:defRPr>
            </a:lvl5pPr>
            <a:lvl6pPr>
              <a:defRPr sz="825" b="0">
                <a:solidFill>
                  <a:srgbClr val="60755A"/>
                </a:solidFill>
                <a:latin typeface="Arial"/>
                <a:ea typeface="Arial"/>
                <a:cs typeface="Arial"/>
              </a:defRPr>
            </a:lvl6pPr>
            <a:lvl7pPr>
              <a:defRPr sz="825" b="0">
                <a:solidFill>
                  <a:srgbClr val="60755A"/>
                </a:solidFill>
                <a:latin typeface="Arial"/>
                <a:ea typeface="Arial"/>
                <a:cs typeface="Arial"/>
              </a:defRPr>
            </a:lvl7pPr>
            <a:lvl8pPr>
              <a:defRPr sz="825" b="0">
                <a:solidFill>
                  <a:srgbClr val="60755A"/>
                </a:solidFill>
                <a:latin typeface="Arial"/>
                <a:ea typeface="Arial"/>
                <a:cs typeface="Arial"/>
              </a:defRPr>
            </a:lvl8pPr>
            <a:lvl9pPr>
              <a:defRPr sz="825" b="0">
                <a:solidFill>
                  <a:srgbClr val="60755A"/>
                </a:solidFill>
                <a:latin typeface="Arial"/>
                <a:ea typeface="Arial"/>
                <a:cs typeface="Arial"/>
              </a:defRPr>
            </a:lvl9pPr>
          </a:lstStyle>
          <a:p xmlns:a="http://schemas.openxmlformats.org/drawingml/2006/main">
            <a:pPr>
              <a:defRPr sz="825" b="0">
                <a:solidFill>
                  <a:srgbClr val="60755A"/>
                </a:solidFill>
                <a:latin typeface="Arial"/>
                <a:ea typeface="Arial"/>
                <a:cs typeface="Arial"/>
              </a:defRPr>
            </a:pPr>
            <a:r>
              <a:rPr sz="825" b="0">
                <a:solidFill>
                  <a:srgbClr val="60755A"/>
                </a:solidFill>
                <a:latin typeface="Arial"/>
                <a:ea typeface="Arial"/>
                <a:cs typeface="Arial"/>
              </a:rPr>
              <a:t>CRITERIA  /  All five evaluation criteria</a:t>
            </a:r>
          </a:p>
        </p:txBody>
      </p:sp>
      <p:sp>
        <p:nvSpPr>
          <p:cNvPr id="7" name="text-18-4">
            <a:extLst xmlns:a="http://schemas.openxmlformats.org/drawingml/2006/main">
              <a:ext uri="{FF2B5EF4-FFF2-40B4-BE49-F238E27FC236}">
                <a16:creationId xmlns:a16="http://schemas.microsoft.com/office/drawing/2014/main" id="{9E3061EB-6A34-4A11-B3D3-EAB8327E50A5}"/>
              </a:ext>
            </a:extLst>
          </p:cNvPr>
          <p:cNvSpPr>
            <a:spLocks xmlns:a="http://schemas.openxmlformats.org/drawingml/2006/main" noGrp="1"/>
          </p:cNvSpPr>
          <p:nvPr/>
        </p:nvSpPr>
        <p:spPr>
          <a:xfrm xmlns:a="http://schemas.openxmlformats.org/drawingml/2006/main">
            <a:off x="11239500" y="6477000"/>
            <a:ext cx="333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900" b="0">
                <a:solidFill>
                  <a:srgbClr val="607160"/>
                </a:solidFill>
                <a:latin typeface="Arial"/>
                <a:ea typeface="Arial"/>
                <a:cs typeface="Arial"/>
              </a:defRPr>
            </a:defPPr>
            <a:lvl1pPr>
              <a:defRPr sz="900" b="0">
                <a:solidFill>
                  <a:srgbClr val="607160"/>
                </a:solidFill>
                <a:latin typeface="Arial"/>
                <a:ea typeface="Arial"/>
                <a:cs typeface="Arial"/>
              </a:defRPr>
            </a:lvl1pPr>
            <a:lvl2pPr>
              <a:defRPr sz="900" b="0">
                <a:solidFill>
                  <a:srgbClr val="607160"/>
                </a:solidFill>
                <a:latin typeface="Arial"/>
                <a:ea typeface="Arial"/>
                <a:cs typeface="Arial"/>
              </a:defRPr>
            </a:lvl2pPr>
            <a:lvl3pPr>
              <a:defRPr sz="900" b="0">
                <a:solidFill>
                  <a:srgbClr val="607160"/>
                </a:solidFill>
                <a:latin typeface="Arial"/>
                <a:ea typeface="Arial"/>
                <a:cs typeface="Arial"/>
              </a:defRPr>
            </a:lvl3pPr>
            <a:lvl4pPr>
              <a:defRPr sz="900" b="0">
                <a:solidFill>
                  <a:srgbClr val="607160"/>
                </a:solidFill>
                <a:latin typeface="Arial"/>
                <a:ea typeface="Arial"/>
                <a:cs typeface="Arial"/>
              </a:defRPr>
            </a:lvl4pPr>
            <a:lvl5pPr>
              <a:defRPr sz="900" b="0">
                <a:solidFill>
                  <a:srgbClr val="607160"/>
                </a:solidFill>
                <a:latin typeface="Arial"/>
                <a:ea typeface="Arial"/>
                <a:cs typeface="Arial"/>
              </a:defRPr>
            </a:lvl5pPr>
            <a:lvl6pPr>
              <a:defRPr sz="900" b="0">
                <a:solidFill>
                  <a:srgbClr val="607160"/>
                </a:solidFill>
                <a:latin typeface="Arial"/>
                <a:ea typeface="Arial"/>
                <a:cs typeface="Arial"/>
              </a:defRPr>
            </a:lvl6pPr>
            <a:lvl7pPr>
              <a:defRPr sz="900" b="0">
                <a:solidFill>
                  <a:srgbClr val="607160"/>
                </a:solidFill>
                <a:latin typeface="Arial"/>
                <a:ea typeface="Arial"/>
                <a:cs typeface="Arial"/>
              </a:defRPr>
            </a:lvl7pPr>
            <a:lvl8pPr>
              <a:defRPr sz="900" b="0">
                <a:solidFill>
                  <a:srgbClr val="607160"/>
                </a:solidFill>
                <a:latin typeface="Arial"/>
                <a:ea typeface="Arial"/>
                <a:cs typeface="Arial"/>
              </a:defRPr>
            </a:lvl8pPr>
            <a:lvl9pPr>
              <a:defRPr sz="900" b="0">
                <a:solidFill>
                  <a:srgbClr val="607160"/>
                </a:solidFill>
                <a:latin typeface="Arial"/>
                <a:ea typeface="Arial"/>
                <a:cs typeface="Arial"/>
              </a:defRPr>
            </a:lvl9pPr>
          </a:lstStyle>
          <a:p xmlns:a="http://schemas.openxmlformats.org/drawingml/2006/main">
            <a:pPr>
              <a:defRPr sz="900" b="0">
                <a:solidFill>
                  <a:srgbClr val="607160"/>
                </a:solidFill>
                <a:latin typeface="Arial"/>
                <a:ea typeface="Arial"/>
                <a:cs typeface="Arial"/>
              </a:defRPr>
            </a:pPr>
            <a:r>
              <a:rPr sz="900" b="0">
                <a:solidFill>
                  <a:srgbClr val="607160"/>
                </a:solidFill>
                <a:latin typeface="Arial"/>
                <a:ea typeface="Arial"/>
                <a:cs typeface="Arial"/>
              </a:rPr>
              <a:t>18</a:t>
            </a:r>
          </a:p>
        </p:txBody>
      </p:sp>
      <p:graphicFrame>
        <p:nvGraphicFramePr>
          <p:cNvPr id="8" name="">
            <a:extLst xmlns:a="http://schemas.openxmlformats.org/drawingml/2006/main">
              <a:ext uri="{FF2B5EF4-FFF2-40B4-BE49-F238E27FC236}">
                <a16:creationId xmlns:a16="http://schemas.microsoft.com/office/drawing/2014/main" id="{E4FD9B9E-BD11-440A-8C63-8DE8CF7F2AA6}"/>
              </a:ext>
            </a:extLst>
          </p:cNvPr>
          <p:cNvGraphicFramePr/>
          <p:nvPr/>
        </p:nvGraphicFramePr>
        <p:xfrm>
          <a:off xmlns:a="http://schemas.openxmlformats.org/drawingml/2006/main" x="619125" y="2571750"/>
          <a:ext xmlns:a="http://schemas.openxmlformats.org/drawingml/2006/main" cx="10953750" cy="3209925"/>
        </p:xfrm>
        <a:graphic xmlns:a="http://schemas.openxmlformats.org/drawingml/2006/main">
          <a:graphicData uri="http://schemas.openxmlformats.org/drawingml/2006/table">
            <a:tbl>
              <a:tblPr/>
              <a:tblGrid>
                <a:gridCol w="3476625"/>
                <a:gridCol w="7477125"/>
              </a:tblGrid>
              <a:tr h="534988">
                <a:tc>
                  <a:txBody>
                    <a:bodyPr lIns="133350" tIns="104775" rIns="114300" bIns="76200"/>
                    <a:lstStyle/>
                    <a:p>
                      <a:r>
                        <a:rPr sz="1500" b="1">
                          <a:solidFill>
                            <a:srgbClr val="FFFFFF"/>
                          </a:solidFill>
                          <a:latin typeface="Arial"/>
                          <a:ea typeface="Arial"/>
                          <a:cs typeface="Arial"/>
                        </a:rPr>
                        <a:t>Criterion</a:t>
                      </a:r>
                    </a:p>
                  </a:txBody>
                  <a:tcPr marL="91440" marR="91440" marT="45720" marB="45720" anchor="ctr">
                    <a:lnL w="5715">
                      <a:solidFill>
                        <a:srgbClr val="DFE7D7"/>
                      </a:solidFill>
                      <a:prstDash val="solid"/>
                    </a:lnL>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c>
                  <a:txBody>
                    <a:bodyPr lIns="133350" tIns="104775" rIns="114300" bIns="76200"/>
                    <a:lstStyle/>
                    <a:p>
                      <a:r>
                        <a:rPr sz="1500" b="1">
                          <a:solidFill>
                            <a:srgbClr val="FFFFFF"/>
                          </a:solidFill>
                          <a:latin typeface="Arial"/>
                          <a:ea typeface="Arial"/>
                          <a:cs typeface="Arial"/>
                        </a:rPr>
                        <a:t>Evidence in the proposal</a:t>
                      </a:r>
                    </a:p>
                  </a:txBody>
                  <a:tcPr marL="91440" marR="91440" marT="45720" marB="45720" anchor="ctr">
                    <a:lnR w="5715">
                      <a:solidFill>
                        <a:srgbClr val="DFE7D7"/>
                      </a:solidFill>
                      <a:prstDash val="solid"/>
                    </a:lnR>
                    <a:lnT w="5715">
                      <a:solidFill>
                        <a:srgbClr val="DFE7D7"/>
                      </a:solidFill>
                      <a:prstDash val="solid"/>
                    </a:lnT>
                    <a:lnB w="5715">
                      <a:solidFill>
                        <a:srgbClr val="DFE7D7"/>
                      </a:solidFill>
                      <a:prstDash val="solid"/>
                    </a:lnB>
                    <a:solidFill>
                      <a:srgbClr val="3F682E"/>
                    </a:solidFill>
                  </a:tcPr>
                </a:tc>
              </a:tr>
              <a:tr h="534988">
                <a:tc>
                  <a:txBody>
                    <a:bodyPr lIns="133350" tIns="104775" rIns="114300" bIns="76200"/>
                    <a:lstStyle/>
                    <a:p>
                      <a:r>
                        <a:rPr sz="1500" b="1">
                          <a:solidFill>
                            <a:srgbClr val="17334A"/>
                          </a:solidFill>
                          <a:latin typeface="Arial"/>
                          <a:ea typeface="Arial"/>
                          <a:cs typeface="Arial"/>
                        </a:rPr>
                        <a:t>Problem–solution fit</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Dashboard → scoped evidence → response plan → Outlook handoff</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34988">
                <a:tc>
                  <a:txBody>
                    <a:bodyPr lIns="133350" tIns="104775" rIns="114300" bIns="76200"/>
                    <a:lstStyle/>
                    <a:p>
                      <a:r>
                        <a:rPr sz="1500" b="1">
                          <a:solidFill>
                            <a:srgbClr val="17334A"/>
                          </a:solidFill>
                          <a:latin typeface="Arial"/>
                          <a:ea typeface="Arial"/>
                          <a:cs typeface="Arial"/>
                        </a:rPr>
                        <a:t>Feasibility</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Local Qwen3, editable draft / CSV, six-week regional pilot</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534988">
                <a:tc>
                  <a:txBody>
                    <a:bodyPr lIns="133350" tIns="104775" rIns="114300" bIns="76200"/>
                    <a:lstStyle/>
                    <a:p>
                      <a:r>
                        <a:rPr sz="1500" b="1">
                          <a:solidFill>
                            <a:srgbClr val="17334A"/>
                          </a:solidFill>
                          <a:latin typeface="Arial"/>
                          <a:ea typeface="Arial"/>
                          <a:cs typeface="Arial"/>
                        </a:rPr>
                        <a:t>Originality</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Local context + role-specific RAG + preferences + reviewed lessons</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r h="534988">
                <a:tc>
                  <a:txBody>
                    <a:bodyPr lIns="133350" tIns="104775" rIns="114300" bIns="76200"/>
                    <a:lstStyle/>
                    <a:p>
                      <a:r>
                        <a:rPr sz="1500" b="1">
                          <a:solidFill>
                            <a:srgbClr val="17334A"/>
                          </a:solidFill>
                          <a:latin typeface="Arial"/>
                          <a:ea typeface="Arial"/>
                          <a:cs typeface="Arial"/>
                        </a:rPr>
                        <a:t>Human-centered &amp; responsible</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1F5EB"/>
                    </a:solidFill>
                  </a:tcPr>
                </a:tc>
                <a:tc>
                  <a:txBody>
                    <a:bodyPr lIns="133350" tIns="104775" rIns="114300" bIns="76200"/>
                    <a:lstStyle/>
                    <a:p>
                      <a:r>
                        <a:rPr sz="1500" b="0">
                          <a:solidFill>
                            <a:srgbClr val="607160"/>
                          </a:solidFill>
                          <a:latin typeface="Arial"/>
                          <a:ea typeface="Arial"/>
                          <a:cs typeface="Arial"/>
                        </a:rPr>
                        <a:t>Simple view, quieter voices, visible uncertainty, edit / reject / review</a:t>
                      </a:r>
                    </a:p>
                  </a:txBody>
                  <a:tcPr marL="91440" marR="91440" marT="45720" marB="45720" anchor="ctr">
                    <a:lnR w="5715">
                      <a:solidFill>
                        <a:srgbClr val="DFE7D7"/>
                      </a:solidFill>
                      <a:prstDash val="solid"/>
                    </a:lnR>
                    <a:lnB w="5715">
                      <a:solidFill>
                        <a:srgbClr val="DFE7D7"/>
                      </a:solidFill>
                      <a:prstDash val="solid"/>
                    </a:lnB>
                    <a:solidFill>
                      <a:srgbClr val="F1F5EB"/>
                    </a:solidFill>
                  </a:tcPr>
                </a:tc>
              </a:tr>
              <a:tr h="534988">
                <a:tc>
                  <a:txBody>
                    <a:bodyPr lIns="133350" tIns="104775" rIns="114300" bIns="76200"/>
                    <a:lstStyle/>
                    <a:p>
                      <a:r>
                        <a:rPr sz="1500" b="1">
                          <a:solidFill>
                            <a:srgbClr val="17334A"/>
                          </a:solidFill>
                          <a:latin typeface="Arial"/>
                          <a:ea typeface="Arial"/>
                          <a:cs typeface="Arial"/>
                        </a:rPr>
                        <a:t>Pitch &amp; Q&amp;A</a:t>
                      </a:r>
                    </a:p>
                  </a:txBody>
                  <a:tcPr marL="91440" marR="91440" marT="45720" marB="45720" anchor="ctr">
                    <a:lnL w="5715">
                      <a:solidFill>
                        <a:srgbClr val="DFE7D7"/>
                      </a:solidFill>
                      <a:prstDash val="solid"/>
                    </a:lnL>
                    <a:lnR w="5715">
                      <a:solidFill>
                        <a:srgbClr val="DFE7D7"/>
                      </a:solidFill>
                      <a:prstDash val="solid"/>
                    </a:lnR>
                    <a:lnB w="5715">
                      <a:solidFill>
                        <a:srgbClr val="DFE7D7"/>
                      </a:solidFill>
                      <a:prstDash val="solid"/>
                    </a:lnB>
                    <a:solidFill>
                      <a:srgbClr val="FFFFFF"/>
                    </a:solidFill>
                  </a:tcPr>
                </a:tc>
                <a:tc>
                  <a:txBody>
                    <a:bodyPr lIns="133350" tIns="104775" rIns="114300" bIns="76200"/>
                    <a:lstStyle/>
                    <a:p>
                      <a:r>
                        <a:rPr sz="1500" b="0">
                          <a:solidFill>
                            <a:srgbClr val="607160"/>
                          </a:solidFill>
                          <a:latin typeface="Arial"/>
                          <a:ea typeface="Arial"/>
                          <a:cs typeface="Arial"/>
                        </a:rPr>
                        <a:t>The same farmer, employee and question from opening to closing</a:t>
                      </a:r>
                    </a:p>
                  </a:txBody>
                  <a:tcPr marL="91440" marR="91440" marT="45720" marB="45720" anchor="ctr">
                    <a:lnR w="5715">
                      <a:solidFill>
                        <a:srgbClr val="DFE7D7"/>
                      </a:solidFill>
                      <a:prstDash val="solid"/>
                    </a:lnR>
                    <a:lnB w="5715">
                      <a:solidFill>
                        <a:srgbClr val="DFE7D7"/>
                      </a:solidFill>
                      <a:prstDash val="solid"/>
                    </a:lnB>
                    <a:solidFill>
                      <a:srgbClr val="FFFFFF"/>
                    </a:solidFill>
                  </a:tcPr>
                </a:tc>
              </a:tr>
            </a:tbl>
          </a:graphicData>
        </a:graphic>
      </p:graphicFrame>
      <p:sp>
        <p:nvSpPr>
          <p:cNvPr id="9" name="text-18-5">
            <a:extLst xmlns:a="http://schemas.openxmlformats.org/drawingml/2006/main">
              <a:ext uri="{FF2B5EF4-FFF2-40B4-BE49-F238E27FC236}">
                <a16:creationId xmlns:a16="http://schemas.microsoft.com/office/drawing/2014/main" id="{A14F3238-0BD9-4629-A9DA-1C7DA2B3FC39}"/>
              </a:ext>
            </a:extLst>
          </p:cNvPr>
          <p:cNvSpPr>
            <a:spLocks xmlns:a="http://schemas.openxmlformats.org/drawingml/2006/main" noGrp="1"/>
          </p:cNvSpPr>
          <p:nvPr/>
        </p:nvSpPr>
        <p:spPr>
          <a:xfrm xmlns:a="http://schemas.openxmlformats.org/drawingml/2006/main">
            <a:off x="619125" y="5991225"/>
            <a:ext cx="10715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3F682E"/>
                </a:solidFill>
                <a:latin typeface="Arial"/>
                <a:ea typeface="Arial"/>
                <a:cs typeface="Arial"/>
              </a:defRPr>
            </a:defPPr>
            <a:lvl1pPr>
              <a:defRPr sz="1575" b="1">
                <a:solidFill>
                  <a:srgbClr val="3F682E"/>
                </a:solidFill>
                <a:latin typeface="Arial"/>
                <a:ea typeface="Arial"/>
                <a:cs typeface="Arial"/>
              </a:defRPr>
            </a:lvl1pPr>
            <a:lvl2pPr>
              <a:defRPr sz="1575" b="1">
                <a:solidFill>
                  <a:srgbClr val="3F682E"/>
                </a:solidFill>
                <a:latin typeface="Arial"/>
                <a:ea typeface="Arial"/>
                <a:cs typeface="Arial"/>
              </a:defRPr>
            </a:lvl2pPr>
            <a:lvl3pPr>
              <a:defRPr sz="1575" b="1">
                <a:solidFill>
                  <a:srgbClr val="3F682E"/>
                </a:solidFill>
                <a:latin typeface="Arial"/>
                <a:ea typeface="Arial"/>
                <a:cs typeface="Arial"/>
              </a:defRPr>
            </a:lvl3pPr>
            <a:lvl4pPr>
              <a:defRPr sz="1575" b="1">
                <a:solidFill>
                  <a:srgbClr val="3F682E"/>
                </a:solidFill>
                <a:latin typeface="Arial"/>
                <a:ea typeface="Arial"/>
                <a:cs typeface="Arial"/>
              </a:defRPr>
            </a:lvl4pPr>
            <a:lvl5pPr>
              <a:defRPr sz="1575" b="1">
                <a:solidFill>
                  <a:srgbClr val="3F682E"/>
                </a:solidFill>
                <a:latin typeface="Arial"/>
                <a:ea typeface="Arial"/>
                <a:cs typeface="Arial"/>
              </a:defRPr>
            </a:lvl5pPr>
            <a:lvl6pPr>
              <a:defRPr sz="1575" b="1">
                <a:solidFill>
                  <a:srgbClr val="3F682E"/>
                </a:solidFill>
                <a:latin typeface="Arial"/>
                <a:ea typeface="Arial"/>
                <a:cs typeface="Arial"/>
              </a:defRPr>
            </a:lvl6pPr>
            <a:lvl7pPr>
              <a:defRPr sz="1575" b="1">
                <a:solidFill>
                  <a:srgbClr val="3F682E"/>
                </a:solidFill>
                <a:latin typeface="Arial"/>
                <a:ea typeface="Arial"/>
                <a:cs typeface="Arial"/>
              </a:defRPr>
            </a:lvl7pPr>
            <a:lvl8pPr>
              <a:defRPr sz="1575" b="1">
                <a:solidFill>
                  <a:srgbClr val="3F682E"/>
                </a:solidFill>
                <a:latin typeface="Arial"/>
                <a:ea typeface="Arial"/>
                <a:cs typeface="Arial"/>
              </a:defRPr>
            </a:lvl8pPr>
            <a:lvl9pPr>
              <a:defRPr sz="1575" b="1">
                <a:solidFill>
                  <a:srgbClr val="3F682E"/>
                </a:solidFill>
                <a:latin typeface="Arial"/>
                <a:ea typeface="Arial"/>
                <a:cs typeface="Arial"/>
              </a:defRPr>
            </a:lvl9pPr>
          </a:lstStyle>
          <a:p xmlns:a="http://schemas.openxmlformats.org/drawingml/2006/main">
            <a:pPr>
              <a:defRPr sz="1575" b="1">
                <a:solidFill>
                  <a:srgbClr val="3F682E"/>
                </a:solidFill>
                <a:latin typeface="Arial"/>
                <a:ea typeface="Arial"/>
                <a:cs typeface="Arial"/>
              </a:defRPr>
            </a:pPr>
            <a:r>
              <a:rPr sz="1575" b="1">
                <a:solidFill>
                  <a:srgbClr val="3F682E"/>
                </a:solidFill>
                <a:latin typeface="Arial"/>
                <a:ea typeface="Arial"/>
                <a:cs typeface="Arial"/>
              </a:rPr>
              <a:t>Value to test: less briefing effort and better-supported decisions, with human control intact.</a:t>
            </a:r>
          </a:p>
        </p:txBody>
      </p:sp>
    </p:spTree>
    <p:extLst>
      <p:ext uri="{BB962C8B-B14F-4D97-AF65-F5344CB8AC3E}">
        <p14:creationId xmlns:p14="http://schemas.microsoft.com/office/powerpoint/2010/main" val="7003315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2026-10-23T08:35:24.9920000Z</dcterms:created>
  <dcterms:modified xsi:type="dcterms:W3CDTF">2026-10-23T08:35:24.9920000Z</dcterms:modified>
</coreProperties>
</file>